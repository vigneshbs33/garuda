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 are Team CodeKrafters, and today we are presenting GARUDA (Gridlock Guardian)—a fully autonomous, edge-native traffic intelligence platform designed to enforce traffic rules, prevent accidents, and streamline municipal billing without relying on expensive, privacy-intrusive cloud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developing countries like India, traffic enforcement is broken. Cities deploy thousands of CCTV cameras, but streaming all that footage to the cloud eats up bandwidth. Plates are often blurry, and incorrect fines cause citizen outrage. Existing systems are completely reactive—they record crashes instead of preventing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GARUDA shifts intelligence directly to the edge. No raw video is streamed. The edge node analyzes video locally and uploads only a tiny JSON ticket when a violation occurs. Damaged or blurry plates are reconstructed using vehicle color and type matching. High-confidence tickets are sent automatically; borderline cases go to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Raspberry Pi 5 with Google Coral TPU runs our complete detection pipeline locally. Models are quantized to INT8 for minimal power draw — under 15 Watts. If the network drops, violations are cached in SQLite and synced on reconnection. Fully offline-first.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plate reconstruction pipeline is key. When a license plate is partially hidden or blurry, normal OCR gives up. GARUDA extracts partial characters, classifies vehicle type via YOLO, and performs HSV color analysis. A database query then matches all factors to uniquely identify the vehicle with high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key differentiators: edge-native operation, plate reconstruction via multi-factor matching, proactive drowsiness detection via MediaPipe, Federated Learning with Flower sharing only weights not video, and confidence-gated routing preventing false challans.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 is fully operational today. Next.js 16 + TypeScript + React 19 frontend. FastAPI async backend with WebSocket streams. YOLOv8 + ByteTrack ML pipeline running under 6.7 seconds on CPU, detecting 35+ vehicles per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scope: Phase 1 deploys quantized models on physical RPi5, Phase 2 integrates Vahan government database, Phase 3 activates live Twilio SMS/WhatsApp, Phase 4 completes federated learning backpropagation, Phase 5 adds OSNet cross-camera Re-ID without plate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GARUDA creates safer streets, saves administrative time, protects citizen privacy through local processing, and maintains a transparent, auditable enforcement trail. Fully DPDP Act compliant. Thank you — we are open to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GARUDA is the future of smart, localized public safety. We are open to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669280" cy="5143500"/>
          </a:xfrm>
          <a:prstGeom prst="rect">
            <a:avLst/>
          </a:prstGeom>
          <a:solidFill>
            <a:srgbClr val="0D1B2A"/>
          </a:solidFill>
          <a:ln w="12700">
            <a:solidFill>
              <a:srgbClr val="0D1B2A"/>
            </a:solidFill>
            <a:prstDash val="solid"/>
          </a:ln>
        </p:spPr>
      </p:sp>
      <p:sp>
        <p:nvSpPr>
          <p:cNvPr id="3" name="Shape 1"/>
          <p:cNvSpPr/>
          <p:nvPr/>
        </p:nvSpPr>
        <p:spPr>
          <a:xfrm>
            <a:off x="5669280" y="0"/>
            <a:ext cx="3474720" cy="5143500"/>
          </a:xfrm>
          <a:prstGeom prst="rect">
            <a:avLst/>
          </a:prstGeom>
          <a:solidFill>
            <a:srgbClr val="112236"/>
          </a:solidFill>
          <a:ln w="12700">
            <a:solidFill>
              <a:srgbClr val="112236"/>
            </a:solidFill>
            <a:prstDash val="solid"/>
          </a:ln>
        </p:spPr>
      </p:sp>
      <p:sp>
        <p:nvSpPr>
          <p:cNvPr id="4" name="Shape 2"/>
          <p:cNvSpPr/>
          <p:nvPr/>
        </p:nvSpPr>
        <p:spPr>
          <a:xfrm>
            <a:off x="5760720" y="182880"/>
            <a:ext cx="0" cy="4754880"/>
          </a:xfrm>
          <a:prstGeom prst="line">
            <a:avLst/>
          </a:prstGeom>
          <a:noFill/>
          <a:ln w="6350">
            <a:solidFill>
              <a:srgbClr val="1E3A52"/>
            </a:solidFill>
            <a:prstDash val="solid"/>
          </a:ln>
        </p:spPr>
      </p:sp>
      <p:sp>
        <p:nvSpPr>
          <p:cNvPr id="5" name="Shape 3"/>
          <p:cNvSpPr/>
          <p:nvPr/>
        </p:nvSpPr>
        <p:spPr>
          <a:xfrm>
            <a:off x="6126480" y="182880"/>
            <a:ext cx="0" cy="4754880"/>
          </a:xfrm>
          <a:prstGeom prst="line">
            <a:avLst/>
          </a:prstGeom>
          <a:noFill/>
          <a:ln w="6350">
            <a:solidFill>
              <a:srgbClr val="1E3A52"/>
            </a:solidFill>
            <a:prstDash val="solid"/>
          </a:ln>
        </p:spPr>
      </p:sp>
      <p:sp>
        <p:nvSpPr>
          <p:cNvPr id="6" name="Shape 4"/>
          <p:cNvSpPr/>
          <p:nvPr/>
        </p:nvSpPr>
        <p:spPr>
          <a:xfrm>
            <a:off x="6492240" y="182880"/>
            <a:ext cx="0" cy="4754880"/>
          </a:xfrm>
          <a:prstGeom prst="line">
            <a:avLst/>
          </a:prstGeom>
          <a:noFill/>
          <a:ln w="6350">
            <a:solidFill>
              <a:srgbClr val="1E3A52"/>
            </a:solidFill>
            <a:prstDash val="solid"/>
          </a:ln>
        </p:spPr>
      </p:sp>
      <p:sp>
        <p:nvSpPr>
          <p:cNvPr id="7" name="Shape 5"/>
          <p:cNvSpPr/>
          <p:nvPr/>
        </p:nvSpPr>
        <p:spPr>
          <a:xfrm>
            <a:off x="6858000" y="182880"/>
            <a:ext cx="0" cy="4754880"/>
          </a:xfrm>
          <a:prstGeom prst="line">
            <a:avLst/>
          </a:prstGeom>
          <a:noFill/>
          <a:ln w="6350">
            <a:solidFill>
              <a:srgbClr val="1E3A52"/>
            </a:solidFill>
            <a:prstDash val="solid"/>
          </a:ln>
        </p:spPr>
      </p:sp>
      <p:sp>
        <p:nvSpPr>
          <p:cNvPr id="8" name="Shape 6"/>
          <p:cNvSpPr/>
          <p:nvPr/>
        </p:nvSpPr>
        <p:spPr>
          <a:xfrm>
            <a:off x="7223760" y="182880"/>
            <a:ext cx="0" cy="4754880"/>
          </a:xfrm>
          <a:prstGeom prst="line">
            <a:avLst/>
          </a:prstGeom>
          <a:noFill/>
          <a:ln w="6350">
            <a:solidFill>
              <a:srgbClr val="1E3A52"/>
            </a:solidFill>
            <a:prstDash val="solid"/>
          </a:ln>
        </p:spPr>
      </p:sp>
      <p:sp>
        <p:nvSpPr>
          <p:cNvPr id="9" name="Shape 7"/>
          <p:cNvSpPr/>
          <p:nvPr/>
        </p:nvSpPr>
        <p:spPr>
          <a:xfrm>
            <a:off x="7589520" y="182880"/>
            <a:ext cx="0" cy="4754880"/>
          </a:xfrm>
          <a:prstGeom prst="line">
            <a:avLst/>
          </a:prstGeom>
          <a:noFill/>
          <a:ln w="6350">
            <a:solidFill>
              <a:srgbClr val="1E3A52"/>
            </a:solidFill>
            <a:prstDash val="solid"/>
          </a:ln>
        </p:spPr>
      </p:sp>
      <p:sp>
        <p:nvSpPr>
          <p:cNvPr id="10" name="Shape 8"/>
          <p:cNvSpPr/>
          <p:nvPr/>
        </p:nvSpPr>
        <p:spPr>
          <a:xfrm>
            <a:off x="7955280" y="182880"/>
            <a:ext cx="0" cy="4754880"/>
          </a:xfrm>
          <a:prstGeom prst="line">
            <a:avLst/>
          </a:prstGeom>
          <a:noFill/>
          <a:ln w="6350">
            <a:solidFill>
              <a:srgbClr val="1E3A52"/>
            </a:solidFill>
            <a:prstDash val="solid"/>
          </a:ln>
        </p:spPr>
      </p:sp>
      <p:sp>
        <p:nvSpPr>
          <p:cNvPr id="11" name="Shape 9"/>
          <p:cNvSpPr/>
          <p:nvPr/>
        </p:nvSpPr>
        <p:spPr>
          <a:xfrm>
            <a:off x="8321040" y="182880"/>
            <a:ext cx="0" cy="4754880"/>
          </a:xfrm>
          <a:prstGeom prst="line">
            <a:avLst/>
          </a:prstGeom>
          <a:noFill/>
          <a:ln w="6350">
            <a:solidFill>
              <a:srgbClr val="1E3A52"/>
            </a:solidFill>
            <a:prstDash val="solid"/>
          </a:ln>
        </p:spPr>
      </p:sp>
      <p:sp>
        <p:nvSpPr>
          <p:cNvPr id="12" name="Shape 10"/>
          <p:cNvSpPr/>
          <p:nvPr/>
        </p:nvSpPr>
        <p:spPr>
          <a:xfrm>
            <a:off x="5760720" y="182880"/>
            <a:ext cx="3200400" cy="0"/>
          </a:xfrm>
          <a:prstGeom prst="line">
            <a:avLst/>
          </a:prstGeom>
          <a:noFill/>
          <a:ln w="6350">
            <a:solidFill>
              <a:srgbClr val="1E3A52"/>
            </a:solidFill>
            <a:prstDash val="solid"/>
          </a:ln>
        </p:spPr>
      </p:sp>
      <p:sp>
        <p:nvSpPr>
          <p:cNvPr id="13" name="Shape 11"/>
          <p:cNvSpPr/>
          <p:nvPr/>
        </p:nvSpPr>
        <p:spPr>
          <a:xfrm>
            <a:off x="5760720" y="530352"/>
            <a:ext cx="3200400" cy="0"/>
          </a:xfrm>
          <a:prstGeom prst="line">
            <a:avLst/>
          </a:prstGeom>
          <a:noFill/>
          <a:ln w="6350">
            <a:solidFill>
              <a:srgbClr val="1E3A52"/>
            </a:solidFill>
            <a:prstDash val="solid"/>
          </a:ln>
        </p:spPr>
      </p:sp>
      <p:sp>
        <p:nvSpPr>
          <p:cNvPr id="14" name="Shape 12"/>
          <p:cNvSpPr/>
          <p:nvPr/>
        </p:nvSpPr>
        <p:spPr>
          <a:xfrm>
            <a:off x="5760720" y="877824"/>
            <a:ext cx="3200400" cy="0"/>
          </a:xfrm>
          <a:prstGeom prst="line">
            <a:avLst/>
          </a:prstGeom>
          <a:noFill/>
          <a:ln w="6350">
            <a:solidFill>
              <a:srgbClr val="1E3A52"/>
            </a:solidFill>
            <a:prstDash val="solid"/>
          </a:ln>
        </p:spPr>
      </p:sp>
      <p:sp>
        <p:nvSpPr>
          <p:cNvPr id="15" name="Shape 13"/>
          <p:cNvSpPr/>
          <p:nvPr/>
        </p:nvSpPr>
        <p:spPr>
          <a:xfrm>
            <a:off x="5760720" y="1225296"/>
            <a:ext cx="3200400" cy="0"/>
          </a:xfrm>
          <a:prstGeom prst="line">
            <a:avLst/>
          </a:prstGeom>
          <a:noFill/>
          <a:ln w="6350">
            <a:solidFill>
              <a:srgbClr val="1E3A52"/>
            </a:solidFill>
            <a:prstDash val="solid"/>
          </a:ln>
        </p:spPr>
      </p:sp>
      <p:sp>
        <p:nvSpPr>
          <p:cNvPr id="16" name="Shape 14"/>
          <p:cNvSpPr/>
          <p:nvPr/>
        </p:nvSpPr>
        <p:spPr>
          <a:xfrm>
            <a:off x="5760720" y="1572768"/>
            <a:ext cx="3200400" cy="0"/>
          </a:xfrm>
          <a:prstGeom prst="line">
            <a:avLst/>
          </a:prstGeom>
          <a:noFill/>
          <a:ln w="6350">
            <a:solidFill>
              <a:srgbClr val="1E3A52"/>
            </a:solidFill>
            <a:prstDash val="solid"/>
          </a:ln>
        </p:spPr>
      </p:sp>
      <p:sp>
        <p:nvSpPr>
          <p:cNvPr id="17" name="Shape 15"/>
          <p:cNvSpPr/>
          <p:nvPr/>
        </p:nvSpPr>
        <p:spPr>
          <a:xfrm>
            <a:off x="5760720" y="1920240"/>
            <a:ext cx="3200400" cy="0"/>
          </a:xfrm>
          <a:prstGeom prst="line">
            <a:avLst/>
          </a:prstGeom>
          <a:noFill/>
          <a:ln w="6350">
            <a:solidFill>
              <a:srgbClr val="1E3A52"/>
            </a:solidFill>
            <a:prstDash val="solid"/>
          </a:ln>
        </p:spPr>
      </p:sp>
      <p:sp>
        <p:nvSpPr>
          <p:cNvPr id="18" name="Shape 16"/>
          <p:cNvSpPr/>
          <p:nvPr/>
        </p:nvSpPr>
        <p:spPr>
          <a:xfrm>
            <a:off x="5760720" y="2267712"/>
            <a:ext cx="3200400" cy="0"/>
          </a:xfrm>
          <a:prstGeom prst="line">
            <a:avLst/>
          </a:prstGeom>
          <a:noFill/>
          <a:ln w="6350">
            <a:solidFill>
              <a:srgbClr val="1E3A52"/>
            </a:solidFill>
            <a:prstDash val="solid"/>
          </a:ln>
        </p:spPr>
      </p:sp>
      <p:sp>
        <p:nvSpPr>
          <p:cNvPr id="19" name="Shape 17"/>
          <p:cNvSpPr/>
          <p:nvPr/>
        </p:nvSpPr>
        <p:spPr>
          <a:xfrm>
            <a:off x="5760720" y="2615184"/>
            <a:ext cx="3200400" cy="0"/>
          </a:xfrm>
          <a:prstGeom prst="line">
            <a:avLst/>
          </a:prstGeom>
          <a:noFill/>
          <a:ln w="6350">
            <a:solidFill>
              <a:srgbClr val="1E3A52"/>
            </a:solidFill>
            <a:prstDash val="solid"/>
          </a:ln>
        </p:spPr>
      </p:sp>
      <p:sp>
        <p:nvSpPr>
          <p:cNvPr id="20" name="Shape 18"/>
          <p:cNvSpPr/>
          <p:nvPr/>
        </p:nvSpPr>
        <p:spPr>
          <a:xfrm>
            <a:off x="5760720" y="2962656"/>
            <a:ext cx="3200400" cy="0"/>
          </a:xfrm>
          <a:prstGeom prst="line">
            <a:avLst/>
          </a:prstGeom>
          <a:noFill/>
          <a:ln w="6350">
            <a:solidFill>
              <a:srgbClr val="1E3A52"/>
            </a:solidFill>
            <a:prstDash val="solid"/>
          </a:ln>
        </p:spPr>
      </p:sp>
      <p:sp>
        <p:nvSpPr>
          <p:cNvPr id="21" name="Shape 19"/>
          <p:cNvSpPr/>
          <p:nvPr/>
        </p:nvSpPr>
        <p:spPr>
          <a:xfrm>
            <a:off x="5760720" y="3310128"/>
            <a:ext cx="3200400" cy="0"/>
          </a:xfrm>
          <a:prstGeom prst="line">
            <a:avLst/>
          </a:prstGeom>
          <a:noFill/>
          <a:ln w="6350">
            <a:solidFill>
              <a:srgbClr val="1E3A52"/>
            </a:solidFill>
            <a:prstDash val="solid"/>
          </a:ln>
        </p:spPr>
      </p:sp>
      <p:sp>
        <p:nvSpPr>
          <p:cNvPr id="22" name="Shape 20"/>
          <p:cNvSpPr/>
          <p:nvPr/>
        </p:nvSpPr>
        <p:spPr>
          <a:xfrm>
            <a:off x="5760720" y="3657600"/>
            <a:ext cx="3200400" cy="0"/>
          </a:xfrm>
          <a:prstGeom prst="line">
            <a:avLst/>
          </a:prstGeom>
          <a:noFill/>
          <a:ln w="6350">
            <a:solidFill>
              <a:srgbClr val="1E3A52"/>
            </a:solidFill>
            <a:prstDash val="solid"/>
          </a:ln>
        </p:spPr>
      </p:sp>
      <p:sp>
        <p:nvSpPr>
          <p:cNvPr id="23" name="Shape 21"/>
          <p:cNvSpPr/>
          <p:nvPr/>
        </p:nvSpPr>
        <p:spPr>
          <a:xfrm>
            <a:off x="5760720" y="4005072"/>
            <a:ext cx="3200400" cy="0"/>
          </a:xfrm>
          <a:prstGeom prst="line">
            <a:avLst/>
          </a:prstGeom>
          <a:noFill/>
          <a:ln w="6350">
            <a:solidFill>
              <a:srgbClr val="1E3A52"/>
            </a:solidFill>
            <a:prstDash val="solid"/>
          </a:ln>
        </p:spPr>
      </p:sp>
      <p:sp>
        <p:nvSpPr>
          <p:cNvPr id="24" name="Shape 22"/>
          <p:cNvSpPr/>
          <p:nvPr/>
        </p:nvSpPr>
        <p:spPr>
          <a:xfrm>
            <a:off x="5760720" y="4352544"/>
            <a:ext cx="3200400" cy="0"/>
          </a:xfrm>
          <a:prstGeom prst="line">
            <a:avLst/>
          </a:prstGeom>
          <a:noFill/>
          <a:ln w="6350">
            <a:solidFill>
              <a:srgbClr val="1E3A52"/>
            </a:solidFill>
            <a:prstDash val="solid"/>
          </a:ln>
        </p:spPr>
      </p:sp>
      <p:sp>
        <p:nvSpPr>
          <p:cNvPr id="25" name="Shape 23"/>
          <p:cNvSpPr/>
          <p:nvPr/>
        </p:nvSpPr>
        <p:spPr>
          <a:xfrm>
            <a:off x="5760720" y="4700016"/>
            <a:ext cx="3200400" cy="0"/>
          </a:xfrm>
          <a:prstGeom prst="line">
            <a:avLst/>
          </a:prstGeom>
          <a:noFill/>
          <a:ln w="6350">
            <a:solidFill>
              <a:srgbClr val="1E3A52"/>
            </a:solidFill>
            <a:prstDash val="solid"/>
          </a:ln>
        </p:spPr>
      </p:sp>
      <p:sp>
        <p:nvSpPr>
          <p:cNvPr id="26" name="Shape 24"/>
          <p:cNvSpPr/>
          <p:nvPr/>
        </p:nvSpPr>
        <p:spPr>
          <a:xfrm>
            <a:off x="6446520" y="731520"/>
            <a:ext cx="2103120" cy="2103120"/>
          </a:xfrm>
          <a:prstGeom prst="ellipse">
            <a:avLst/>
          </a:prstGeom>
          <a:solidFill>
            <a:srgbClr val="1B5E8C">
              <a:alpha val="35000"/>
            </a:srgbClr>
          </a:solidFill>
          <a:ln w="19050">
            <a:solidFill>
              <a:srgbClr val="2E86C1"/>
            </a:solidFill>
            <a:prstDash val="solid"/>
          </a:ln>
        </p:spPr>
      </p:sp>
      <p:sp>
        <p:nvSpPr>
          <p:cNvPr id="27" name="Shape 25"/>
          <p:cNvSpPr/>
          <p:nvPr/>
        </p:nvSpPr>
        <p:spPr>
          <a:xfrm>
            <a:off x="6720840" y="1005840"/>
            <a:ext cx="1554480" cy="1554480"/>
          </a:xfrm>
          <a:prstGeom prst="ellipse">
            <a:avLst/>
          </a:prstGeom>
          <a:solidFill>
            <a:srgbClr val="2E86C1">
              <a:alpha val="25000"/>
            </a:srgbClr>
          </a:solidFill>
          <a:ln w="12700">
            <a:solidFill>
              <a:srgbClr val="5DADE2"/>
            </a:solidFill>
            <a:prstDash val="solid"/>
          </a:ln>
        </p:spPr>
      </p:sp>
      <p:pic>
        <p:nvPicPr>
          <p:cNvPr id="28" name="Image 0" descr="preencoded.png">    </p:cNvPr>
          <p:cNvPicPr>
            <a:picLocks noChangeAspect="1"/>
          </p:cNvPicPr>
          <p:nvPr/>
        </p:nvPicPr>
        <p:blipFill>
          <a:blip r:embed="rId1"/>
          <a:stretch>
            <a:fillRect/>
          </a:stretch>
        </p:blipFill>
        <p:spPr>
          <a:xfrm>
            <a:off x="6949440" y="1234440"/>
            <a:ext cx="1097280" cy="1097280"/>
          </a:xfrm>
          <a:prstGeom prst="rect">
            <a:avLst/>
          </a:prstGeom>
        </p:spPr>
      </p:pic>
      <p:sp>
        <p:nvSpPr>
          <p:cNvPr id="29" name="Text 26"/>
          <p:cNvSpPr/>
          <p:nvPr/>
        </p:nvSpPr>
        <p:spPr>
          <a:xfrm>
            <a:off x="457200" y="457200"/>
            <a:ext cx="4937760" cy="914400"/>
          </a:xfrm>
          <a:prstGeom prst="rect">
            <a:avLst/>
          </a:prstGeom>
          <a:noFill/>
          <a:ln/>
        </p:spPr>
        <p:txBody>
          <a:bodyPr wrap="square" lIns="0" tIns="0" rIns="0" bIns="0" rtlCol="0" anchor="ctr"/>
          <a:lstStyle/>
          <a:p>
            <a:pPr indent="0" marL="0">
              <a:buNone/>
            </a:pPr>
            <a:r>
              <a:rPr lang="en-US" sz="5800" b="1" spc="800" kern="0" dirty="0">
                <a:solidFill>
                  <a:srgbClr val="FFFFFF"/>
                </a:solidFill>
                <a:latin typeface="Cambria" pitchFamily="34" charset="0"/>
                <a:ea typeface="Cambria" pitchFamily="34" charset="-122"/>
                <a:cs typeface="Cambria" pitchFamily="34" charset="-120"/>
              </a:rPr>
              <a:t>GARUDA</a:t>
            </a:r>
            <a:endParaRPr lang="en-US" sz="5800" dirty="0"/>
          </a:p>
        </p:txBody>
      </p:sp>
      <p:sp>
        <p:nvSpPr>
          <p:cNvPr id="30" name="Shape 27"/>
          <p:cNvSpPr/>
          <p:nvPr/>
        </p:nvSpPr>
        <p:spPr>
          <a:xfrm>
            <a:off x="457200" y="1371600"/>
            <a:ext cx="1645920" cy="54864"/>
          </a:xfrm>
          <a:prstGeom prst="rect">
            <a:avLst/>
          </a:prstGeom>
          <a:solidFill>
            <a:srgbClr val="2E86C1"/>
          </a:solidFill>
          <a:ln w="12700">
            <a:solidFill>
              <a:srgbClr val="2E86C1"/>
            </a:solidFill>
            <a:prstDash val="solid"/>
          </a:ln>
        </p:spPr>
      </p:sp>
      <p:sp>
        <p:nvSpPr>
          <p:cNvPr id="31" name="Shape 28"/>
          <p:cNvSpPr/>
          <p:nvPr/>
        </p:nvSpPr>
        <p:spPr>
          <a:xfrm>
            <a:off x="2176272" y="1371600"/>
            <a:ext cx="457200" cy="54864"/>
          </a:xfrm>
          <a:prstGeom prst="rect">
            <a:avLst/>
          </a:prstGeom>
          <a:solidFill>
            <a:srgbClr val="D4A017"/>
          </a:solidFill>
          <a:ln w="12700">
            <a:solidFill>
              <a:srgbClr val="D4A017"/>
            </a:solidFill>
            <a:prstDash val="solid"/>
          </a:ln>
        </p:spPr>
      </p:sp>
      <p:sp>
        <p:nvSpPr>
          <p:cNvPr id="32" name="Text 29"/>
          <p:cNvSpPr/>
          <p:nvPr/>
        </p:nvSpPr>
        <p:spPr>
          <a:xfrm>
            <a:off x="457200" y="1508760"/>
            <a:ext cx="5029200" cy="457200"/>
          </a:xfrm>
          <a:prstGeom prst="rect">
            <a:avLst/>
          </a:prstGeom>
          <a:noFill/>
          <a:ln/>
        </p:spPr>
        <p:txBody>
          <a:bodyPr wrap="square" lIns="0" tIns="0" rIns="0" bIns="0" rtlCol="0" anchor="ctr"/>
          <a:lstStyle/>
          <a:p>
            <a:pPr indent="0" marL="0">
              <a:buNone/>
            </a:pPr>
            <a:r>
              <a:rPr lang="en-US" sz="2200" dirty="0">
                <a:solidFill>
                  <a:srgbClr val="5DADE2"/>
                </a:solidFill>
                <a:latin typeface="Calibri" pitchFamily="34" charset="0"/>
                <a:ea typeface="Calibri" pitchFamily="34" charset="-122"/>
                <a:cs typeface="Calibri" pitchFamily="34" charset="-120"/>
              </a:rPr>
              <a:t>Gridlock Guardian</a:t>
            </a:r>
            <a:endParaRPr lang="en-US" sz="2200" dirty="0"/>
          </a:p>
        </p:txBody>
      </p:sp>
      <p:sp>
        <p:nvSpPr>
          <p:cNvPr id="33" name="Text 30"/>
          <p:cNvSpPr/>
          <p:nvPr/>
        </p:nvSpPr>
        <p:spPr>
          <a:xfrm>
            <a:off x="457200" y="1920240"/>
            <a:ext cx="5029200" cy="777240"/>
          </a:xfrm>
          <a:prstGeom prst="rect">
            <a:avLst/>
          </a:prstGeom>
          <a:noFill/>
          <a:ln/>
        </p:spPr>
        <p:txBody>
          <a:bodyPr wrap="square" lIns="0" tIns="0" rIns="0" bIns="0" rtlCol="0" anchor="ctr"/>
          <a:lstStyle/>
          <a:p>
            <a:pPr indent="0" marL="0">
              <a:buNone/>
            </a:pPr>
            <a:r>
              <a:rPr lang="en-US" sz="1500" dirty="0">
                <a:solidFill>
                  <a:srgbClr val="B8C9D6"/>
                </a:solidFill>
                <a:latin typeface="Calibri" pitchFamily="34" charset="0"/>
                <a:ea typeface="Calibri" pitchFamily="34" charset="-122"/>
                <a:cs typeface="Calibri" pitchFamily="34" charset="-120"/>
              </a:rPr>
              <a:t>Autonomous Edge-Native Traffic Intelligence</a:t>
            </a:r>
            <a:endParaRPr lang="en-US" sz="1500" dirty="0"/>
          </a:p>
          <a:p>
            <a:pPr indent="0" marL="0">
              <a:buNone/>
            </a:pPr>
            <a:r>
              <a:rPr lang="en-US" sz="1500" dirty="0">
                <a:solidFill>
                  <a:srgbClr val="B8C9D6"/>
                </a:solidFill>
                <a:latin typeface="Calibri" pitchFamily="34" charset="0"/>
                <a:ea typeface="Calibri" pitchFamily="34" charset="-122"/>
                <a:cs typeface="Calibri" pitchFamily="34" charset="-120"/>
              </a:rPr>
              <a:t>&amp; Enforcement Platform</a:t>
            </a:r>
            <a:endParaRPr lang="en-US" sz="1500" dirty="0"/>
          </a:p>
        </p:txBody>
      </p:sp>
      <p:sp>
        <p:nvSpPr>
          <p:cNvPr id="34" name="Shape 31"/>
          <p:cNvSpPr/>
          <p:nvPr/>
        </p:nvSpPr>
        <p:spPr>
          <a:xfrm>
            <a:off x="457200" y="2880360"/>
            <a:ext cx="4389120" cy="457200"/>
          </a:xfrm>
          <a:prstGeom prst="roundRect">
            <a:avLst>
              <a:gd name="adj" fmla="val 16000"/>
            </a:avLst>
          </a:prstGeom>
          <a:solidFill>
            <a:srgbClr val="1A3353"/>
          </a:solidFill>
          <a:ln w="10160">
            <a:solidFill>
              <a:srgbClr val="2E86C1"/>
            </a:solidFill>
            <a:prstDash val="solid"/>
          </a:ln>
          <a:effectLst>
            <a:outerShdw sx="100000" sy="100000" kx="0" ky="0" algn="bl" rotWithShape="0" blurRad="101600" dist="38100" dir="2700000">
              <a:srgbClr val="000000">
                <a:alpha val="18000"/>
              </a:srgbClr>
            </a:outerShdw>
          </a:effectLst>
        </p:spPr>
      </p:sp>
      <p:pic>
        <p:nvPicPr>
          <p:cNvPr id="35" name="Image 1" descr="preencoded.png">    </p:cNvPr>
          <p:cNvPicPr>
            <a:picLocks noChangeAspect="1"/>
          </p:cNvPicPr>
          <p:nvPr/>
        </p:nvPicPr>
        <p:blipFill>
          <a:blip r:embed="rId2"/>
          <a:stretch>
            <a:fillRect/>
          </a:stretch>
        </p:blipFill>
        <p:spPr>
          <a:xfrm>
            <a:off x="566928" y="2953512"/>
            <a:ext cx="310896" cy="310896"/>
          </a:xfrm>
          <a:prstGeom prst="rect">
            <a:avLst/>
          </a:prstGeom>
        </p:spPr>
      </p:pic>
      <p:sp>
        <p:nvSpPr>
          <p:cNvPr id="36" name="Text 32"/>
          <p:cNvSpPr/>
          <p:nvPr/>
        </p:nvSpPr>
        <p:spPr>
          <a:xfrm>
            <a:off x="969264" y="2953512"/>
            <a:ext cx="3749040" cy="310896"/>
          </a:xfrm>
          <a:prstGeom prst="rect">
            <a:avLst/>
          </a:prstGeom>
          <a:noFill/>
          <a:ln/>
        </p:spPr>
        <p:txBody>
          <a:bodyPr wrap="square" lIns="0" tIns="0" rIns="0" bIns="0" rtlCol="0" anchor="ctr"/>
          <a:lstStyle/>
          <a:p>
            <a:pPr indent="0" marL="0">
              <a:buNone/>
            </a:pPr>
            <a:r>
              <a:rPr lang="en-US" sz="1300" dirty="0">
                <a:solidFill>
                  <a:srgbClr val="E8EEF4"/>
                </a:solidFill>
                <a:latin typeface="Calibri" pitchFamily="34" charset="0"/>
                <a:ea typeface="Calibri" pitchFamily="34" charset="-122"/>
                <a:cs typeface="Calibri" pitchFamily="34" charset="-120"/>
              </a:rPr>
              <a:t>Edge-Native CV Pipeline</a:t>
            </a:r>
            <a:endParaRPr lang="en-US" sz="1300" dirty="0"/>
          </a:p>
        </p:txBody>
      </p:sp>
      <p:sp>
        <p:nvSpPr>
          <p:cNvPr id="37" name="Shape 33"/>
          <p:cNvSpPr/>
          <p:nvPr/>
        </p:nvSpPr>
        <p:spPr>
          <a:xfrm>
            <a:off x="457200" y="3447288"/>
            <a:ext cx="4389120" cy="457200"/>
          </a:xfrm>
          <a:prstGeom prst="roundRect">
            <a:avLst>
              <a:gd name="adj" fmla="val 16000"/>
            </a:avLst>
          </a:prstGeom>
          <a:solidFill>
            <a:srgbClr val="1A3353"/>
          </a:solidFill>
          <a:ln w="10160">
            <a:solidFill>
              <a:srgbClr val="2E86C1"/>
            </a:solidFill>
            <a:prstDash val="solid"/>
          </a:ln>
          <a:effectLst>
            <a:outerShdw sx="100000" sy="100000" kx="0" ky="0" algn="bl" rotWithShape="0" blurRad="101600" dist="38100" dir="2700000">
              <a:srgbClr val="000000">
                <a:alpha val="18000"/>
              </a:srgbClr>
            </a:outerShdw>
          </a:effectLst>
        </p:spPr>
      </p:sp>
      <p:pic>
        <p:nvPicPr>
          <p:cNvPr id="38" name="Image 2" descr="preencoded.png">    </p:cNvPr>
          <p:cNvPicPr>
            <a:picLocks noChangeAspect="1"/>
          </p:cNvPicPr>
          <p:nvPr/>
        </p:nvPicPr>
        <p:blipFill>
          <a:blip r:embed="rId3"/>
          <a:stretch>
            <a:fillRect/>
          </a:stretch>
        </p:blipFill>
        <p:spPr>
          <a:xfrm>
            <a:off x="566928" y="3520440"/>
            <a:ext cx="310896" cy="310896"/>
          </a:xfrm>
          <a:prstGeom prst="rect">
            <a:avLst/>
          </a:prstGeom>
        </p:spPr>
      </p:pic>
      <p:sp>
        <p:nvSpPr>
          <p:cNvPr id="39" name="Text 34"/>
          <p:cNvSpPr/>
          <p:nvPr/>
        </p:nvSpPr>
        <p:spPr>
          <a:xfrm>
            <a:off x="969264" y="3520440"/>
            <a:ext cx="3749040" cy="310896"/>
          </a:xfrm>
          <a:prstGeom prst="rect">
            <a:avLst/>
          </a:prstGeom>
          <a:noFill/>
          <a:ln/>
        </p:spPr>
        <p:txBody>
          <a:bodyPr wrap="square" lIns="0" tIns="0" rIns="0" bIns="0" rtlCol="0" anchor="ctr"/>
          <a:lstStyle/>
          <a:p>
            <a:pPr indent="0" marL="0">
              <a:buNone/>
            </a:pPr>
            <a:r>
              <a:rPr lang="en-US" sz="1300" dirty="0">
                <a:solidFill>
                  <a:srgbClr val="E8EEF4"/>
                </a:solidFill>
                <a:latin typeface="Calibri" pitchFamily="34" charset="0"/>
                <a:ea typeface="Calibri" pitchFamily="34" charset="-122"/>
                <a:cs typeface="Calibri" pitchFamily="34" charset="-120"/>
              </a:rPr>
              <a:t>Plate Reconstruction</a:t>
            </a:r>
            <a:endParaRPr lang="en-US" sz="1300" dirty="0"/>
          </a:p>
        </p:txBody>
      </p:sp>
      <p:sp>
        <p:nvSpPr>
          <p:cNvPr id="40" name="Shape 35"/>
          <p:cNvSpPr/>
          <p:nvPr/>
        </p:nvSpPr>
        <p:spPr>
          <a:xfrm>
            <a:off x="457200" y="4014216"/>
            <a:ext cx="4389120" cy="457200"/>
          </a:xfrm>
          <a:prstGeom prst="roundRect">
            <a:avLst>
              <a:gd name="adj" fmla="val 16000"/>
            </a:avLst>
          </a:prstGeom>
          <a:solidFill>
            <a:srgbClr val="1A3353"/>
          </a:solidFill>
          <a:ln w="10160">
            <a:solidFill>
              <a:srgbClr val="2E86C1"/>
            </a:solidFill>
            <a:prstDash val="solid"/>
          </a:ln>
          <a:effectLst>
            <a:outerShdw sx="100000" sy="100000" kx="0" ky="0" algn="bl" rotWithShape="0" blurRad="101600" dist="38100" dir="2700000">
              <a:srgbClr val="000000">
                <a:alpha val="18000"/>
              </a:srgbClr>
            </a:outerShdw>
          </a:effectLst>
        </p:spPr>
      </p:sp>
      <p:pic>
        <p:nvPicPr>
          <p:cNvPr id="41" name="Image 3" descr="preencoded.png">    </p:cNvPr>
          <p:cNvPicPr>
            <a:picLocks noChangeAspect="1"/>
          </p:cNvPicPr>
          <p:nvPr/>
        </p:nvPicPr>
        <p:blipFill>
          <a:blip r:embed="rId4"/>
          <a:stretch>
            <a:fillRect/>
          </a:stretch>
        </p:blipFill>
        <p:spPr>
          <a:xfrm>
            <a:off x="566928" y="4087368"/>
            <a:ext cx="310896" cy="310896"/>
          </a:xfrm>
          <a:prstGeom prst="rect">
            <a:avLst/>
          </a:prstGeom>
        </p:spPr>
      </p:pic>
      <p:sp>
        <p:nvSpPr>
          <p:cNvPr id="42" name="Text 36"/>
          <p:cNvSpPr/>
          <p:nvPr/>
        </p:nvSpPr>
        <p:spPr>
          <a:xfrm>
            <a:off x="969264" y="4087368"/>
            <a:ext cx="3749040" cy="310896"/>
          </a:xfrm>
          <a:prstGeom prst="rect">
            <a:avLst/>
          </a:prstGeom>
          <a:noFill/>
          <a:ln/>
        </p:spPr>
        <p:txBody>
          <a:bodyPr wrap="square" lIns="0" tIns="0" rIns="0" bIns="0" rtlCol="0" anchor="ctr"/>
          <a:lstStyle/>
          <a:p>
            <a:pPr indent="0" marL="0">
              <a:buNone/>
            </a:pPr>
            <a:r>
              <a:rPr lang="en-US" sz="1300" dirty="0">
                <a:solidFill>
                  <a:srgbClr val="E8EEF4"/>
                </a:solidFill>
                <a:latin typeface="Calibri" pitchFamily="34" charset="0"/>
                <a:ea typeface="Calibri" pitchFamily="34" charset="-122"/>
                <a:cs typeface="Calibri" pitchFamily="34" charset="-120"/>
              </a:rPr>
              <a:t>Automated E-Challan</a:t>
            </a:r>
            <a:endParaRPr lang="en-US" sz="1300" dirty="0"/>
          </a:p>
        </p:txBody>
      </p:sp>
      <p:sp>
        <p:nvSpPr>
          <p:cNvPr id="43" name="Text 37"/>
          <p:cNvSpPr/>
          <p:nvPr/>
        </p:nvSpPr>
        <p:spPr>
          <a:xfrm>
            <a:off x="457200" y="4709160"/>
            <a:ext cx="5029200" cy="274320"/>
          </a:xfrm>
          <a:prstGeom prst="rect">
            <a:avLst/>
          </a:prstGeom>
          <a:noFill/>
          <a:ln/>
        </p:spPr>
        <p:txBody>
          <a:bodyPr wrap="square" lIns="0" tIns="0" rIns="0" bIns="0" rtlCol="0" anchor="ctr"/>
          <a:lstStyle/>
          <a:p>
            <a:pPr indent="0" marL="0">
              <a:buNone/>
            </a:pPr>
            <a:r>
              <a:rPr lang="en-US" sz="1000" dirty="0">
                <a:solidFill>
                  <a:srgbClr val="8FA3B1"/>
                </a:solidFill>
                <a:latin typeface="Calibri" pitchFamily="34" charset="0"/>
                <a:ea typeface="Calibri" pitchFamily="34" charset="-122"/>
                <a:cs typeface="Calibri" pitchFamily="34" charset="-120"/>
              </a:rPr>
              <a:t>Team CodeKrafters  ·  2025</a:t>
            </a:r>
            <a:endParaRPr lang="en-US" sz="1000" dirty="0"/>
          </a:p>
        </p:txBody>
      </p:sp>
      <p:sp>
        <p:nvSpPr>
          <p:cNvPr id="44" name="Text 38"/>
          <p:cNvSpPr/>
          <p:nvPr/>
        </p:nvSpPr>
        <p:spPr>
          <a:xfrm>
            <a:off x="5760720" y="3200400"/>
            <a:ext cx="3108960" cy="1645920"/>
          </a:xfrm>
          <a:prstGeom prst="rect">
            <a:avLst/>
          </a:prstGeom>
          <a:noFill/>
          <a:ln/>
        </p:spPr>
        <p:txBody>
          <a:bodyPr wrap="square" lIns="0" tIns="0" rIns="0" bIns="0" rtlCol="0" anchor="ctr"/>
          <a:lstStyle/>
          <a:p>
            <a:pPr algn="ctr" indent="0" marL="0">
              <a:buNone/>
            </a:pPr>
            <a:r>
              <a:rPr lang="en-US" sz="1400" b="1" spc="300" kern="0" dirty="0">
                <a:solidFill>
                  <a:srgbClr val="8FA3B1"/>
                </a:solidFill>
                <a:latin typeface="Cambria" pitchFamily="34" charset="0"/>
                <a:ea typeface="Cambria" pitchFamily="34" charset="-122"/>
                <a:cs typeface="Cambria" pitchFamily="34" charset="-120"/>
              </a:rPr>
              <a:t>INTELLIGENT</a:t>
            </a:r>
            <a:endParaRPr lang="en-US" sz="1400" dirty="0"/>
          </a:p>
          <a:p>
            <a:pPr algn="ctr" indent="0" marL="0">
              <a:buNone/>
            </a:pPr>
            <a:r>
              <a:rPr lang="en-US" sz="1400" b="1" spc="300" kern="0" dirty="0">
                <a:solidFill>
                  <a:srgbClr val="8FA3B1"/>
                </a:solidFill>
                <a:latin typeface="Cambria" pitchFamily="34" charset="0"/>
                <a:ea typeface="Cambria" pitchFamily="34" charset="-122"/>
                <a:cs typeface="Cambria" pitchFamily="34" charset="-120"/>
              </a:rPr>
              <a:t>TRAFFIC</a:t>
            </a:r>
            <a:endParaRPr lang="en-US" sz="1400" dirty="0"/>
          </a:p>
          <a:p>
            <a:pPr algn="ctr" indent="0" marL="0">
              <a:buNone/>
            </a:pPr>
            <a:r>
              <a:rPr lang="en-US" sz="1400" b="1" spc="300" kern="0" dirty="0">
                <a:solidFill>
                  <a:srgbClr val="8FA3B1"/>
                </a:solidFill>
                <a:latin typeface="Cambria" pitchFamily="34" charset="0"/>
                <a:ea typeface="Cambria" pitchFamily="34" charset="-122"/>
                <a:cs typeface="Cambria" pitchFamily="34" charset="-120"/>
              </a:rPr>
              <a:t>ENFORCEMENT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sp>
      <p:sp>
        <p:nvSpPr>
          <p:cNvPr id="3" name="Text 1"/>
          <p:cNvSpPr/>
          <p:nvPr/>
        </p:nvSpPr>
        <p:spPr>
          <a:xfrm>
            <a:off x="365760" y="73152"/>
            <a:ext cx="2743200" cy="320040"/>
          </a:xfrm>
          <a:prstGeom prst="rect">
            <a:avLst/>
          </a:prstGeom>
          <a:noFill/>
          <a:ln/>
        </p:spPr>
        <p:txBody>
          <a:bodyPr wrap="square" lIns="0" tIns="0" rIns="0" bIns="0" rtlCol="0" anchor="ctr"/>
          <a:lstStyle/>
          <a:p>
            <a:pPr indent="0" marL="0">
              <a:buNone/>
            </a:pPr>
            <a:r>
              <a:rPr lang="en-US" sz="1000" b="1" spc="300" kern="0" dirty="0">
                <a:solidFill>
                  <a:srgbClr val="2E86C1"/>
                </a:solidFill>
                <a:latin typeface="Calibri" pitchFamily="34" charset="0"/>
                <a:ea typeface="Calibri" pitchFamily="34" charset="-122"/>
                <a:cs typeface="Calibri" pitchFamily="34" charset="-120"/>
              </a:rPr>
              <a:t>THE PROBLEM</a:t>
            </a:r>
            <a:endParaRPr lang="en-US" sz="1000" dirty="0"/>
          </a:p>
        </p:txBody>
      </p:sp>
      <p:sp>
        <p:nvSpPr>
          <p:cNvPr id="4" name="Text 2"/>
          <p:cNvSpPr/>
          <p:nvPr/>
        </p:nvSpPr>
        <p:spPr>
          <a:xfrm>
            <a:off x="365760" y="384048"/>
            <a:ext cx="822960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Chaos of Modern Urban Traffic</a:t>
            </a:r>
            <a:endParaRPr lang="en-US" sz="2600" dirty="0"/>
          </a:p>
        </p:txBody>
      </p:sp>
      <p:sp>
        <p:nvSpPr>
          <p:cNvPr id="5" name="Shape 3"/>
          <p:cNvSpPr/>
          <p:nvPr/>
        </p:nvSpPr>
        <p:spPr>
          <a:xfrm>
            <a:off x="274320" y="1143000"/>
            <a:ext cx="4206240" cy="1828800"/>
          </a:xfrm>
          <a:prstGeom prst="roundRect">
            <a:avLst>
              <a:gd name="adj" fmla="val 5000"/>
            </a:avLst>
          </a:prstGeom>
          <a:solidFill>
            <a:srgbClr val="FFFFFF"/>
          </a:solidFill>
          <a:ln w="12700">
            <a:solidFill>
              <a:srgbClr val="DDE4EC"/>
            </a:solidFill>
            <a:prstDash val="solid"/>
          </a:ln>
          <a:effectLst>
            <a:outerShdw sx="100000" sy="100000" kx="0" ky="0" algn="bl" rotWithShape="0" blurRad="152400" dist="50800" dir="2700000">
              <a:srgbClr val="000000">
                <a:alpha val="22000"/>
              </a:srgbClr>
            </a:outerShdw>
          </a:effectLst>
        </p:spPr>
      </p:sp>
      <p:sp>
        <p:nvSpPr>
          <p:cNvPr id="6" name="Shape 4"/>
          <p:cNvSpPr/>
          <p:nvPr/>
        </p:nvSpPr>
        <p:spPr>
          <a:xfrm>
            <a:off x="457200" y="1344168"/>
            <a:ext cx="548640" cy="548640"/>
          </a:xfrm>
          <a:prstGeom prst="ellipse">
            <a:avLst/>
          </a:prstGeom>
          <a:solidFill>
            <a:srgbClr val="922B21">
              <a:alpha val="15000"/>
            </a:srgbClr>
          </a:solidFill>
          <a:ln w="12700">
            <a:solidFill>
              <a:srgbClr val="922B21"/>
            </a:solidFill>
            <a:prstDash val="solid"/>
          </a:ln>
        </p:spPr>
      </p:sp>
      <p:pic>
        <p:nvPicPr>
          <p:cNvPr id="7" name="Image 0" descr="preencoded.png">    </p:cNvPr>
          <p:cNvPicPr>
            <a:picLocks noChangeAspect="1"/>
          </p:cNvPicPr>
          <p:nvPr/>
        </p:nvPicPr>
        <p:blipFill>
          <a:blip r:embed="rId1"/>
          <a:stretch>
            <a:fillRect/>
          </a:stretch>
        </p:blipFill>
        <p:spPr>
          <a:xfrm>
            <a:off x="521208" y="1399032"/>
            <a:ext cx="420624" cy="420624"/>
          </a:xfrm>
          <a:prstGeom prst="rect">
            <a:avLst/>
          </a:prstGeom>
        </p:spPr>
      </p:pic>
      <p:sp>
        <p:nvSpPr>
          <p:cNvPr id="8" name="Text 5"/>
          <p:cNvSpPr/>
          <p:nvPr/>
        </p:nvSpPr>
        <p:spPr>
          <a:xfrm>
            <a:off x="1143000" y="1344168"/>
            <a:ext cx="3200400" cy="384048"/>
          </a:xfrm>
          <a:prstGeom prst="rect">
            <a:avLst/>
          </a:prstGeom>
          <a:noFill/>
          <a:ln/>
        </p:spPr>
        <p:txBody>
          <a:bodyPr wrap="square" lIns="0" tIns="0" rIns="0" bIns="0" rtlCol="0" anchor="ctr"/>
          <a:lstStyle/>
          <a:p>
            <a:pPr indent="0" marL="0">
              <a:buNone/>
            </a:pPr>
            <a:r>
              <a:rPr lang="en-US" sz="1400" b="1" dirty="0">
                <a:solidFill>
                  <a:srgbClr val="1A2738"/>
                </a:solidFill>
                <a:latin typeface="Cambria" pitchFamily="34" charset="0"/>
                <a:ea typeface="Cambria" pitchFamily="34" charset="-122"/>
                <a:cs typeface="Cambria" pitchFamily="34" charset="-120"/>
              </a:rPr>
              <a:t>Cloud Dependency</a:t>
            </a:r>
            <a:endParaRPr lang="en-US" sz="1400" dirty="0"/>
          </a:p>
        </p:txBody>
      </p:sp>
      <p:sp>
        <p:nvSpPr>
          <p:cNvPr id="9" name="Text 6"/>
          <p:cNvSpPr/>
          <p:nvPr/>
        </p:nvSpPr>
        <p:spPr>
          <a:xfrm>
            <a:off x="457200" y="1801368"/>
            <a:ext cx="3840480" cy="1051560"/>
          </a:xfrm>
          <a:prstGeom prst="rect">
            <a:avLst/>
          </a:prstGeom>
          <a:noFill/>
          <a:ln/>
        </p:spPr>
        <p:txBody>
          <a:bodyPr wrap="square" lIns="0" tIns="0" rIns="0" bIns="0" rtlCol="0" anchor="ctr"/>
          <a:lstStyle/>
          <a:p>
            <a:pPr indent="0" marL="0">
              <a:buNone/>
            </a:pPr>
            <a:r>
              <a:rPr lang="en-US" sz="1200" dirty="0">
                <a:solidFill>
                  <a:srgbClr val="445566"/>
                </a:solidFill>
                <a:latin typeface="Calibri" pitchFamily="34" charset="0"/>
                <a:ea typeface="Calibri" pitchFamily="34" charset="-122"/>
                <a:cs typeface="Calibri" pitchFamily="34" charset="-120"/>
              </a:rPr>
              <a:t>Traffic cameras stream raw video 24/7 to the cloud — causing massive bandwidth bills and high latency in enforcement response.</a:t>
            </a:r>
            <a:endParaRPr lang="en-US" sz="1200" dirty="0"/>
          </a:p>
        </p:txBody>
      </p:sp>
      <p:sp>
        <p:nvSpPr>
          <p:cNvPr id="10" name="Shape 7"/>
          <p:cNvSpPr/>
          <p:nvPr/>
        </p:nvSpPr>
        <p:spPr>
          <a:xfrm>
            <a:off x="4754880" y="1143000"/>
            <a:ext cx="4206240" cy="1828800"/>
          </a:xfrm>
          <a:prstGeom prst="roundRect">
            <a:avLst>
              <a:gd name="adj" fmla="val 5000"/>
            </a:avLst>
          </a:prstGeom>
          <a:solidFill>
            <a:srgbClr val="FFFFFF"/>
          </a:solidFill>
          <a:ln w="12700">
            <a:solidFill>
              <a:srgbClr val="DDE4EC"/>
            </a:solidFill>
            <a:prstDash val="solid"/>
          </a:ln>
          <a:effectLst>
            <a:outerShdw sx="100000" sy="100000" kx="0" ky="0" algn="bl" rotWithShape="0" blurRad="152400" dist="50800" dir="2700000">
              <a:srgbClr val="000000">
                <a:alpha val="22000"/>
              </a:srgbClr>
            </a:outerShdw>
          </a:effectLst>
        </p:spPr>
      </p:sp>
      <p:sp>
        <p:nvSpPr>
          <p:cNvPr id="11" name="Shape 8"/>
          <p:cNvSpPr/>
          <p:nvPr/>
        </p:nvSpPr>
        <p:spPr>
          <a:xfrm>
            <a:off x="4937760" y="1344168"/>
            <a:ext cx="548640" cy="548640"/>
          </a:xfrm>
          <a:prstGeom prst="ellipse">
            <a:avLst/>
          </a:prstGeom>
          <a:solidFill>
            <a:srgbClr val="922B21">
              <a:alpha val="15000"/>
            </a:srgbClr>
          </a:solidFill>
          <a:ln w="12700">
            <a:solidFill>
              <a:srgbClr val="922B21"/>
            </a:solidFill>
            <a:prstDash val="solid"/>
          </a:ln>
        </p:spPr>
      </p:sp>
      <p:pic>
        <p:nvPicPr>
          <p:cNvPr id="12" name="Image 1" descr="preencoded.png">    </p:cNvPr>
          <p:cNvPicPr>
            <a:picLocks noChangeAspect="1"/>
          </p:cNvPicPr>
          <p:nvPr/>
        </p:nvPicPr>
        <p:blipFill>
          <a:blip r:embed="rId2"/>
          <a:stretch>
            <a:fillRect/>
          </a:stretch>
        </p:blipFill>
        <p:spPr>
          <a:xfrm>
            <a:off x="5001768" y="1399032"/>
            <a:ext cx="420624" cy="420624"/>
          </a:xfrm>
          <a:prstGeom prst="rect">
            <a:avLst/>
          </a:prstGeom>
        </p:spPr>
      </p:pic>
      <p:sp>
        <p:nvSpPr>
          <p:cNvPr id="13" name="Text 9"/>
          <p:cNvSpPr/>
          <p:nvPr/>
        </p:nvSpPr>
        <p:spPr>
          <a:xfrm>
            <a:off x="5623560" y="1344168"/>
            <a:ext cx="3200400" cy="384048"/>
          </a:xfrm>
          <a:prstGeom prst="rect">
            <a:avLst/>
          </a:prstGeom>
          <a:noFill/>
          <a:ln/>
        </p:spPr>
        <p:txBody>
          <a:bodyPr wrap="square" lIns="0" tIns="0" rIns="0" bIns="0" rtlCol="0" anchor="ctr"/>
          <a:lstStyle/>
          <a:p>
            <a:pPr indent="0" marL="0">
              <a:buNone/>
            </a:pPr>
            <a:r>
              <a:rPr lang="en-US" sz="1400" b="1" dirty="0">
                <a:solidFill>
                  <a:srgbClr val="1A2738"/>
                </a:solidFill>
                <a:latin typeface="Cambria" pitchFamily="34" charset="0"/>
                <a:ea typeface="Cambria" pitchFamily="34" charset="-122"/>
                <a:cs typeface="Cambria" pitchFamily="34" charset="-120"/>
              </a:rPr>
              <a:t>Unreadable Plates</a:t>
            </a:r>
            <a:endParaRPr lang="en-US" sz="1400" dirty="0"/>
          </a:p>
        </p:txBody>
      </p:sp>
      <p:sp>
        <p:nvSpPr>
          <p:cNvPr id="14" name="Text 10"/>
          <p:cNvSpPr/>
          <p:nvPr/>
        </p:nvSpPr>
        <p:spPr>
          <a:xfrm>
            <a:off x="4937760" y="1801368"/>
            <a:ext cx="3840480" cy="1051560"/>
          </a:xfrm>
          <a:prstGeom prst="rect">
            <a:avLst/>
          </a:prstGeom>
          <a:noFill/>
          <a:ln/>
        </p:spPr>
        <p:txBody>
          <a:bodyPr wrap="square" lIns="0" tIns="0" rIns="0" bIns="0" rtlCol="0" anchor="ctr"/>
          <a:lstStyle/>
          <a:p>
            <a:pPr indent="0" marL="0">
              <a:buNone/>
            </a:pPr>
            <a:r>
              <a:rPr lang="en-US" sz="1200" dirty="0">
                <a:solidFill>
                  <a:srgbClr val="445566"/>
                </a:solidFill>
                <a:latin typeface="Calibri" pitchFamily="34" charset="0"/>
                <a:ea typeface="Calibri" pitchFamily="34" charset="-122"/>
                <a:cs typeface="Calibri" pitchFamily="34" charset="-120"/>
              </a:rPr>
              <a:t>Mud, physical damage, or motion blur renders typical OCR engines useless — violators escape identification entirely.</a:t>
            </a:r>
            <a:endParaRPr lang="en-US" sz="1200" dirty="0"/>
          </a:p>
        </p:txBody>
      </p:sp>
      <p:sp>
        <p:nvSpPr>
          <p:cNvPr id="15" name="Shape 11"/>
          <p:cNvSpPr/>
          <p:nvPr/>
        </p:nvSpPr>
        <p:spPr>
          <a:xfrm>
            <a:off x="274320" y="3154680"/>
            <a:ext cx="4206240" cy="1828800"/>
          </a:xfrm>
          <a:prstGeom prst="roundRect">
            <a:avLst>
              <a:gd name="adj" fmla="val 5000"/>
            </a:avLst>
          </a:prstGeom>
          <a:solidFill>
            <a:srgbClr val="FFFFFF"/>
          </a:solidFill>
          <a:ln w="12700">
            <a:solidFill>
              <a:srgbClr val="DDE4EC"/>
            </a:solidFill>
            <a:prstDash val="solid"/>
          </a:ln>
          <a:effectLst>
            <a:outerShdw sx="100000" sy="100000" kx="0" ky="0" algn="bl" rotWithShape="0" blurRad="152400" dist="50800" dir="2700000">
              <a:srgbClr val="000000">
                <a:alpha val="22000"/>
              </a:srgbClr>
            </a:outerShdw>
          </a:effectLst>
        </p:spPr>
      </p:sp>
      <p:sp>
        <p:nvSpPr>
          <p:cNvPr id="16" name="Shape 12"/>
          <p:cNvSpPr/>
          <p:nvPr/>
        </p:nvSpPr>
        <p:spPr>
          <a:xfrm>
            <a:off x="457200" y="3355848"/>
            <a:ext cx="548640" cy="548640"/>
          </a:xfrm>
          <a:prstGeom prst="ellipse">
            <a:avLst/>
          </a:prstGeom>
          <a:solidFill>
            <a:srgbClr val="D4A017">
              <a:alpha val="15000"/>
            </a:srgbClr>
          </a:solidFill>
          <a:ln w="12700">
            <a:solidFill>
              <a:srgbClr val="D4A017"/>
            </a:solidFill>
            <a:prstDash val="solid"/>
          </a:ln>
        </p:spPr>
      </p:sp>
      <p:pic>
        <p:nvPicPr>
          <p:cNvPr id="17" name="Image 2" descr="preencoded.png">    </p:cNvPr>
          <p:cNvPicPr>
            <a:picLocks noChangeAspect="1"/>
          </p:cNvPicPr>
          <p:nvPr/>
        </p:nvPicPr>
        <p:blipFill>
          <a:blip r:embed="rId3"/>
          <a:stretch>
            <a:fillRect/>
          </a:stretch>
        </p:blipFill>
        <p:spPr>
          <a:xfrm>
            <a:off x="521208" y="3410712"/>
            <a:ext cx="420624" cy="420624"/>
          </a:xfrm>
          <a:prstGeom prst="rect">
            <a:avLst/>
          </a:prstGeom>
        </p:spPr>
      </p:pic>
      <p:sp>
        <p:nvSpPr>
          <p:cNvPr id="18" name="Text 13"/>
          <p:cNvSpPr/>
          <p:nvPr/>
        </p:nvSpPr>
        <p:spPr>
          <a:xfrm>
            <a:off x="1143000" y="3355848"/>
            <a:ext cx="3200400" cy="384048"/>
          </a:xfrm>
          <a:prstGeom prst="rect">
            <a:avLst/>
          </a:prstGeom>
          <a:noFill/>
          <a:ln/>
        </p:spPr>
        <p:txBody>
          <a:bodyPr wrap="square" lIns="0" tIns="0" rIns="0" bIns="0" rtlCol="0" anchor="ctr"/>
          <a:lstStyle/>
          <a:p>
            <a:pPr indent="0" marL="0">
              <a:buNone/>
            </a:pPr>
            <a:r>
              <a:rPr lang="en-US" sz="1400" b="1" dirty="0">
                <a:solidFill>
                  <a:srgbClr val="1A2738"/>
                </a:solidFill>
                <a:latin typeface="Cambria" pitchFamily="34" charset="0"/>
                <a:ea typeface="Cambria" pitchFamily="34" charset="-122"/>
                <a:cs typeface="Cambria" pitchFamily="34" charset="-120"/>
              </a:rPr>
              <a:t>False Accusations</a:t>
            </a:r>
            <a:endParaRPr lang="en-US" sz="1400" dirty="0"/>
          </a:p>
        </p:txBody>
      </p:sp>
      <p:sp>
        <p:nvSpPr>
          <p:cNvPr id="19" name="Text 14"/>
          <p:cNvSpPr/>
          <p:nvPr/>
        </p:nvSpPr>
        <p:spPr>
          <a:xfrm>
            <a:off x="457200" y="3813048"/>
            <a:ext cx="3840480" cy="1051560"/>
          </a:xfrm>
          <a:prstGeom prst="rect">
            <a:avLst/>
          </a:prstGeom>
          <a:noFill/>
          <a:ln/>
        </p:spPr>
        <p:txBody>
          <a:bodyPr wrap="square" lIns="0" tIns="0" rIns="0" bIns="0" rtlCol="0" anchor="ctr"/>
          <a:lstStyle/>
          <a:p>
            <a:pPr indent="0" marL="0">
              <a:buNone/>
            </a:pPr>
            <a:r>
              <a:rPr lang="en-US" sz="1200" dirty="0">
                <a:solidFill>
                  <a:srgbClr val="445566"/>
                </a:solidFill>
                <a:latin typeface="Calibri" pitchFamily="34" charset="0"/>
                <a:ea typeface="Calibri" pitchFamily="34" charset="-122"/>
                <a:cs typeface="Calibri" pitchFamily="34" charset="-120"/>
              </a:rPr>
              <a:t>Static, non-gated systems issue incorrect challans causing citizen outrage and a growing dispute resolution backlog.</a:t>
            </a:r>
            <a:endParaRPr lang="en-US" sz="1200" dirty="0"/>
          </a:p>
        </p:txBody>
      </p:sp>
      <p:sp>
        <p:nvSpPr>
          <p:cNvPr id="20" name="Shape 15"/>
          <p:cNvSpPr/>
          <p:nvPr/>
        </p:nvSpPr>
        <p:spPr>
          <a:xfrm>
            <a:off x="4754880" y="3154680"/>
            <a:ext cx="4206240" cy="1828800"/>
          </a:xfrm>
          <a:prstGeom prst="roundRect">
            <a:avLst>
              <a:gd name="adj" fmla="val 5000"/>
            </a:avLst>
          </a:prstGeom>
          <a:solidFill>
            <a:srgbClr val="FFFFFF"/>
          </a:solidFill>
          <a:ln w="12700">
            <a:solidFill>
              <a:srgbClr val="DDE4EC"/>
            </a:solidFill>
            <a:prstDash val="solid"/>
          </a:ln>
          <a:effectLst>
            <a:outerShdw sx="100000" sy="100000" kx="0" ky="0" algn="bl" rotWithShape="0" blurRad="152400" dist="50800" dir="2700000">
              <a:srgbClr val="000000">
                <a:alpha val="22000"/>
              </a:srgbClr>
            </a:outerShdw>
          </a:effectLst>
        </p:spPr>
      </p:sp>
      <p:sp>
        <p:nvSpPr>
          <p:cNvPr id="21" name="Shape 16"/>
          <p:cNvSpPr/>
          <p:nvPr/>
        </p:nvSpPr>
        <p:spPr>
          <a:xfrm>
            <a:off x="4937760" y="3355848"/>
            <a:ext cx="548640" cy="548640"/>
          </a:xfrm>
          <a:prstGeom prst="ellipse">
            <a:avLst/>
          </a:prstGeom>
          <a:solidFill>
            <a:srgbClr val="D4A017">
              <a:alpha val="15000"/>
            </a:srgbClr>
          </a:solidFill>
          <a:ln w="12700">
            <a:solidFill>
              <a:srgbClr val="D4A017"/>
            </a:solidFill>
            <a:prstDash val="solid"/>
          </a:ln>
        </p:spPr>
      </p:sp>
      <p:pic>
        <p:nvPicPr>
          <p:cNvPr id="22" name="Image 3" descr="preencoded.png">    </p:cNvPr>
          <p:cNvPicPr>
            <a:picLocks noChangeAspect="1"/>
          </p:cNvPicPr>
          <p:nvPr/>
        </p:nvPicPr>
        <p:blipFill>
          <a:blip r:embed="rId4"/>
          <a:stretch>
            <a:fillRect/>
          </a:stretch>
        </p:blipFill>
        <p:spPr>
          <a:xfrm>
            <a:off x="5001768" y="3410712"/>
            <a:ext cx="420624" cy="420624"/>
          </a:xfrm>
          <a:prstGeom prst="rect">
            <a:avLst/>
          </a:prstGeom>
        </p:spPr>
      </p:pic>
      <p:sp>
        <p:nvSpPr>
          <p:cNvPr id="23" name="Text 17"/>
          <p:cNvSpPr/>
          <p:nvPr/>
        </p:nvSpPr>
        <p:spPr>
          <a:xfrm>
            <a:off x="5623560" y="3355848"/>
            <a:ext cx="3200400" cy="384048"/>
          </a:xfrm>
          <a:prstGeom prst="rect">
            <a:avLst/>
          </a:prstGeom>
          <a:noFill/>
          <a:ln/>
        </p:spPr>
        <p:txBody>
          <a:bodyPr wrap="square" lIns="0" tIns="0" rIns="0" bIns="0" rtlCol="0" anchor="ctr"/>
          <a:lstStyle/>
          <a:p>
            <a:pPr indent="0" marL="0">
              <a:buNone/>
            </a:pPr>
            <a:r>
              <a:rPr lang="en-US" sz="1400" b="1" dirty="0">
                <a:solidFill>
                  <a:srgbClr val="1A2738"/>
                </a:solidFill>
                <a:latin typeface="Cambria" pitchFamily="34" charset="0"/>
                <a:ea typeface="Cambria" pitchFamily="34" charset="-122"/>
                <a:cs typeface="Cambria" pitchFamily="34" charset="-120"/>
              </a:rPr>
              <a:t>Reactive Policing</a:t>
            </a:r>
            <a:endParaRPr lang="en-US" sz="1400" dirty="0"/>
          </a:p>
        </p:txBody>
      </p:sp>
      <p:sp>
        <p:nvSpPr>
          <p:cNvPr id="24" name="Text 18"/>
          <p:cNvSpPr/>
          <p:nvPr/>
        </p:nvSpPr>
        <p:spPr>
          <a:xfrm>
            <a:off x="4937760" y="3813048"/>
            <a:ext cx="3840480" cy="1051560"/>
          </a:xfrm>
          <a:prstGeom prst="rect">
            <a:avLst/>
          </a:prstGeom>
          <a:noFill/>
          <a:ln/>
        </p:spPr>
        <p:txBody>
          <a:bodyPr wrap="square" lIns="0" tIns="0" rIns="0" bIns="0" rtlCol="0" anchor="ctr"/>
          <a:lstStyle/>
          <a:p>
            <a:pPr indent="0" marL="0">
              <a:buNone/>
            </a:pPr>
            <a:r>
              <a:rPr lang="en-US" sz="1200" dirty="0">
                <a:solidFill>
                  <a:srgbClr val="445566"/>
                </a:solidFill>
                <a:latin typeface="Calibri" pitchFamily="34" charset="0"/>
                <a:ea typeface="Calibri" pitchFamily="34" charset="-122"/>
                <a:cs typeface="Calibri" pitchFamily="34" charset="-120"/>
              </a:rPr>
              <a:t>Existing systems only record accidents after they occur. No proactive screening for drowsiness or driver distraction.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12236"/>
          </a:solidFill>
          <a:ln w="12700">
            <a:solidFill>
              <a:srgbClr val="112236"/>
            </a:solidFill>
            <a:prstDash val="solid"/>
          </a:ln>
        </p:spPr>
      </p:sp>
      <p:sp>
        <p:nvSpPr>
          <p:cNvPr id="3" name="Text 1"/>
          <p:cNvSpPr/>
          <p:nvPr/>
        </p:nvSpPr>
        <p:spPr>
          <a:xfrm>
            <a:off x="365760" y="73152"/>
            <a:ext cx="2743200" cy="274320"/>
          </a:xfrm>
          <a:prstGeom prst="rect">
            <a:avLst/>
          </a:prstGeom>
          <a:noFill/>
          <a:ln/>
        </p:spPr>
        <p:txBody>
          <a:bodyPr wrap="square" lIns="0" tIns="0" rIns="0" bIns="0" rtlCol="0" anchor="ctr"/>
          <a:lstStyle/>
          <a:p>
            <a:pPr indent="0" marL="0">
              <a:buNone/>
            </a:pPr>
            <a:r>
              <a:rPr lang="en-US" sz="1000" b="1" spc="300" kern="0" dirty="0">
                <a:solidFill>
                  <a:srgbClr val="D4A017"/>
                </a:solidFill>
                <a:latin typeface="Calibri" pitchFamily="34" charset="0"/>
                <a:ea typeface="Calibri" pitchFamily="34" charset="-122"/>
                <a:cs typeface="Calibri" pitchFamily="34" charset="-120"/>
              </a:rPr>
              <a:t>THE SOLUTION</a:t>
            </a:r>
            <a:endParaRPr lang="en-US" sz="1000" dirty="0"/>
          </a:p>
        </p:txBody>
      </p:sp>
      <p:sp>
        <p:nvSpPr>
          <p:cNvPr id="4" name="Text 2"/>
          <p:cNvSpPr/>
          <p:nvPr/>
        </p:nvSpPr>
        <p:spPr>
          <a:xfrm>
            <a:off x="365760" y="347472"/>
            <a:ext cx="8229600" cy="438912"/>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GARUDA: Edge-Native &amp; Offline-First Architecture</a:t>
            </a:r>
            <a:endParaRPr lang="en-US" sz="2400" dirty="0"/>
          </a:p>
        </p:txBody>
      </p:sp>
      <p:sp>
        <p:nvSpPr>
          <p:cNvPr id="5" name="Shape 3"/>
          <p:cNvSpPr/>
          <p:nvPr/>
        </p:nvSpPr>
        <p:spPr>
          <a:xfrm>
            <a:off x="1645920" y="2240280"/>
            <a:ext cx="411480" cy="0"/>
          </a:xfrm>
          <a:prstGeom prst="line">
            <a:avLst/>
          </a:prstGeom>
          <a:noFill/>
          <a:ln w="25400">
            <a:solidFill>
              <a:srgbClr val="2E86C1"/>
            </a:solidFill>
            <a:prstDash val="solid"/>
          </a:ln>
        </p:spPr>
      </p:sp>
      <p:sp>
        <p:nvSpPr>
          <p:cNvPr id="6" name="Shape 4"/>
          <p:cNvSpPr/>
          <p:nvPr/>
        </p:nvSpPr>
        <p:spPr>
          <a:xfrm>
            <a:off x="1993392" y="2194560"/>
            <a:ext cx="109728" cy="109728"/>
          </a:xfrm>
          <a:prstGeom prst="rect">
            <a:avLst/>
          </a:prstGeom>
          <a:solidFill>
            <a:srgbClr val="2E86C1"/>
          </a:solidFill>
          <a:ln w="12700">
            <a:solidFill>
              <a:srgbClr val="2E86C1"/>
            </a:solidFill>
            <a:prstDash val="solid"/>
          </a:ln>
        </p:spPr>
      </p:sp>
      <p:sp>
        <p:nvSpPr>
          <p:cNvPr id="7" name="Shape 5"/>
          <p:cNvSpPr/>
          <p:nvPr/>
        </p:nvSpPr>
        <p:spPr>
          <a:xfrm>
            <a:off x="3291840" y="2240280"/>
            <a:ext cx="411480" cy="0"/>
          </a:xfrm>
          <a:prstGeom prst="line">
            <a:avLst/>
          </a:prstGeom>
          <a:noFill/>
          <a:ln w="25400">
            <a:solidFill>
              <a:srgbClr val="2E86C1"/>
            </a:solidFill>
            <a:prstDash val="solid"/>
          </a:ln>
        </p:spPr>
      </p:sp>
      <p:sp>
        <p:nvSpPr>
          <p:cNvPr id="8" name="Shape 6"/>
          <p:cNvSpPr/>
          <p:nvPr/>
        </p:nvSpPr>
        <p:spPr>
          <a:xfrm>
            <a:off x="3639312" y="2194560"/>
            <a:ext cx="109728" cy="109728"/>
          </a:xfrm>
          <a:prstGeom prst="rect">
            <a:avLst/>
          </a:prstGeom>
          <a:solidFill>
            <a:srgbClr val="2E86C1"/>
          </a:solidFill>
          <a:ln w="12700">
            <a:solidFill>
              <a:srgbClr val="2E86C1"/>
            </a:solidFill>
            <a:prstDash val="solid"/>
          </a:ln>
        </p:spPr>
      </p:sp>
      <p:sp>
        <p:nvSpPr>
          <p:cNvPr id="9" name="Shape 7"/>
          <p:cNvSpPr/>
          <p:nvPr/>
        </p:nvSpPr>
        <p:spPr>
          <a:xfrm>
            <a:off x="4937760" y="2240280"/>
            <a:ext cx="411480" cy="0"/>
          </a:xfrm>
          <a:prstGeom prst="line">
            <a:avLst/>
          </a:prstGeom>
          <a:noFill/>
          <a:ln w="25400">
            <a:solidFill>
              <a:srgbClr val="2E86C1"/>
            </a:solidFill>
            <a:prstDash val="solid"/>
          </a:ln>
        </p:spPr>
      </p:sp>
      <p:sp>
        <p:nvSpPr>
          <p:cNvPr id="10" name="Shape 8"/>
          <p:cNvSpPr/>
          <p:nvPr/>
        </p:nvSpPr>
        <p:spPr>
          <a:xfrm>
            <a:off x="5285232" y="2194560"/>
            <a:ext cx="109728" cy="109728"/>
          </a:xfrm>
          <a:prstGeom prst="rect">
            <a:avLst/>
          </a:prstGeom>
          <a:solidFill>
            <a:srgbClr val="2E86C1"/>
          </a:solidFill>
          <a:ln w="12700">
            <a:solidFill>
              <a:srgbClr val="2E86C1"/>
            </a:solidFill>
            <a:prstDash val="solid"/>
          </a:ln>
        </p:spPr>
      </p:sp>
      <p:sp>
        <p:nvSpPr>
          <p:cNvPr id="11" name="Shape 9"/>
          <p:cNvSpPr/>
          <p:nvPr/>
        </p:nvSpPr>
        <p:spPr>
          <a:xfrm>
            <a:off x="6583680" y="2240280"/>
            <a:ext cx="411480" cy="0"/>
          </a:xfrm>
          <a:prstGeom prst="line">
            <a:avLst/>
          </a:prstGeom>
          <a:noFill/>
          <a:ln w="25400">
            <a:solidFill>
              <a:srgbClr val="2E86C1"/>
            </a:solidFill>
            <a:prstDash val="solid"/>
          </a:ln>
        </p:spPr>
      </p:sp>
      <p:sp>
        <p:nvSpPr>
          <p:cNvPr id="12" name="Shape 10"/>
          <p:cNvSpPr/>
          <p:nvPr/>
        </p:nvSpPr>
        <p:spPr>
          <a:xfrm>
            <a:off x="6931152" y="2194560"/>
            <a:ext cx="109728" cy="109728"/>
          </a:xfrm>
          <a:prstGeom prst="rect">
            <a:avLst/>
          </a:prstGeom>
          <a:solidFill>
            <a:srgbClr val="2E86C1"/>
          </a:solidFill>
          <a:ln w="12700">
            <a:solidFill>
              <a:srgbClr val="2E86C1"/>
            </a:solidFill>
            <a:prstDash val="solid"/>
          </a:ln>
        </p:spPr>
      </p:sp>
      <p:sp>
        <p:nvSpPr>
          <p:cNvPr id="13" name="Shape 11"/>
          <p:cNvSpPr/>
          <p:nvPr/>
        </p:nvSpPr>
        <p:spPr>
          <a:xfrm>
            <a:off x="228600" y="1097280"/>
            <a:ext cx="1463040" cy="2286000"/>
          </a:xfrm>
          <a:prstGeom prst="roundRect">
            <a:avLst>
              <a:gd name="adj" fmla="val 6250"/>
            </a:avLst>
          </a:prstGeom>
          <a:solidFill>
            <a:srgbClr val="1A3353"/>
          </a:solidFill>
          <a:ln w="12700">
            <a:solidFill>
              <a:srgbClr val="2E86C1"/>
            </a:solidFill>
            <a:prstDash val="solid"/>
          </a:ln>
          <a:effectLst>
            <a:outerShdw sx="100000" sy="100000" kx="0" ky="0" algn="bl" rotWithShape="0" blurRad="101600" dist="38100" dir="2700000">
              <a:srgbClr val="000000">
                <a:alpha val="18000"/>
              </a:srgbClr>
            </a:outerShdw>
          </a:effectLst>
        </p:spPr>
      </p:sp>
      <p:pic>
        <p:nvPicPr>
          <p:cNvPr id="14" name="Image 0" descr="preencoded.png">    </p:cNvPr>
          <p:cNvPicPr>
            <a:picLocks noChangeAspect="1"/>
          </p:cNvPicPr>
          <p:nvPr/>
        </p:nvPicPr>
        <p:blipFill>
          <a:blip r:embed="rId1"/>
          <a:stretch>
            <a:fillRect/>
          </a:stretch>
        </p:blipFill>
        <p:spPr>
          <a:xfrm>
            <a:off x="640080" y="1234440"/>
            <a:ext cx="640080" cy="640080"/>
          </a:xfrm>
          <a:prstGeom prst="rect">
            <a:avLst/>
          </a:prstGeom>
        </p:spPr>
      </p:pic>
      <p:sp>
        <p:nvSpPr>
          <p:cNvPr id="15" name="Text 12"/>
          <p:cNvSpPr/>
          <p:nvPr/>
        </p:nvSpPr>
        <p:spPr>
          <a:xfrm>
            <a:off x="274320" y="1920240"/>
            <a:ext cx="137160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Camera</a:t>
            </a:r>
            <a:endParaRPr lang="en-US" sz="1100" dirty="0"/>
          </a:p>
          <a:p>
            <a:pPr algn="ctr" indent="0" marL="0">
              <a:buNone/>
            </a:pPr>
            <a:r>
              <a:rPr lang="en-US" sz="1100" b="1" dirty="0">
                <a:solidFill>
                  <a:srgbClr val="FFFFFF"/>
                </a:solidFill>
                <a:latin typeface="Cambria" pitchFamily="34" charset="0"/>
                <a:ea typeface="Cambria" pitchFamily="34" charset="-122"/>
                <a:cs typeface="Cambria" pitchFamily="34" charset="-120"/>
              </a:rPr>
              <a:t>Feed</a:t>
            </a:r>
            <a:endParaRPr lang="en-US" sz="1100" dirty="0"/>
          </a:p>
        </p:txBody>
      </p:sp>
      <p:sp>
        <p:nvSpPr>
          <p:cNvPr id="16" name="Text 13"/>
          <p:cNvSpPr/>
          <p:nvPr/>
        </p:nvSpPr>
        <p:spPr>
          <a:xfrm>
            <a:off x="274320" y="2542032"/>
            <a:ext cx="1371600" cy="320040"/>
          </a:xfrm>
          <a:prstGeom prst="rect">
            <a:avLst/>
          </a:prstGeom>
          <a:noFill/>
          <a:ln/>
        </p:spPr>
        <p:txBody>
          <a:bodyPr wrap="square" lIns="0" tIns="0" rIns="0" bIns="0" rtlCol="0" anchor="ctr"/>
          <a:lstStyle/>
          <a:p>
            <a:pPr algn="ctr" indent="0" marL="0">
              <a:buNone/>
            </a:pPr>
            <a:r>
              <a:rPr lang="en-US" sz="900" dirty="0">
                <a:solidFill>
                  <a:srgbClr val="5DADE2"/>
                </a:solidFill>
                <a:latin typeface="Calibri" pitchFamily="34" charset="0"/>
                <a:ea typeface="Calibri" pitchFamily="34" charset="-122"/>
                <a:cs typeface="Calibri" pitchFamily="34" charset="-120"/>
              </a:rPr>
              <a:t>RTSP / USB</a:t>
            </a:r>
            <a:endParaRPr lang="en-US" sz="900" dirty="0"/>
          </a:p>
        </p:txBody>
      </p:sp>
      <p:sp>
        <p:nvSpPr>
          <p:cNvPr id="17" name="Shape 14"/>
          <p:cNvSpPr/>
          <p:nvPr/>
        </p:nvSpPr>
        <p:spPr>
          <a:xfrm>
            <a:off x="1874520" y="1097280"/>
            <a:ext cx="1463040" cy="2286000"/>
          </a:xfrm>
          <a:prstGeom prst="roundRect">
            <a:avLst>
              <a:gd name="adj" fmla="val 6250"/>
            </a:avLst>
          </a:prstGeom>
          <a:solidFill>
            <a:srgbClr val="1A3353"/>
          </a:solidFill>
          <a:ln w="12700">
            <a:solidFill>
              <a:srgbClr val="2E86C1"/>
            </a:solidFill>
            <a:prstDash val="solid"/>
          </a:ln>
          <a:effectLst>
            <a:outerShdw sx="100000" sy="100000" kx="0" ky="0" algn="bl" rotWithShape="0" blurRad="101600" dist="38100" dir="2700000">
              <a:srgbClr val="000000">
                <a:alpha val="18000"/>
              </a:srgbClr>
            </a:outerShdw>
          </a:effectLst>
        </p:spPr>
      </p:sp>
      <p:pic>
        <p:nvPicPr>
          <p:cNvPr id="18" name="Image 1" descr="preencoded.png">    </p:cNvPr>
          <p:cNvPicPr>
            <a:picLocks noChangeAspect="1"/>
          </p:cNvPicPr>
          <p:nvPr/>
        </p:nvPicPr>
        <p:blipFill>
          <a:blip r:embed="rId2"/>
          <a:stretch>
            <a:fillRect/>
          </a:stretch>
        </p:blipFill>
        <p:spPr>
          <a:xfrm>
            <a:off x="2286000" y="1234440"/>
            <a:ext cx="640080" cy="640080"/>
          </a:xfrm>
          <a:prstGeom prst="rect">
            <a:avLst/>
          </a:prstGeom>
        </p:spPr>
      </p:pic>
      <p:sp>
        <p:nvSpPr>
          <p:cNvPr id="19" name="Text 15"/>
          <p:cNvSpPr/>
          <p:nvPr/>
        </p:nvSpPr>
        <p:spPr>
          <a:xfrm>
            <a:off x="1920240" y="1920240"/>
            <a:ext cx="137160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Edge Node</a:t>
            </a:r>
            <a:endParaRPr lang="en-US" sz="1100" dirty="0"/>
          </a:p>
          <a:p>
            <a:pPr algn="ctr" indent="0" marL="0">
              <a:buNone/>
            </a:pPr>
            <a:r>
              <a:rPr lang="en-US" sz="1100" b="1" dirty="0">
                <a:solidFill>
                  <a:srgbClr val="FFFFFF"/>
                </a:solidFill>
                <a:latin typeface="Cambria" pitchFamily="34" charset="0"/>
                <a:ea typeface="Cambria" pitchFamily="34" charset="-122"/>
                <a:cs typeface="Cambria" pitchFamily="34" charset="-120"/>
              </a:rPr>
              <a:t>YOLOv8</a:t>
            </a:r>
            <a:endParaRPr lang="en-US" sz="1100" dirty="0"/>
          </a:p>
        </p:txBody>
      </p:sp>
      <p:sp>
        <p:nvSpPr>
          <p:cNvPr id="20" name="Text 16"/>
          <p:cNvSpPr/>
          <p:nvPr/>
        </p:nvSpPr>
        <p:spPr>
          <a:xfrm>
            <a:off x="1920240" y="2542032"/>
            <a:ext cx="1371600" cy="320040"/>
          </a:xfrm>
          <a:prstGeom prst="rect">
            <a:avLst/>
          </a:prstGeom>
          <a:noFill/>
          <a:ln/>
        </p:spPr>
        <p:txBody>
          <a:bodyPr wrap="square" lIns="0" tIns="0" rIns="0" bIns="0" rtlCol="0" anchor="ctr"/>
          <a:lstStyle/>
          <a:p>
            <a:pPr algn="ctr" indent="0" marL="0">
              <a:buNone/>
            </a:pPr>
            <a:r>
              <a:rPr lang="en-US" sz="900" dirty="0">
                <a:solidFill>
                  <a:srgbClr val="5DADE2"/>
                </a:solidFill>
                <a:latin typeface="Calibri" pitchFamily="34" charset="0"/>
                <a:ea typeface="Calibri" pitchFamily="34" charset="-122"/>
                <a:cs typeface="Calibri" pitchFamily="34" charset="-120"/>
              </a:rPr>
              <a:t>RPi5 + Coral</a:t>
            </a:r>
            <a:endParaRPr lang="en-US" sz="900" dirty="0"/>
          </a:p>
        </p:txBody>
      </p:sp>
      <p:sp>
        <p:nvSpPr>
          <p:cNvPr id="21" name="Shape 17"/>
          <p:cNvSpPr/>
          <p:nvPr/>
        </p:nvSpPr>
        <p:spPr>
          <a:xfrm>
            <a:off x="3520440" y="1097280"/>
            <a:ext cx="1463040" cy="2286000"/>
          </a:xfrm>
          <a:prstGeom prst="roundRect">
            <a:avLst>
              <a:gd name="adj" fmla="val 6250"/>
            </a:avLst>
          </a:prstGeom>
          <a:solidFill>
            <a:srgbClr val="1A3353"/>
          </a:solidFill>
          <a:ln w="12700">
            <a:solidFill>
              <a:srgbClr val="2E86C1"/>
            </a:solidFill>
            <a:prstDash val="solid"/>
          </a:ln>
          <a:effectLst>
            <a:outerShdw sx="100000" sy="100000" kx="0" ky="0" algn="bl" rotWithShape="0" blurRad="101600" dist="38100" dir="2700000">
              <a:srgbClr val="000000">
                <a:alpha val="18000"/>
              </a:srgbClr>
            </a:outerShdw>
          </a:effectLst>
        </p:spPr>
      </p:sp>
      <p:pic>
        <p:nvPicPr>
          <p:cNvPr id="22" name="Image 2" descr="preencoded.png">    </p:cNvPr>
          <p:cNvPicPr>
            <a:picLocks noChangeAspect="1"/>
          </p:cNvPicPr>
          <p:nvPr/>
        </p:nvPicPr>
        <p:blipFill>
          <a:blip r:embed="rId3"/>
          <a:stretch>
            <a:fillRect/>
          </a:stretch>
        </p:blipFill>
        <p:spPr>
          <a:xfrm>
            <a:off x="3931920" y="1234440"/>
            <a:ext cx="640080" cy="640080"/>
          </a:xfrm>
          <a:prstGeom prst="rect">
            <a:avLst/>
          </a:prstGeom>
        </p:spPr>
      </p:pic>
      <p:sp>
        <p:nvSpPr>
          <p:cNvPr id="23" name="Text 18"/>
          <p:cNvSpPr/>
          <p:nvPr/>
        </p:nvSpPr>
        <p:spPr>
          <a:xfrm>
            <a:off x="3566160" y="1920240"/>
            <a:ext cx="137160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JSON</a:t>
            </a:r>
            <a:endParaRPr lang="en-US" sz="1100" dirty="0"/>
          </a:p>
          <a:p>
            <a:pPr algn="ctr" indent="0" marL="0">
              <a:buNone/>
            </a:pPr>
            <a:r>
              <a:rPr lang="en-US" sz="1100" b="1" dirty="0">
                <a:solidFill>
                  <a:srgbClr val="FFFFFF"/>
                </a:solidFill>
                <a:latin typeface="Cambria" pitchFamily="34" charset="0"/>
                <a:ea typeface="Cambria" pitchFamily="34" charset="-122"/>
                <a:cs typeface="Cambria" pitchFamily="34" charset="-120"/>
              </a:rPr>
              <a:t>Ticket</a:t>
            </a:r>
            <a:endParaRPr lang="en-US" sz="1100" dirty="0"/>
          </a:p>
        </p:txBody>
      </p:sp>
      <p:sp>
        <p:nvSpPr>
          <p:cNvPr id="24" name="Text 19"/>
          <p:cNvSpPr/>
          <p:nvPr/>
        </p:nvSpPr>
        <p:spPr>
          <a:xfrm>
            <a:off x="3566160" y="2542032"/>
            <a:ext cx="1371600" cy="320040"/>
          </a:xfrm>
          <a:prstGeom prst="rect">
            <a:avLst/>
          </a:prstGeom>
          <a:noFill/>
          <a:ln/>
        </p:spPr>
        <p:txBody>
          <a:bodyPr wrap="square" lIns="0" tIns="0" rIns="0" bIns="0" rtlCol="0" anchor="ctr"/>
          <a:lstStyle/>
          <a:p>
            <a:pPr algn="ctr" indent="0" marL="0">
              <a:buNone/>
            </a:pPr>
            <a:r>
              <a:rPr lang="en-US" sz="900" dirty="0">
                <a:solidFill>
                  <a:srgbClr val="5DADE2"/>
                </a:solidFill>
                <a:latin typeface="Calibri" pitchFamily="34" charset="0"/>
                <a:ea typeface="Calibri" pitchFamily="34" charset="-122"/>
                <a:cs typeface="Calibri" pitchFamily="34" charset="-120"/>
              </a:rPr>
              <a:t>&lt; 2KB payload</a:t>
            </a:r>
            <a:endParaRPr lang="en-US" sz="900" dirty="0"/>
          </a:p>
        </p:txBody>
      </p:sp>
      <p:sp>
        <p:nvSpPr>
          <p:cNvPr id="25" name="Shape 20"/>
          <p:cNvSpPr/>
          <p:nvPr/>
        </p:nvSpPr>
        <p:spPr>
          <a:xfrm>
            <a:off x="5166360" y="1097280"/>
            <a:ext cx="1463040" cy="2286000"/>
          </a:xfrm>
          <a:prstGeom prst="roundRect">
            <a:avLst>
              <a:gd name="adj" fmla="val 6250"/>
            </a:avLst>
          </a:prstGeom>
          <a:solidFill>
            <a:srgbClr val="1A3353"/>
          </a:solidFill>
          <a:ln w="12700">
            <a:solidFill>
              <a:srgbClr val="2E86C1"/>
            </a:solidFill>
            <a:prstDash val="solid"/>
          </a:ln>
          <a:effectLst>
            <a:outerShdw sx="100000" sy="100000" kx="0" ky="0" algn="bl" rotWithShape="0" blurRad="101600" dist="38100" dir="2700000">
              <a:srgbClr val="000000">
                <a:alpha val="18000"/>
              </a:srgbClr>
            </a:outerShdw>
          </a:effectLst>
        </p:spPr>
      </p:sp>
      <p:pic>
        <p:nvPicPr>
          <p:cNvPr id="26" name="Image 3" descr="preencoded.png">    </p:cNvPr>
          <p:cNvPicPr>
            <a:picLocks noChangeAspect="1"/>
          </p:cNvPicPr>
          <p:nvPr/>
        </p:nvPicPr>
        <p:blipFill>
          <a:blip r:embed="rId4"/>
          <a:stretch>
            <a:fillRect/>
          </a:stretch>
        </p:blipFill>
        <p:spPr>
          <a:xfrm>
            <a:off x="5577840" y="1234440"/>
            <a:ext cx="640080" cy="640080"/>
          </a:xfrm>
          <a:prstGeom prst="rect">
            <a:avLst/>
          </a:prstGeom>
        </p:spPr>
      </p:pic>
      <p:sp>
        <p:nvSpPr>
          <p:cNvPr id="27" name="Text 21"/>
          <p:cNvSpPr/>
          <p:nvPr/>
        </p:nvSpPr>
        <p:spPr>
          <a:xfrm>
            <a:off x="5212080" y="1920240"/>
            <a:ext cx="137160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FastAPI</a:t>
            </a:r>
            <a:endParaRPr lang="en-US" sz="1100" dirty="0"/>
          </a:p>
          <a:p>
            <a:pPr algn="ctr" indent="0" marL="0">
              <a:buNone/>
            </a:pPr>
            <a:r>
              <a:rPr lang="en-US" sz="1100" b="1" dirty="0">
                <a:solidFill>
                  <a:srgbClr val="FFFFFF"/>
                </a:solidFill>
                <a:latin typeface="Cambria" pitchFamily="34" charset="0"/>
                <a:ea typeface="Cambria" pitchFamily="34" charset="-122"/>
                <a:cs typeface="Cambria" pitchFamily="34" charset="-120"/>
              </a:rPr>
              <a:t>Backend</a:t>
            </a:r>
            <a:endParaRPr lang="en-US" sz="1100" dirty="0"/>
          </a:p>
        </p:txBody>
      </p:sp>
      <p:sp>
        <p:nvSpPr>
          <p:cNvPr id="28" name="Text 22"/>
          <p:cNvSpPr/>
          <p:nvPr/>
        </p:nvSpPr>
        <p:spPr>
          <a:xfrm>
            <a:off x="5212080" y="2542032"/>
            <a:ext cx="1371600" cy="320040"/>
          </a:xfrm>
          <a:prstGeom prst="rect">
            <a:avLst/>
          </a:prstGeom>
          <a:noFill/>
          <a:ln/>
        </p:spPr>
        <p:txBody>
          <a:bodyPr wrap="square" lIns="0" tIns="0" rIns="0" bIns="0" rtlCol="0" anchor="ctr"/>
          <a:lstStyle/>
          <a:p>
            <a:pPr algn="ctr" indent="0" marL="0">
              <a:buNone/>
            </a:pPr>
            <a:r>
              <a:rPr lang="en-US" sz="900" dirty="0">
                <a:solidFill>
                  <a:srgbClr val="5DADE2"/>
                </a:solidFill>
                <a:latin typeface="Calibri" pitchFamily="34" charset="0"/>
                <a:ea typeface="Calibri" pitchFamily="34" charset="-122"/>
                <a:cs typeface="Calibri" pitchFamily="34" charset="-120"/>
              </a:rPr>
              <a:t>Async + WS</a:t>
            </a:r>
            <a:endParaRPr lang="en-US" sz="900" dirty="0"/>
          </a:p>
        </p:txBody>
      </p:sp>
      <p:sp>
        <p:nvSpPr>
          <p:cNvPr id="29" name="Shape 23"/>
          <p:cNvSpPr/>
          <p:nvPr/>
        </p:nvSpPr>
        <p:spPr>
          <a:xfrm>
            <a:off x="6812280" y="1097280"/>
            <a:ext cx="1463040" cy="2286000"/>
          </a:xfrm>
          <a:prstGeom prst="roundRect">
            <a:avLst>
              <a:gd name="adj" fmla="val 6250"/>
            </a:avLst>
          </a:prstGeom>
          <a:solidFill>
            <a:srgbClr val="1A3353"/>
          </a:solidFill>
          <a:ln w="12700">
            <a:solidFill>
              <a:srgbClr val="2E86C1"/>
            </a:solidFill>
            <a:prstDash val="solid"/>
          </a:ln>
          <a:effectLst>
            <a:outerShdw sx="100000" sy="100000" kx="0" ky="0" algn="bl" rotWithShape="0" blurRad="101600" dist="38100" dir="2700000">
              <a:srgbClr val="000000">
                <a:alpha val="18000"/>
              </a:srgbClr>
            </a:outerShdw>
          </a:effectLst>
        </p:spPr>
      </p:sp>
      <p:pic>
        <p:nvPicPr>
          <p:cNvPr id="30" name="Image 4" descr="preencoded.png">    </p:cNvPr>
          <p:cNvPicPr>
            <a:picLocks noChangeAspect="1"/>
          </p:cNvPicPr>
          <p:nvPr/>
        </p:nvPicPr>
        <p:blipFill>
          <a:blip r:embed="rId5"/>
          <a:stretch>
            <a:fillRect/>
          </a:stretch>
        </p:blipFill>
        <p:spPr>
          <a:xfrm>
            <a:off x="7223760" y="1234440"/>
            <a:ext cx="640080" cy="640080"/>
          </a:xfrm>
          <a:prstGeom prst="rect">
            <a:avLst/>
          </a:prstGeom>
        </p:spPr>
      </p:pic>
      <p:sp>
        <p:nvSpPr>
          <p:cNvPr id="31" name="Text 24"/>
          <p:cNvSpPr/>
          <p:nvPr/>
        </p:nvSpPr>
        <p:spPr>
          <a:xfrm>
            <a:off x="6858000" y="1920240"/>
            <a:ext cx="137160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Officer</a:t>
            </a:r>
            <a:endParaRPr lang="en-US" sz="1100" dirty="0"/>
          </a:p>
          <a:p>
            <a:pPr algn="ctr" indent="0" marL="0">
              <a:buNone/>
            </a:pPr>
            <a:r>
              <a:rPr lang="en-US" sz="1100" b="1" dirty="0">
                <a:solidFill>
                  <a:srgbClr val="FFFFFF"/>
                </a:solidFill>
                <a:latin typeface="Cambria" pitchFamily="34" charset="0"/>
                <a:ea typeface="Cambria" pitchFamily="34" charset="-122"/>
                <a:cs typeface="Cambria" pitchFamily="34" charset="-120"/>
              </a:rPr>
              <a:t>Dashboard</a:t>
            </a:r>
            <a:endParaRPr lang="en-US" sz="1100" dirty="0"/>
          </a:p>
        </p:txBody>
      </p:sp>
      <p:sp>
        <p:nvSpPr>
          <p:cNvPr id="32" name="Text 25"/>
          <p:cNvSpPr/>
          <p:nvPr/>
        </p:nvSpPr>
        <p:spPr>
          <a:xfrm>
            <a:off x="6858000" y="2542032"/>
            <a:ext cx="1371600" cy="320040"/>
          </a:xfrm>
          <a:prstGeom prst="rect">
            <a:avLst/>
          </a:prstGeom>
          <a:noFill/>
          <a:ln/>
        </p:spPr>
        <p:txBody>
          <a:bodyPr wrap="square" lIns="0" tIns="0" rIns="0" bIns="0" rtlCol="0" anchor="ctr"/>
          <a:lstStyle/>
          <a:p>
            <a:pPr algn="ctr" indent="0" marL="0">
              <a:buNone/>
            </a:pPr>
            <a:r>
              <a:rPr lang="en-US" sz="900" dirty="0">
                <a:solidFill>
                  <a:srgbClr val="5DADE2"/>
                </a:solidFill>
                <a:latin typeface="Calibri" pitchFamily="34" charset="0"/>
                <a:ea typeface="Calibri" pitchFamily="34" charset="-122"/>
                <a:cs typeface="Calibri" pitchFamily="34" charset="-120"/>
              </a:rPr>
              <a:t>Next.js 16</a:t>
            </a:r>
            <a:endParaRPr lang="en-US" sz="900" dirty="0"/>
          </a:p>
        </p:txBody>
      </p:sp>
      <p:sp>
        <p:nvSpPr>
          <p:cNvPr id="33" name="Shape 26"/>
          <p:cNvSpPr/>
          <p:nvPr/>
        </p:nvSpPr>
        <p:spPr>
          <a:xfrm>
            <a:off x="3291840" y="3520440"/>
            <a:ext cx="2560320" cy="457200"/>
          </a:xfrm>
          <a:prstGeom prst="roundRect">
            <a:avLst>
              <a:gd name="adj" fmla="val 16000"/>
            </a:avLst>
          </a:prstGeom>
          <a:solidFill>
            <a:srgbClr val="1E8449">
              <a:alpha val="20000"/>
            </a:srgbClr>
          </a:solidFill>
          <a:ln w="12700">
            <a:solidFill>
              <a:srgbClr val="27AE60"/>
            </a:solidFill>
            <a:prstDash val="solid"/>
          </a:ln>
        </p:spPr>
      </p:sp>
      <p:sp>
        <p:nvSpPr>
          <p:cNvPr id="34" name="Text 27"/>
          <p:cNvSpPr/>
          <p:nvPr/>
        </p:nvSpPr>
        <p:spPr>
          <a:xfrm>
            <a:off x="3337560" y="3566160"/>
            <a:ext cx="2468880" cy="347472"/>
          </a:xfrm>
          <a:prstGeom prst="rect">
            <a:avLst/>
          </a:prstGeom>
          <a:noFill/>
          <a:ln/>
        </p:spPr>
        <p:txBody>
          <a:bodyPr wrap="square" lIns="0" tIns="0" rIns="0" bIns="0" rtlCol="0" anchor="ctr"/>
          <a:lstStyle/>
          <a:p>
            <a:pPr algn="ctr" indent="0" marL="0">
              <a:buNone/>
            </a:pPr>
            <a:r>
              <a:rPr lang="en-US" sz="1100" b="1" dirty="0">
                <a:solidFill>
                  <a:srgbClr val="27AE60"/>
                </a:solidFill>
                <a:latin typeface="Calibri" pitchFamily="34" charset="0"/>
                <a:ea typeface="Calibri" pitchFamily="34" charset="-122"/>
                <a:cs typeface="Calibri" pitchFamily="34" charset="-120"/>
              </a:rPr>
              <a:t>✓  No raw video leaves the intersection</a:t>
            </a:r>
            <a:endParaRPr lang="en-US" sz="1100" dirty="0"/>
          </a:p>
        </p:txBody>
      </p:sp>
      <p:sp>
        <p:nvSpPr>
          <p:cNvPr id="35" name="Shape 28"/>
          <p:cNvSpPr/>
          <p:nvPr/>
        </p:nvSpPr>
        <p:spPr>
          <a:xfrm>
            <a:off x="228600" y="4114800"/>
            <a:ext cx="1920240" cy="804672"/>
          </a:xfrm>
          <a:prstGeom prst="roundRect">
            <a:avLst>
              <a:gd name="adj" fmla="val 9091"/>
            </a:avLst>
          </a:prstGeom>
          <a:solidFill>
            <a:srgbClr val="162840"/>
          </a:solidFill>
          <a:ln w="10160">
            <a:solidFill>
              <a:srgbClr val="1B5E8C"/>
            </a:solidFill>
            <a:prstDash val="solid"/>
          </a:ln>
        </p:spPr>
      </p:sp>
      <p:sp>
        <p:nvSpPr>
          <p:cNvPr id="36" name="Text 29"/>
          <p:cNvSpPr/>
          <p:nvPr/>
        </p:nvSpPr>
        <p:spPr>
          <a:xfrm>
            <a:off x="338328" y="4160520"/>
            <a:ext cx="1719072" cy="274320"/>
          </a:xfrm>
          <a:prstGeom prst="rect">
            <a:avLst/>
          </a:prstGeom>
          <a:noFill/>
          <a:ln/>
        </p:spPr>
        <p:txBody>
          <a:bodyPr wrap="square" lIns="0" tIns="0" rIns="0" bIns="0" rtlCol="0" anchor="ctr"/>
          <a:lstStyle/>
          <a:p>
            <a:pPr indent="0" marL="0">
              <a:buNone/>
            </a:pPr>
            <a:r>
              <a:rPr lang="en-US" sz="1100" b="1" dirty="0">
                <a:solidFill>
                  <a:srgbClr val="D4A017"/>
                </a:solidFill>
                <a:latin typeface="Cambria" pitchFamily="34" charset="0"/>
                <a:ea typeface="Cambria" pitchFamily="34" charset="-122"/>
                <a:cs typeface="Cambria" pitchFamily="34" charset="-120"/>
              </a:rPr>
              <a:t>Edge-Native</a:t>
            </a:r>
            <a:endParaRPr lang="en-US" sz="1100" dirty="0"/>
          </a:p>
        </p:txBody>
      </p:sp>
      <p:sp>
        <p:nvSpPr>
          <p:cNvPr id="37" name="Text 30"/>
          <p:cNvSpPr/>
          <p:nvPr/>
        </p:nvSpPr>
        <p:spPr>
          <a:xfrm>
            <a:off x="338328" y="4434840"/>
            <a:ext cx="1719072" cy="402336"/>
          </a:xfrm>
          <a:prstGeom prst="rect">
            <a:avLst/>
          </a:prstGeom>
          <a:noFill/>
          <a:ln/>
        </p:spPr>
        <p:txBody>
          <a:bodyPr wrap="square" lIns="0" tIns="0" rIns="0" bIns="0" rtlCol="0" anchor="ctr"/>
          <a:lstStyle/>
          <a:p>
            <a:pPr indent="0" marL="0">
              <a:buNone/>
            </a:pPr>
            <a:r>
              <a:rPr lang="en-US" sz="1000" dirty="0">
                <a:solidFill>
                  <a:srgbClr val="B8C9D6"/>
                </a:solidFill>
                <a:latin typeface="Calibri" pitchFamily="34" charset="0"/>
                <a:ea typeface="Calibri" pitchFamily="34" charset="-122"/>
                <a:cs typeface="Calibri" pitchFamily="34" charset="-120"/>
              </a:rPr>
              <a:t>ML models run locally on camera nodes</a:t>
            </a:r>
            <a:endParaRPr lang="en-US" sz="1000" dirty="0"/>
          </a:p>
        </p:txBody>
      </p:sp>
      <p:sp>
        <p:nvSpPr>
          <p:cNvPr id="38" name="Shape 31"/>
          <p:cNvSpPr/>
          <p:nvPr/>
        </p:nvSpPr>
        <p:spPr>
          <a:xfrm>
            <a:off x="2331720" y="4114800"/>
            <a:ext cx="1920240" cy="804672"/>
          </a:xfrm>
          <a:prstGeom prst="roundRect">
            <a:avLst>
              <a:gd name="adj" fmla="val 9091"/>
            </a:avLst>
          </a:prstGeom>
          <a:solidFill>
            <a:srgbClr val="162840"/>
          </a:solidFill>
          <a:ln w="10160">
            <a:solidFill>
              <a:srgbClr val="1B5E8C"/>
            </a:solidFill>
            <a:prstDash val="solid"/>
          </a:ln>
        </p:spPr>
      </p:sp>
      <p:sp>
        <p:nvSpPr>
          <p:cNvPr id="39" name="Text 32"/>
          <p:cNvSpPr/>
          <p:nvPr/>
        </p:nvSpPr>
        <p:spPr>
          <a:xfrm>
            <a:off x="2441448" y="4160520"/>
            <a:ext cx="1719072" cy="274320"/>
          </a:xfrm>
          <a:prstGeom prst="rect">
            <a:avLst/>
          </a:prstGeom>
          <a:noFill/>
          <a:ln/>
        </p:spPr>
        <p:txBody>
          <a:bodyPr wrap="square" lIns="0" tIns="0" rIns="0" bIns="0" rtlCol="0" anchor="ctr"/>
          <a:lstStyle/>
          <a:p>
            <a:pPr indent="0" marL="0">
              <a:buNone/>
            </a:pPr>
            <a:r>
              <a:rPr lang="en-US" sz="1100" b="1" dirty="0">
                <a:solidFill>
                  <a:srgbClr val="D4A017"/>
                </a:solidFill>
                <a:latin typeface="Cambria" pitchFamily="34" charset="0"/>
                <a:ea typeface="Cambria" pitchFamily="34" charset="-122"/>
                <a:cs typeface="Cambria" pitchFamily="34" charset="-120"/>
              </a:rPr>
              <a:t>Plate Heuristic</a:t>
            </a:r>
            <a:endParaRPr lang="en-US" sz="1100" dirty="0"/>
          </a:p>
        </p:txBody>
      </p:sp>
      <p:sp>
        <p:nvSpPr>
          <p:cNvPr id="40" name="Text 33"/>
          <p:cNvSpPr/>
          <p:nvPr/>
        </p:nvSpPr>
        <p:spPr>
          <a:xfrm>
            <a:off x="2441448" y="4434840"/>
            <a:ext cx="1719072" cy="402336"/>
          </a:xfrm>
          <a:prstGeom prst="rect">
            <a:avLst/>
          </a:prstGeom>
          <a:noFill/>
          <a:ln/>
        </p:spPr>
        <p:txBody>
          <a:bodyPr wrap="square" lIns="0" tIns="0" rIns="0" bIns="0" rtlCol="0" anchor="ctr"/>
          <a:lstStyle/>
          <a:p>
            <a:pPr indent="0" marL="0">
              <a:buNone/>
            </a:pPr>
            <a:r>
              <a:rPr lang="en-US" sz="1000" dirty="0">
                <a:solidFill>
                  <a:srgbClr val="B8C9D6"/>
                </a:solidFill>
                <a:latin typeface="Calibri" pitchFamily="34" charset="0"/>
                <a:ea typeface="Calibri" pitchFamily="34" charset="-122"/>
                <a:cs typeface="Calibri" pitchFamily="34" charset="-120"/>
              </a:rPr>
              <a:t>Partial chars + vehicle class + color</a:t>
            </a:r>
            <a:endParaRPr lang="en-US" sz="1000" dirty="0"/>
          </a:p>
        </p:txBody>
      </p:sp>
      <p:sp>
        <p:nvSpPr>
          <p:cNvPr id="41" name="Shape 34"/>
          <p:cNvSpPr/>
          <p:nvPr/>
        </p:nvSpPr>
        <p:spPr>
          <a:xfrm>
            <a:off x="4663440" y="4114800"/>
            <a:ext cx="1920240" cy="804672"/>
          </a:xfrm>
          <a:prstGeom prst="roundRect">
            <a:avLst>
              <a:gd name="adj" fmla="val 9091"/>
            </a:avLst>
          </a:prstGeom>
          <a:solidFill>
            <a:srgbClr val="162840"/>
          </a:solidFill>
          <a:ln w="10160">
            <a:solidFill>
              <a:srgbClr val="1B5E8C"/>
            </a:solidFill>
            <a:prstDash val="solid"/>
          </a:ln>
        </p:spPr>
      </p:sp>
      <p:sp>
        <p:nvSpPr>
          <p:cNvPr id="42" name="Text 35"/>
          <p:cNvSpPr/>
          <p:nvPr/>
        </p:nvSpPr>
        <p:spPr>
          <a:xfrm>
            <a:off x="4773168" y="4160520"/>
            <a:ext cx="1719072" cy="274320"/>
          </a:xfrm>
          <a:prstGeom prst="rect">
            <a:avLst/>
          </a:prstGeom>
          <a:noFill/>
          <a:ln/>
        </p:spPr>
        <p:txBody>
          <a:bodyPr wrap="square" lIns="0" tIns="0" rIns="0" bIns="0" rtlCol="0" anchor="ctr"/>
          <a:lstStyle/>
          <a:p>
            <a:pPr indent="0" marL="0">
              <a:buNone/>
            </a:pPr>
            <a:r>
              <a:rPr lang="en-US" sz="1100" b="1" dirty="0">
                <a:solidFill>
                  <a:srgbClr val="D4A017"/>
                </a:solidFill>
                <a:latin typeface="Cambria" pitchFamily="34" charset="0"/>
                <a:ea typeface="Cambria" pitchFamily="34" charset="-122"/>
                <a:cs typeface="Cambria" pitchFamily="34" charset="-120"/>
              </a:rPr>
              <a:t>Auto SMS Challan</a:t>
            </a:r>
            <a:endParaRPr lang="en-US" sz="1100" dirty="0"/>
          </a:p>
        </p:txBody>
      </p:sp>
      <p:sp>
        <p:nvSpPr>
          <p:cNvPr id="43" name="Text 36"/>
          <p:cNvSpPr/>
          <p:nvPr/>
        </p:nvSpPr>
        <p:spPr>
          <a:xfrm>
            <a:off x="4773168" y="4434840"/>
            <a:ext cx="1719072" cy="402336"/>
          </a:xfrm>
          <a:prstGeom prst="rect">
            <a:avLst/>
          </a:prstGeom>
          <a:noFill/>
          <a:ln/>
        </p:spPr>
        <p:txBody>
          <a:bodyPr wrap="square" lIns="0" tIns="0" rIns="0" bIns="0" rtlCol="0" anchor="ctr"/>
          <a:lstStyle/>
          <a:p>
            <a:pPr indent="0" marL="0">
              <a:buNone/>
            </a:pPr>
            <a:r>
              <a:rPr lang="en-US" sz="1000" dirty="0">
                <a:solidFill>
                  <a:srgbClr val="B8C9D6"/>
                </a:solidFill>
                <a:latin typeface="Calibri" pitchFamily="34" charset="0"/>
                <a:ea typeface="Calibri" pitchFamily="34" charset="-122"/>
                <a:cs typeface="Calibri" pitchFamily="34" charset="-120"/>
              </a:rPr>
              <a:t>Vahan DB lookup → instant fine delivery</a:t>
            </a:r>
            <a:endParaRPr lang="en-US" sz="1000" dirty="0"/>
          </a:p>
        </p:txBody>
      </p:sp>
      <p:sp>
        <p:nvSpPr>
          <p:cNvPr id="44" name="Shape 37"/>
          <p:cNvSpPr/>
          <p:nvPr/>
        </p:nvSpPr>
        <p:spPr>
          <a:xfrm>
            <a:off x="6766560" y="4114800"/>
            <a:ext cx="1920240" cy="804672"/>
          </a:xfrm>
          <a:prstGeom prst="roundRect">
            <a:avLst>
              <a:gd name="adj" fmla="val 9091"/>
            </a:avLst>
          </a:prstGeom>
          <a:solidFill>
            <a:srgbClr val="162840"/>
          </a:solidFill>
          <a:ln w="10160">
            <a:solidFill>
              <a:srgbClr val="1B5E8C"/>
            </a:solidFill>
            <a:prstDash val="solid"/>
          </a:ln>
        </p:spPr>
      </p:sp>
      <p:sp>
        <p:nvSpPr>
          <p:cNvPr id="45" name="Text 38"/>
          <p:cNvSpPr/>
          <p:nvPr/>
        </p:nvSpPr>
        <p:spPr>
          <a:xfrm>
            <a:off x="6876288" y="4160520"/>
            <a:ext cx="1719072" cy="274320"/>
          </a:xfrm>
          <a:prstGeom prst="rect">
            <a:avLst/>
          </a:prstGeom>
          <a:noFill/>
          <a:ln/>
        </p:spPr>
        <p:txBody>
          <a:bodyPr wrap="square" lIns="0" tIns="0" rIns="0" bIns="0" rtlCol="0" anchor="ctr"/>
          <a:lstStyle/>
          <a:p>
            <a:pPr indent="0" marL="0">
              <a:buNone/>
            </a:pPr>
            <a:r>
              <a:rPr lang="en-US" sz="1100" b="1" dirty="0">
                <a:solidFill>
                  <a:srgbClr val="D4A017"/>
                </a:solidFill>
                <a:latin typeface="Cambria" pitchFamily="34" charset="0"/>
                <a:ea typeface="Cambria" pitchFamily="34" charset="-122"/>
                <a:cs typeface="Cambria" pitchFamily="34" charset="-120"/>
              </a:rPr>
              <a:t>Human-in-Loop</a:t>
            </a:r>
            <a:endParaRPr lang="en-US" sz="1100" dirty="0"/>
          </a:p>
        </p:txBody>
      </p:sp>
      <p:sp>
        <p:nvSpPr>
          <p:cNvPr id="46" name="Text 39"/>
          <p:cNvSpPr/>
          <p:nvPr/>
        </p:nvSpPr>
        <p:spPr>
          <a:xfrm>
            <a:off x="6876288" y="4434840"/>
            <a:ext cx="1719072" cy="402336"/>
          </a:xfrm>
          <a:prstGeom prst="rect">
            <a:avLst/>
          </a:prstGeom>
          <a:noFill/>
          <a:ln/>
        </p:spPr>
        <p:txBody>
          <a:bodyPr wrap="square" lIns="0" tIns="0" rIns="0" bIns="0" rtlCol="0" anchor="ctr"/>
          <a:lstStyle/>
          <a:p>
            <a:pPr indent="0" marL="0">
              <a:buNone/>
            </a:pPr>
            <a:r>
              <a:rPr lang="en-US" sz="1000" dirty="0">
                <a:solidFill>
                  <a:srgbClr val="B8C9D6"/>
                </a:solidFill>
                <a:latin typeface="Calibri" pitchFamily="34" charset="0"/>
                <a:ea typeface="Calibri" pitchFamily="34" charset="-122"/>
                <a:cs typeface="Calibri" pitchFamily="34" charset="-120"/>
              </a:rPr>
              <a:t>Low-confidence → officer review queue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sp>
      <p:sp>
        <p:nvSpPr>
          <p:cNvPr id="3" name="Text 1"/>
          <p:cNvSpPr/>
          <p:nvPr/>
        </p:nvSpPr>
        <p:spPr>
          <a:xfrm>
            <a:off x="365760" y="73152"/>
            <a:ext cx="2743200" cy="274320"/>
          </a:xfrm>
          <a:prstGeom prst="rect">
            <a:avLst/>
          </a:prstGeom>
          <a:noFill/>
          <a:ln/>
        </p:spPr>
        <p:txBody>
          <a:bodyPr wrap="square" lIns="0" tIns="0" rIns="0" bIns="0" rtlCol="0" anchor="ctr"/>
          <a:lstStyle/>
          <a:p>
            <a:pPr indent="0" marL="0">
              <a:buNone/>
            </a:pPr>
            <a:r>
              <a:rPr lang="en-US" sz="1000" b="1" spc="300" kern="0" dirty="0">
                <a:solidFill>
                  <a:srgbClr val="5DADE2"/>
                </a:solidFill>
                <a:latin typeface="Calibri" pitchFamily="34" charset="0"/>
                <a:ea typeface="Calibri" pitchFamily="34" charset="-122"/>
                <a:cs typeface="Calibri" pitchFamily="34" charset="-120"/>
              </a:rPr>
              <a:t>HARDWARE</a:t>
            </a:r>
            <a:endParaRPr lang="en-US" sz="1000" dirty="0"/>
          </a:p>
        </p:txBody>
      </p:sp>
      <p:sp>
        <p:nvSpPr>
          <p:cNvPr id="4" name="Text 2"/>
          <p:cNvSpPr/>
          <p:nvPr/>
        </p:nvSpPr>
        <p:spPr>
          <a:xfrm>
            <a:off x="365760" y="365760"/>
            <a:ext cx="822960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Edge-Node Hardware Deployment</a:t>
            </a:r>
            <a:endParaRPr lang="en-US" sz="2600" dirty="0"/>
          </a:p>
        </p:txBody>
      </p:sp>
      <p:sp>
        <p:nvSpPr>
          <p:cNvPr id="5" name="Shape 3"/>
          <p:cNvSpPr/>
          <p:nvPr/>
        </p:nvSpPr>
        <p:spPr>
          <a:xfrm>
            <a:off x="274320" y="1097280"/>
            <a:ext cx="3931920" cy="2743200"/>
          </a:xfrm>
          <a:prstGeom prst="roundRect">
            <a:avLst>
              <a:gd name="adj" fmla="val 3333"/>
            </a:avLst>
          </a:prstGeom>
          <a:solidFill>
            <a:srgbClr val="FFFFFF"/>
          </a:solidFill>
          <a:ln w="12700">
            <a:solidFill>
              <a:srgbClr val="DDE4EC"/>
            </a:solidFill>
            <a:prstDash val="solid"/>
          </a:ln>
          <a:effectLst>
            <a:outerShdw sx="100000" sy="100000" kx="0" ky="0" algn="bl" rotWithShape="0" blurRad="152400" dist="50800" dir="2700000">
              <a:srgbClr val="000000">
                <a:alpha val="22000"/>
              </a:srgbClr>
            </a:outerShdw>
          </a:effectLst>
        </p:spPr>
      </p:sp>
      <p:sp>
        <p:nvSpPr>
          <p:cNvPr id="6" name="Shape 4"/>
          <p:cNvSpPr/>
          <p:nvPr/>
        </p:nvSpPr>
        <p:spPr>
          <a:xfrm>
            <a:off x="274320" y="1097280"/>
            <a:ext cx="3931920" cy="457200"/>
          </a:xfrm>
          <a:prstGeom prst="roundRect">
            <a:avLst>
              <a:gd name="adj" fmla="val 20000"/>
            </a:avLst>
          </a:prstGeom>
          <a:solidFill>
            <a:srgbClr val="2E86C1"/>
          </a:solidFill>
          <a:ln w="12700">
            <a:solidFill>
              <a:srgbClr val="2E86C1"/>
            </a:solidFill>
            <a:prstDash val="solid"/>
          </a:ln>
        </p:spPr>
      </p:sp>
      <p:sp>
        <p:nvSpPr>
          <p:cNvPr id="7" name="Shape 5"/>
          <p:cNvSpPr/>
          <p:nvPr/>
        </p:nvSpPr>
        <p:spPr>
          <a:xfrm>
            <a:off x="274320" y="1371600"/>
            <a:ext cx="3931920" cy="182880"/>
          </a:xfrm>
          <a:prstGeom prst="rect">
            <a:avLst/>
          </a:prstGeom>
          <a:solidFill>
            <a:srgbClr val="2E86C1"/>
          </a:solidFill>
          <a:ln w="12700">
            <a:solidFill>
              <a:srgbClr val="2E86C1"/>
            </a:solidFill>
            <a:prstDash val="solid"/>
          </a:ln>
        </p:spPr>
      </p:sp>
      <p:sp>
        <p:nvSpPr>
          <p:cNvPr id="8" name="Text 6"/>
          <p:cNvSpPr/>
          <p:nvPr/>
        </p:nvSpPr>
        <p:spPr>
          <a:xfrm>
            <a:off x="365760" y="1143000"/>
            <a:ext cx="37490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BUDGET SETUP</a:t>
            </a:r>
            <a:endParaRPr lang="en-US" sz="1300" dirty="0"/>
          </a:p>
        </p:txBody>
      </p:sp>
      <p:sp>
        <p:nvSpPr>
          <p:cNvPr id="9" name="Text 7"/>
          <p:cNvSpPr/>
          <p:nvPr/>
        </p:nvSpPr>
        <p:spPr>
          <a:xfrm>
            <a:off x="457200" y="1664208"/>
            <a:ext cx="1371600" cy="274320"/>
          </a:xfrm>
          <a:prstGeom prst="rect">
            <a:avLst/>
          </a:prstGeom>
          <a:noFill/>
          <a:ln/>
        </p:spPr>
        <p:txBody>
          <a:bodyPr wrap="square" lIns="0" tIns="0" rIns="0" bIns="0" rtlCol="0" anchor="ctr"/>
          <a:lstStyle/>
          <a:p>
            <a:pPr indent="0" marL="0">
              <a:buNone/>
            </a:pPr>
            <a:r>
              <a:rPr lang="en-US" sz="1100" b="1" dirty="0">
                <a:solidFill>
                  <a:srgbClr val="1B5E8C"/>
                </a:solidFill>
                <a:latin typeface="Calibri" pitchFamily="34" charset="0"/>
                <a:ea typeface="Calibri" pitchFamily="34" charset="-122"/>
                <a:cs typeface="Calibri" pitchFamily="34" charset="-120"/>
              </a:rPr>
              <a:t>Platform:</a:t>
            </a:r>
            <a:endParaRPr lang="en-US" sz="1100" dirty="0"/>
          </a:p>
        </p:txBody>
      </p:sp>
      <p:sp>
        <p:nvSpPr>
          <p:cNvPr id="10" name="Text 8"/>
          <p:cNvSpPr/>
          <p:nvPr/>
        </p:nvSpPr>
        <p:spPr>
          <a:xfrm>
            <a:off x="1874520" y="1664208"/>
            <a:ext cx="2194560" cy="274320"/>
          </a:xfrm>
          <a:prstGeom prst="rect">
            <a:avLst/>
          </a:prstGeom>
          <a:noFill/>
          <a:ln/>
        </p:spPr>
        <p:txBody>
          <a:bodyPr wrap="square" lIns="0" tIns="0" rIns="0" bIns="0" rtlCol="0" anchor="ctr"/>
          <a:lstStyle/>
          <a:p>
            <a:pPr indent="0" marL="0">
              <a:buNone/>
            </a:pPr>
            <a:r>
              <a:rPr lang="en-US" sz="1100" dirty="0">
                <a:solidFill>
                  <a:srgbClr val="1A2738"/>
                </a:solidFill>
                <a:latin typeface="Calibri" pitchFamily="34" charset="0"/>
                <a:ea typeface="Calibri" pitchFamily="34" charset="-122"/>
                <a:cs typeface="Calibri" pitchFamily="34" charset="-120"/>
              </a:rPr>
              <a:t>Raspberry Pi 5 (8GB RAM)</a:t>
            </a:r>
            <a:endParaRPr lang="en-US" sz="1100" dirty="0"/>
          </a:p>
        </p:txBody>
      </p:sp>
      <p:sp>
        <p:nvSpPr>
          <p:cNvPr id="11" name="Text 9"/>
          <p:cNvSpPr/>
          <p:nvPr/>
        </p:nvSpPr>
        <p:spPr>
          <a:xfrm>
            <a:off x="457200" y="1993392"/>
            <a:ext cx="1371600" cy="274320"/>
          </a:xfrm>
          <a:prstGeom prst="rect">
            <a:avLst/>
          </a:prstGeom>
          <a:noFill/>
          <a:ln/>
        </p:spPr>
        <p:txBody>
          <a:bodyPr wrap="square" lIns="0" tIns="0" rIns="0" bIns="0" rtlCol="0" anchor="ctr"/>
          <a:lstStyle/>
          <a:p>
            <a:pPr indent="0" marL="0">
              <a:buNone/>
            </a:pPr>
            <a:r>
              <a:rPr lang="en-US" sz="1100" b="1" dirty="0">
                <a:solidFill>
                  <a:srgbClr val="1B5E8C"/>
                </a:solidFill>
                <a:latin typeface="Calibri" pitchFamily="34" charset="0"/>
                <a:ea typeface="Calibri" pitchFamily="34" charset="-122"/>
                <a:cs typeface="Calibri" pitchFamily="34" charset="-120"/>
              </a:rPr>
              <a:t>Accelerator:</a:t>
            </a:r>
            <a:endParaRPr lang="en-US" sz="1100" dirty="0"/>
          </a:p>
        </p:txBody>
      </p:sp>
      <p:sp>
        <p:nvSpPr>
          <p:cNvPr id="12" name="Text 10"/>
          <p:cNvSpPr/>
          <p:nvPr/>
        </p:nvSpPr>
        <p:spPr>
          <a:xfrm>
            <a:off x="1874520" y="1993392"/>
            <a:ext cx="2194560" cy="274320"/>
          </a:xfrm>
          <a:prstGeom prst="rect">
            <a:avLst/>
          </a:prstGeom>
          <a:noFill/>
          <a:ln/>
        </p:spPr>
        <p:txBody>
          <a:bodyPr wrap="square" lIns="0" tIns="0" rIns="0" bIns="0" rtlCol="0" anchor="ctr"/>
          <a:lstStyle/>
          <a:p>
            <a:pPr indent="0" marL="0">
              <a:buNone/>
            </a:pPr>
            <a:r>
              <a:rPr lang="en-US" sz="1100" dirty="0">
                <a:solidFill>
                  <a:srgbClr val="1A2738"/>
                </a:solidFill>
                <a:latin typeface="Calibri" pitchFamily="34" charset="0"/>
                <a:ea typeface="Calibri" pitchFamily="34" charset="-122"/>
                <a:cs typeface="Calibri" pitchFamily="34" charset="-120"/>
              </a:rPr>
              <a:t>Google Coral USB TPU</a:t>
            </a:r>
            <a:endParaRPr lang="en-US" sz="1100" dirty="0"/>
          </a:p>
        </p:txBody>
      </p:sp>
      <p:sp>
        <p:nvSpPr>
          <p:cNvPr id="13" name="Text 11"/>
          <p:cNvSpPr/>
          <p:nvPr/>
        </p:nvSpPr>
        <p:spPr>
          <a:xfrm>
            <a:off x="457200" y="2322576"/>
            <a:ext cx="1371600" cy="274320"/>
          </a:xfrm>
          <a:prstGeom prst="rect">
            <a:avLst/>
          </a:prstGeom>
          <a:noFill/>
          <a:ln/>
        </p:spPr>
        <p:txBody>
          <a:bodyPr wrap="square" lIns="0" tIns="0" rIns="0" bIns="0" rtlCol="0" anchor="ctr"/>
          <a:lstStyle/>
          <a:p>
            <a:pPr indent="0" marL="0">
              <a:buNone/>
            </a:pPr>
            <a:r>
              <a:rPr lang="en-US" sz="1100" b="1" dirty="0">
                <a:solidFill>
                  <a:srgbClr val="1B5E8C"/>
                </a:solidFill>
                <a:latin typeface="Calibri" pitchFamily="34" charset="0"/>
                <a:ea typeface="Calibri" pitchFamily="34" charset="-122"/>
                <a:cs typeface="Calibri" pitchFamily="34" charset="-120"/>
              </a:rPr>
              <a:t>Model Format:</a:t>
            </a:r>
            <a:endParaRPr lang="en-US" sz="1100" dirty="0"/>
          </a:p>
        </p:txBody>
      </p:sp>
      <p:sp>
        <p:nvSpPr>
          <p:cNvPr id="14" name="Text 12"/>
          <p:cNvSpPr/>
          <p:nvPr/>
        </p:nvSpPr>
        <p:spPr>
          <a:xfrm>
            <a:off x="1874520" y="2322576"/>
            <a:ext cx="2194560" cy="274320"/>
          </a:xfrm>
          <a:prstGeom prst="rect">
            <a:avLst/>
          </a:prstGeom>
          <a:noFill/>
          <a:ln/>
        </p:spPr>
        <p:txBody>
          <a:bodyPr wrap="square" lIns="0" tIns="0" rIns="0" bIns="0" rtlCol="0" anchor="ctr"/>
          <a:lstStyle/>
          <a:p>
            <a:pPr indent="0" marL="0">
              <a:buNone/>
            </a:pPr>
            <a:r>
              <a:rPr lang="en-US" sz="1100" dirty="0">
                <a:solidFill>
                  <a:srgbClr val="1A2738"/>
                </a:solidFill>
                <a:latin typeface="Calibri" pitchFamily="34" charset="0"/>
                <a:ea typeface="Calibri" pitchFamily="34" charset="-122"/>
                <a:cs typeface="Calibri" pitchFamily="34" charset="-120"/>
              </a:rPr>
              <a:t>TFLite INT8 Quantized</a:t>
            </a:r>
            <a:endParaRPr lang="en-US" sz="1100" dirty="0"/>
          </a:p>
        </p:txBody>
      </p:sp>
      <p:sp>
        <p:nvSpPr>
          <p:cNvPr id="15" name="Text 13"/>
          <p:cNvSpPr/>
          <p:nvPr/>
        </p:nvSpPr>
        <p:spPr>
          <a:xfrm>
            <a:off x="457200" y="2651760"/>
            <a:ext cx="1371600" cy="274320"/>
          </a:xfrm>
          <a:prstGeom prst="rect">
            <a:avLst/>
          </a:prstGeom>
          <a:noFill/>
          <a:ln/>
        </p:spPr>
        <p:txBody>
          <a:bodyPr wrap="square" lIns="0" tIns="0" rIns="0" bIns="0" rtlCol="0" anchor="ctr"/>
          <a:lstStyle/>
          <a:p>
            <a:pPr indent="0" marL="0">
              <a:buNone/>
            </a:pPr>
            <a:r>
              <a:rPr lang="en-US" sz="1100" b="1" dirty="0">
                <a:solidFill>
                  <a:srgbClr val="1B5E8C"/>
                </a:solidFill>
                <a:latin typeface="Calibri" pitchFamily="34" charset="0"/>
                <a:ea typeface="Calibri" pitchFamily="34" charset="-122"/>
                <a:cs typeface="Calibri" pitchFamily="34" charset="-120"/>
              </a:rPr>
              <a:t>Power Draw:</a:t>
            </a:r>
            <a:endParaRPr lang="en-US" sz="1100" dirty="0"/>
          </a:p>
        </p:txBody>
      </p:sp>
      <p:sp>
        <p:nvSpPr>
          <p:cNvPr id="16" name="Text 14"/>
          <p:cNvSpPr/>
          <p:nvPr/>
        </p:nvSpPr>
        <p:spPr>
          <a:xfrm>
            <a:off x="1874520" y="2651760"/>
            <a:ext cx="2194560" cy="274320"/>
          </a:xfrm>
          <a:prstGeom prst="rect">
            <a:avLst/>
          </a:prstGeom>
          <a:noFill/>
          <a:ln/>
        </p:spPr>
        <p:txBody>
          <a:bodyPr wrap="square" lIns="0" tIns="0" rIns="0" bIns="0" rtlCol="0" anchor="ctr"/>
          <a:lstStyle/>
          <a:p>
            <a:pPr indent="0" marL="0">
              <a:buNone/>
            </a:pPr>
            <a:r>
              <a:rPr lang="en-US" sz="1100" dirty="0">
                <a:solidFill>
                  <a:srgbClr val="1A2738"/>
                </a:solidFill>
                <a:latin typeface="Calibri" pitchFamily="34" charset="0"/>
                <a:ea typeface="Calibri" pitchFamily="34" charset="-122"/>
                <a:cs typeface="Calibri" pitchFamily="34" charset="-120"/>
              </a:rPr>
              <a:t>&lt; 15 Watts total</a:t>
            </a:r>
            <a:endParaRPr lang="en-US" sz="1100" dirty="0"/>
          </a:p>
        </p:txBody>
      </p:sp>
      <p:sp>
        <p:nvSpPr>
          <p:cNvPr id="17" name="Text 15"/>
          <p:cNvSpPr/>
          <p:nvPr/>
        </p:nvSpPr>
        <p:spPr>
          <a:xfrm>
            <a:off x="457200" y="2980944"/>
            <a:ext cx="1371600" cy="274320"/>
          </a:xfrm>
          <a:prstGeom prst="rect">
            <a:avLst/>
          </a:prstGeom>
          <a:noFill/>
          <a:ln/>
        </p:spPr>
        <p:txBody>
          <a:bodyPr wrap="square" lIns="0" tIns="0" rIns="0" bIns="0" rtlCol="0" anchor="ctr"/>
          <a:lstStyle/>
          <a:p>
            <a:pPr indent="0" marL="0">
              <a:buNone/>
            </a:pPr>
            <a:r>
              <a:rPr lang="en-US" sz="1100" b="1" dirty="0">
                <a:solidFill>
                  <a:srgbClr val="1B5E8C"/>
                </a:solidFill>
                <a:latin typeface="Calibri" pitchFamily="34" charset="0"/>
                <a:ea typeface="Calibri" pitchFamily="34" charset="-122"/>
                <a:cs typeface="Calibri" pitchFamily="34" charset="-120"/>
              </a:rPr>
              <a:t>Inference:</a:t>
            </a:r>
            <a:endParaRPr lang="en-US" sz="1100" dirty="0"/>
          </a:p>
        </p:txBody>
      </p:sp>
      <p:sp>
        <p:nvSpPr>
          <p:cNvPr id="18" name="Text 16"/>
          <p:cNvSpPr/>
          <p:nvPr/>
        </p:nvSpPr>
        <p:spPr>
          <a:xfrm>
            <a:off x="1874520" y="2980944"/>
            <a:ext cx="2194560" cy="274320"/>
          </a:xfrm>
          <a:prstGeom prst="rect">
            <a:avLst/>
          </a:prstGeom>
          <a:noFill/>
          <a:ln/>
        </p:spPr>
        <p:txBody>
          <a:bodyPr wrap="square" lIns="0" tIns="0" rIns="0" bIns="0" rtlCol="0" anchor="ctr"/>
          <a:lstStyle/>
          <a:p>
            <a:pPr indent="0" marL="0">
              <a:buNone/>
            </a:pPr>
            <a:r>
              <a:rPr lang="en-US" sz="1100" dirty="0">
                <a:solidFill>
                  <a:srgbClr val="1A2738"/>
                </a:solidFill>
                <a:latin typeface="Calibri" pitchFamily="34" charset="0"/>
                <a:ea typeface="Calibri" pitchFamily="34" charset="-122"/>
                <a:cs typeface="Calibri" pitchFamily="34" charset="-120"/>
              </a:rPr>
              <a:t>High FPS local detection</a:t>
            </a:r>
            <a:endParaRPr lang="en-US" sz="1100" dirty="0"/>
          </a:p>
        </p:txBody>
      </p:sp>
      <p:sp>
        <p:nvSpPr>
          <p:cNvPr id="19" name="Text 17"/>
          <p:cNvSpPr/>
          <p:nvPr/>
        </p:nvSpPr>
        <p:spPr>
          <a:xfrm>
            <a:off x="457200" y="3310128"/>
            <a:ext cx="1371600" cy="274320"/>
          </a:xfrm>
          <a:prstGeom prst="rect">
            <a:avLst/>
          </a:prstGeom>
          <a:noFill/>
          <a:ln/>
        </p:spPr>
        <p:txBody>
          <a:bodyPr wrap="square" lIns="0" tIns="0" rIns="0" bIns="0" rtlCol="0" anchor="ctr"/>
          <a:lstStyle/>
          <a:p>
            <a:pPr indent="0" marL="0">
              <a:buNone/>
            </a:pPr>
            <a:r>
              <a:rPr lang="en-US" sz="1100" b="1" dirty="0">
                <a:solidFill>
                  <a:srgbClr val="1B5E8C"/>
                </a:solidFill>
                <a:latin typeface="Calibri" pitchFamily="34" charset="0"/>
                <a:ea typeface="Calibri" pitchFamily="34" charset="-122"/>
                <a:cs typeface="Calibri" pitchFamily="34" charset="-120"/>
              </a:rPr>
              <a:t>Offline Cache:</a:t>
            </a:r>
            <a:endParaRPr lang="en-US" sz="1100" dirty="0"/>
          </a:p>
        </p:txBody>
      </p:sp>
      <p:sp>
        <p:nvSpPr>
          <p:cNvPr id="20" name="Text 18"/>
          <p:cNvSpPr/>
          <p:nvPr/>
        </p:nvSpPr>
        <p:spPr>
          <a:xfrm>
            <a:off x="1874520" y="3310128"/>
            <a:ext cx="2194560" cy="274320"/>
          </a:xfrm>
          <a:prstGeom prst="rect">
            <a:avLst/>
          </a:prstGeom>
          <a:noFill/>
          <a:ln/>
        </p:spPr>
        <p:txBody>
          <a:bodyPr wrap="square" lIns="0" tIns="0" rIns="0" bIns="0" rtlCol="0" anchor="ctr"/>
          <a:lstStyle/>
          <a:p>
            <a:pPr indent="0" marL="0">
              <a:buNone/>
            </a:pPr>
            <a:r>
              <a:rPr lang="en-US" sz="1100" dirty="0">
                <a:solidFill>
                  <a:srgbClr val="1A2738"/>
                </a:solidFill>
                <a:latin typeface="Calibri" pitchFamily="34" charset="0"/>
                <a:ea typeface="Calibri" pitchFamily="34" charset="-122"/>
                <a:cs typeface="Calibri" pitchFamily="34" charset="-120"/>
              </a:rPr>
              <a:t>SQLite — auto-sync on reconnect</a:t>
            </a:r>
            <a:endParaRPr lang="en-US" sz="1100" dirty="0"/>
          </a:p>
        </p:txBody>
      </p:sp>
      <p:sp>
        <p:nvSpPr>
          <p:cNvPr id="21" name="Shape 19"/>
          <p:cNvSpPr/>
          <p:nvPr/>
        </p:nvSpPr>
        <p:spPr>
          <a:xfrm>
            <a:off x="4663440" y="1097280"/>
            <a:ext cx="3931920" cy="2743200"/>
          </a:xfrm>
          <a:prstGeom prst="roundRect">
            <a:avLst>
              <a:gd name="adj" fmla="val 3333"/>
            </a:avLst>
          </a:prstGeom>
          <a:solidFill>
            <a:srgbClr val="FFFFFF"/>
          </a:solidFill>
          <a:ln w="12700">
            <a:solidFill>
              <a:srgbClr val="DDE4EC"/>
            </a:solidFill>
            <a:prstDash val="solid"/>
          </a:ln>
          <a:effectLst>
            <a:outerShdw sx="100000" sy="100000" kx="0" ky="0" algn="bl" rotWithShape="0" blurRad="152400" dist="50800" dir="2700000">
              <a:srgbClr val="000000">
                <a:alpha val="22000"/>
              </a:srgbClr>
            </a:outerShdw>
          </a:effectLst>
        </p:spPr>
      </p:sp>
      <p:sp>
        <p:nvSpPr>
          <p:cNvPr id="22" name="Shape 20"/>
          <p:cNvSpPr/>
          <p:nvPr/>
        </p:nvSpPr>
        <p:spPr>
          <a:xfrm>
            <a:off x="4663440" y="1097280"/>
            <a:ext cx="3931920" cy="457200"/>
          </a:xfrm>
          <a:prstGeom prst="roundRect">
            <a:avLst>
              <a:gd name="adj" fmla="val 20000"/>
            </a:avLst>
          </a:prstGeom>
          <a:solidFill>
            <a:srgbClr val="1A2738"/>
          </a:solidFill>
          <a:ln w="12700">
            <a:solidFill>
              <a:srgbClr val="1A2738"/>
            </a:solidFill>
            <a:prstDash val="solid"/>
          </a:ln>
        </p:spPr>
      </p:sp>
      <p:sp>
        <p:nvSpPr>
          <p:cNvPr id="23" name="Shape 21"/>
          <p:cNvSpPr/>
          <p:nvPr/>
        </p:nvSpPr>
        <p:spPr>
          <a:xfrm>
            <a:off x="4663440" y="1371600"/>
            <a:ext cx="3931920" cy="182880"/>
          </a:xfrm>
          <a:prstGeom prst="rect">
            <a:avLst/>
          </a:prstGeom>
          <a:solidFill>
            <a:srgbClr val="1A2738"/>
          </a:solidFill>
          <a:ln w="12700">
            <a:solidFill>
              <a:srgbClr val="1A2738"/>
            </a:solidFill>
            <a:prstDash val="solid"/>
          </a:ln>
        </p:spPr>
      </p:sp>
      <p:sp>
        <p:nvSpPr>
          <p:cNvPr id="24" name="Text 22"/>
          <p:cNvSpPr/>
          <p:nvPr/>
        </p:nvSpPr>
        <p:spPr>
          <a:xfrm>
            <a:off x="4754880" y="1143000"/>
            <a:ext cx="3749040" cy="347472"/>
          </a:xfrm>
          <a:prstGeom prst="rect">
            <a:avLst/>
          </a:prstGeom>
          <a:noFill/>
          <a:ln/>
        </p:spPr>
        <p:txBody>
          <a:bodyPr wrap="square" lIns="0" tIns="0" rIns="0" bIns="0" rtlCol="0" anchor="ctr"/>
          <a:lstStyle/>
          <a:p>
            <a:pPr algn="ctr" indent="0" marL="0">
              <a:buNone/>
            </a:pPr>
            <a:r>
              <a:rPr lang="en-US" sz="1300" b="1" dirty="0">
                <a:solidFill>
                  <a:srgbClr val="D4A017"/>
                </a:solidFill>
                <a:latin typeface="Cambria" pitchFamily="34" charset="0"/>
                <a:ea typeface="Cambria" pitchFamily="34" charset="-122"/>
                <a:cs typeface="Cambria" pitchFamily="34" charset="-120"/>
              </a:rPr>
              <a:t>HIGH-END SETUP</a:t>
            </a:r>
            <a:endParaRPr lang="en-US" sz="1300" dirty="0"/>
          </a:p>
        </p:txBody>
      </p:sp>
      <p:sp>
        <p:nvSpPr>
          <p:cNvPr id="25" name="Text 23"/>
          <p:cNvSpPr/>
          <p:nvPr/>
        </p:nvSpPr>
        <p:spPr>
          <a:xfrm>
            <a:off x="4846320" y="1664208"/>
            <a:ext cx="1371600" cy="274320"/>
          </a:xfrm>
          <a:prstGeom prst="rect">
            <a:avLst/>
          </a:prstGeom>
          <a:noFill/>
          <a:ln/>
        </p:spPr>
        <p:txBody>
          <a:bodyPr wrap="square" lIns="0" tIns="0" rIns="0" bIns="0" rtlCol="0" anchor="ctr"/>
          <a:lstStyle/>
          <a:p>
            <a:pPr indent="0" marL="0">
              <a:buNone/>
            </a:pPr>
            <a:r>
              <a:rPr lang="en-US" sz="1100" b="1" dirty="0">
                <a:solidFill>
                  <a:srgbClr val="1A2738"/>
                </a:solidFill>
                <a:latin typeface="Calibri" pitchFamily="34" charset="0"/>
                <a:ea typeface="Calibri" pitchFamily="34" charset="-122"/>
                <a:cs typeface="Calibri" pitchFamily="34" charset="-120"/>
              </a:rPr>
              <a:t>Platform:</a:t>
            </a:r>
            <a:endParaRPr lang="en-US" sz="1100" dirty="0"/>
          </a:p>
        </p:txBody>
      </p:sp>
      <p:sp>
        <p:nvSpPr>
          <p:cNvPr id="26" name="Text 24"/>
          <p:cNvSpPr/>
          <p:nvPr/>
        </p:nvSpPr>
        <p:spPr>
          <a:xfrm>
            <a:off x="6263640" y="1664208"/>
            <a:ext cx="2194560" cy="274320"/>
          </a:xfrm>
          <a:prstGeom prst="rect">
            <a:avLst/>
          </a:prstGeom>
          <a:noFill/>
          <a:ln/>
        </p:spPr>
        <p:txBody>
          <a:bodyPr wrap="square" lIns="0" tIns="0" rIns="0" bIns="0" rtlCol="0" anchor="ctr"/>
          <a:lstStyle/>
          <a:p>
            <a:pPr indent="0" marL="0">
              <a:buNone/>
            </a:pPr>
            <a:r>
              <a:rPr lang="en-US" sz="1100" dirty="0">
                <a:solidFill>
                  <a:srgbClr val="1A2738"/>
                </a:solidFill>
                <a:latin typeface="Calibri" pitchFamily="34" charset="0"/>
                <a:ea typeface="Calibri" pitchFamily="34" charset="-122"/>
                <a:cs typeface="Calibri" pitchFamily="34" charset="-120"/>
              </a:rPr>
              <a:t>NVIDIA Jetson Orin NX</a:t>
            </a:r>
            <a:endParaRPr lang="en-US" sz="1100" dirty="0"/>
          </a:p>
        </p:txBody>
      </p:sp>
      <p:sp>
        <p:nvSpPr>
          <p:cNvPr id="27" name="Text 25"/>
          <p:cNvSpPr/>
          <p:nvPr/>
        </p:nvSpPr>
        <p:spPr>
          <a:xfrm>
            <a:off x="4846320" y="1993392"/>
            <a:ext cx="1371600" cy="274320"/>
          </a:xfrm>
          <a:prstGeom prst="rect">
            <a:avLst/>
          </a:prstGeom>
          <a:noFill/>
          <a:ln/>
        </p:spPr>
        <p:txBody>
          <a:bodyPr wrap="square" lIns="0" tIns="0" rIns="0" bIns="0" rtlCol="0" anchor="ctr"/>
          <a:lstStyle/>
          <a:p>
            <a:pPr indent="0" marL="0">
              <a:buNone/>
            </a:pPr>
            <a:r>
              <a:rPr lang="en-US" sz="1100" b="1" dirty="0">
                <a:solidFill>
                  <a:srgbClr val="1A2738"/>
                </a:solidFill>
                <a:latin typeface="Calibri" pitchFamily="34" charset="0"/>
                <a:ea typeface="Calibri" pitchFamily="34" charset="-122"/>
                <a:cs typeface="Calibri" pitchFamily="34" charset="-120"/>
              </a:rPr>
              <a:t>Accelerator:</a:t>
            </a:r>
            <a:endParaRPr lang="en-US" sz="1100" dirty="0"/>
          </a:p>
        </p:txBody>
      </p:sp>
      <p:sp>
        <p:nvSpPr>
          <p:cNvPr id="28" name="Text 26"/>
          <p:cNvSpPr/>
          <p:nvPr/>
        </p:nvSpPr>
        <p:spPr>
          <a:xfrm>
            <a:off x="6263640" y="1993392"/>
            <a:ext cx="2194560" cy="274320"/>
          </a:xfrm>
          <a:prstGeom prst="rect">
            <a:avLst/>
          </a:prstGeom>
          <a:noFill/>
          <a:ln/>
        </p:spPr>
        <p:txBody>
          <a:bodyPr wrap="square" lIns="0" tIns="0" rIns="0" bIns="0" rtlCol="0" anchor="ctr"/>
          <a:lstStyle/>
          <a:p>
            <a:pPr indent="0" marL="0">
              <a:buNone/>
            </a:pPr>
            <a:r>
              <a:rPr lang="en-US" sz="1100" dirty="0">
                <a:solidFill>
                  <a:srgbClr val="1A2738"/>
                </a:solidFill>
                <a:latin typeface="Calibri" pitchFamily="34" charset="0"/>
                <a:ea typeface="Calibri" pitchFamily="34" charset="-122"/>
                <a:cs typeface="Calibri" pitchFamily="34" charset="-120"/>
              </a:rPr>
              <a:t>Integrated GPU (1024 CUDA cores)</a:t>
            </a:r>
            <a:endParaRPr lang="en-US" sz="1100" dirty="0"/>
          </a:p>
        </p:txBody>
      </p:sp>
      <p:sp>
        <p:nvSpPr>
          <p:cNvPr id="29" name="Text 27"/>
          <p:cNvSpPr/>
          <p:nvPr/>
        </p:nvSpPr>
        <p:spPr>
          <a:xfrm>
            <a:off x="4846320" y="2322576"/>
            <a:ext cx="1371600" cy="274320"/>
          </a:xfrm>
          <a:prstGeom prst="rect">
            <a:avLst/>
          </a:prstGeom>
          <a:noFill/>
          <a:ln/>
        </p:spPr>
        <p:txBody>
          <a:bodyPr wrap="square" lIns="0" tIns="0" rIns="0" bIns="0" rtlCol="0" anchor="ctr"/>
          <a:lstStyle/>
          <a:p>
            <a:pPr indent="0" marL="0">
              <a:buNone/>
            </a:pPr>
            <a:r>
              <a:rPr lang="en-US" sz="1100" b="1" dirty="0">
                <a:solidFill>
                  <a:srgbClr val="1A2738"/>
                </a:solidFill>
                <a:latin typeface="Calibri" pitchFamily="34" charset="0"/>
                <a:ea typeface="Calibri" pitchFamily="34" charset="-122"/>
                <a:cs typeface="Calibri" pitchFamily="34" charset="-120"/>
              </a:rPr>
              <a:t>Model Format:</a:t>
            </a:r>
            <a:endParaRPr lang="en-US" sz="1100" dirty="0"/>
          </a:p>
        </p:txBody>
      </p:sp>
      <p:sp>
        <p:nvSpPr>
          <p:cNvPr id="30" name="Text 28"/>
          <p:cNvSpPr/>
          <p:nvPr/>
        </p:nvSpPr>
        <p:spPr>
          <a:xfrm>
            <a:off x="6263640" y="2322576"/>
            <a:ext cx="2194560" cy="274320"/>
          </a:xfrm>
          <a:prstGeom prst="rect">
            <a:avLst/>
          </a:prstGeom>
          <a:noFill/>
          <a:ln/>
        </p:spPr>
        <p:txBody>
          <a:bodyPr wrap="square" lIns="0" tIns="0" rIns="0" bIns="0" rtlCol="0" anchor="ctr"/>
          <a:lstStyle/>
          <a:p>
            <a:pPr indent="0" marL="0">
              <a:buNone/>
            </a:pPr>
            <a:r>
              <a:rPr lang="en-US" sz="1100" dirty="0">
                <a:solidFill>
                  <a:srgbClr val="1A2738"/>
                </a:solidFill>
                <a:latin typeface="Calibri" pitchFamily="34" charset="0"/>
                <a:ea typeface="Calibri" pitchFamily="34" charset="-122"/>
                <a:cs typeface="Calibri" pitchFamily="34" charset="-120"/>
              </a:rPr>
              <a:t>TensorRT FP16 Optimized</a:t>
            </a:r>
            <a:endParaRPr lang="en-US" sz="1100" dirty="0"/>
          </a:p>
        </p:txBody>
      </p:sp>
      <p:sp>
        <p:nvSpPr>
          <p:cNvPr id="31" name="Text 29"/>
          <p:cNvSpPr/>
          <p:nvPr/>
        </p:nvSpPr>
        <p:spPr>
          <a:xfrm>
            <a:off x="4846320" y="2651760"/>
            <a:ext cx="1371600" cy="274320"/>
          </a:xfrm>
          <a:prstGeom prst="rect">
            <a:avLst/>
          </a:prstGeom>
          <a:noFill/>
          <a:ln/>
        </p:spPr>
        <p:txBody>
          <a:bodyPr wrap="square" lIns="0" tIns="0" rIns="0" bIns="0" rtlCol="0" anchor="ctr"/>
          <a:lstStyle/>
          <a:p>
            <a:pPr indent="0" marL="0">
              <a:buNone/>
            </a:pPr>
            <a:r>
              <a:rPr lang="en-US" sz="1100" b="1" dirty="0">
                <a:solidFill>
                  <a:srgbClr val="1A2738"/>
                </a:solidFill>
                <a:latin typeface="Calibri" pitchFamily="34" charset="0"/>
                <a:ea typeface="Calibri" pitchFamily="34" charset="-122"/>
                <a:cs typeface="Calibri" pitchFamily="34" charset="-120"/>
              </a:rPr>
              <a:t>Power Draw:</a:t>
            </a:r>
            <a:endParaRPr lang="en-US" sz="1100" dirty="0"/>
          </a:p>
        </p:txBody>
      </p:sp>
      <p:sp>
        <p:nvSpPr>
          <p:cNvPr id="32" name="Text 30"/>
          <p:cNvSpPr/>
          <p:nvPr/>
        </p:nvSpPr>
        <p:spPr>
          <a:xfrm>
            <a:off x="6263640" y="2651760"/>
            <a:ext cx="2194560" cy="274320"/>
          </a:xfrm>
          <a:prstGeom prst="rect">
            <a:avLst/>
          </a:prstGeom>
          <a:noFill/>
          <a:ln/>
        </p:spPr>
        <p:txBody>
          <a:bodyPr wrap="square" lIns="0" tIns="0" rIns="0" bIns="0" rtlCol="0" anchor="ctr"/>
          <a:lstStyle/>
          <a:p>
            <a:pPr indent="0" marL="0">
              <a:buNone/>
            </a:pPr>
            <a:r>
              <a:rPr lang="en-US" sz="1100" dirty="0">
                <a:solidFill>
                  <a:srgbClr val="1A2738"/>
                </a:solidFill>
                <a:latin typeface="Calibri" pitchFamily="34" charset="0"/>
                <a:ea typeface="Calibri" pitchFamily="34" charset="-122"/>
                <a:cs typeface="Calibri" pitchFamily="34" charset="-120"/>
              </a:rPr>
              <a:t>10–25 Watts configurable</a:t>
            </a:r>
            <a:endParaRPr lang="en-US" sz="1100" dirty="0"/>
          </a:p>
        </p:txBody>
      </p:sp>
      <p:sp>
        <p:nvSpPr>
          <p:cNvPr id="33" name="Text 31"/>
          <p:cNvSpPr/>
          <p:nvPr/>
        </p:nvSpPr>
        <p:spPr>
          <a:xfrm>
            <a:off x="4846320" y="2980944"/>
            <a:ext cx="1371600" cy="274320"/>
          </a:xfrm>
          <a:prstGeom prst="rect">
            <a:avLst/>
          </a:prstGeom>
          <a:noFill/>
          <a:ln/>
        </p:spPr>
        <p:txBody>
          <a:bodyPr wrap="square" lIns="0" tIns="0" rIns="0" bIns="0" rtlCol="0" anchor="ctr"/>
          <a:lstStyle/>
          <a:p>
            <a:pPr indent="0" marL="0">
              <a:buNone/>
            </a:pPr>
            <a:r>
              <a:rPr lang="en-US" sz="1100" b="1" dirty="0">
                <a:solidFill>
                  <a:srgbClr val="1A2738"/>
                </a:solidFill>
                <a:latin typeface="Calibri" pitchFamily="34" charset="0"/>
                <a:ea typeface="Calibri" pitchFamily="34" charset="-122"/>
                <a:cs typeface="Calibri" pitchFamily="34" charset="-120"/>
              </a:rPr>
              <a:t>Inference:</a:t>
            </a:r>
            <a:endParaRPr lang="en-US" sz="1100" dirty="0"/>
          </a:p>
        </p:txBody>
      </p:sp>
      <p:sp>
        <p:nvSpPr>
          <p:cNvPr id="34" name="Text 32"/>
          <p:cNvSpPr/>
          <p:nvPr/>
        </p:nvSpPr>
        <p:spPr>
          <a:xfrm>
            <a:off x="6263640" y="2980944"/>
            <a:ext cx="2194560" cy="274320"/>
          </a:xfrm>
          <a:prstGeom prst="rect">
            <a:avLst/>
          </a:prstGeom>
          <a:noFill/>
          <a:ln/>
        </p:spPr>
        <p:txBody>
          <a:bodyPr wrap="square" lIns="0" tIns="0" rIns="0" bIns="0" rtlCol="0" anchor="ctr"/>
          <a:lstStyle/>
          <a:p>
            <a:pPr indent="0" marL="0">
              <a:buNone/>
            </a:pPr>
            <a:r>
              <a:rPr lang="en-US" sz="1100" dirty="0">
                <a:solidFill>
                  <a:srgbClr val="1A2738"/>
                </a:solidFill>
                <a:latin typeface="Calibri" pitchFamily="34" charset="0"/>
                <a:ea typeface="Calibri" pitchFamily="34" charset="-122"/>
                <a:cs typeface="Calibri" pitchFamily="34" charset="-120"/>
              </a:rPr>
              <a:t>Real-time multi-stream</a:t>
            </a:r>
            <a:endParaRPr lang="en-US" sz="1100" dirty="0"/>
          </a:p>
        </p:txBody>
      </p:sp>
      <p:sp>
        <p:nvSpPr>
          <p:cNvPr id="35" name="Text 33"/>
          <p:cNvSpPr/>
          <p:nvPr/>
        </p:nvSpPr>
        <p:spPr>
          <a:xfrm>
            <a:off x="4846320" y="3310128"/>
            <a:ext cx="1371600" cy="274320"/>
          </a:xfrm>
          <a:prstGeom prst="rect">
            <a:avLst/>
          </a:prstGeom>
          <a:noFill/>
          <a:ln/>
        </p:spPr>
        <p:txBody>
          <a:bodyPr wrap="square" lIns="0" tIns="0" rIns="0" bIns="0" rtlCol="0" anchor="ctr"/>
          <a:lstStyle/>
          <a:p>
            <a:pPr indent="0" marL="0">
              <a:buNone/>
            </a:pPr>
            <a:r>
              <a:rPr lang="en-US" sz="1100" b="1" dirty="0">
                <a:solidFill>
                  <a:srgbClr val="1A2738"/>
                </a:solidFill>
                <a:latin typeface="Calibri" pitchFamily="34" charset="0"/>
                <a:ea typeface="Calibri" pitchFamily="34" charset="-122"/>
                <a:cs typeface="Calibri" pitchFamily="34" charset="-120"/>
              </a:rPr>
              <a:t>Precision:</a:t>
            </a:r>
            <a:endParaRPr lang="en-US" sz="1100" dirty="0"/>
          </a:p>
        </p:txBody>
      </p:sp>
      <p:sp>
        <p:nvSpPr>
          <p:cNvPr id="36" name="Text 34"/>
          <p:cNvSpPr/>
          <p:nvPr/>
        </p:nvSpPr>
        <p:spPr>
          <a:xfrm>
            <a:off x="6263640" y="3310128"/>
            <a:ext cx="2194560" cy="274320"/>
          </a:xfrm>
          <a:prstGeom prst="rect">
            <a:avLst/>
          </a:prstGeom>
          <a:noFill/>
          <a:ln/>
        </p:spPr>
        <p:txBody>
          <a:bodyPr wrap="square" lIns="0" tIns="0" rIns="0" bIns="0" rtlCol="0" anchor="ctr"/>
          <a:lstStyle/>
          <a:p>
            <a:pPr indent="0" marL="0">
              <a:buNone/>
            </a:pPr>
            <a:r>
              <a:rPr lang="en-US" sz="1100" dirty="0">
                <a:solidFill>
                  <a:srgbClr val="1A2738"/>
                </a:solidFill>
                <a:latin typeface="Calibri" pitchFamily="34" charset="0"/>
                <a:ea typeface="Calibri" pitchFamily="34" charset="-122"/>
                <a:cs typeface="Calibri" pitchFamily="34" charset="-120"/>
              </a:rPr>
              <a:t>FP16 — higher accuracy</a:t>
            </a:r>
            <a:endParaRPr lang="en-US" sz="1100" dirty="0"/>
          </a:p>
        </p:txBody>
      </p:sp>
      <p:sp>
        <p:nvSpPr>
          <p:cNvPr id="37" name="Shape 35"/>
          <p:cNvSpPr/>
          <p:nvPr/>
        </p:nvSpPr>
        <p:spPr>
          <a:xfrm>
            <a:off x="274320" y="3977640"/>
            <a:ext cx="8321040" cy="868680"/>
          </a:xfrm>
          <a:prstGeom prst="roundRect">
            <a:avLst>
              <a:gd name="adj" fmla="val 10526"/>
            </a:avLst>
          </a:prstGeom>
          <a:solidFill>
            <a:srgbClr val="112236"/>
          </a:solidFill>
          <a:ln w="12700">
            <a:solidFill>
              <a:srgbClr val="2E86C1"/>
            </a:solidFill>
            <a:prstDash val="solid"/>
          </a:ln>
        </p:spPr>
      </p:sp>
      <p:pic>
        <p:nvPicPr>
          <p:cNvPr id="38" name="Image 0" descr="preencoded.png">    </p:cNvPr>
          <p:cNvPicPr>
            <a:picLocks noChangeAspect="1"/>
          </p:cNvPicPr>
          <p:nvPr/>
        </p:nvPicPr>
        <p:blipFill>
          <a:blip r:embed="rId1"/>
          <a:stretch>
            <a:fillRect/>
          </a:stretch>
        </p:blipFill>
        <p:spPr>
          <a:xfrm>
            <a:off x="457200" y="4114800"/>
            <a:ext cx="475488" cy="475488"/>
          </a:xfrm>
          <a:prstGeom prst="rect">
            <a:avLst/>
          </a:prstGeom>
        </p:spPr>
      </p:pic>
      <p:sp>
        <p:nvSpPr>
          <p:cNvPr id="39" name="Text 36"/>
          <p:cNvSpPr/>
          <p:nvPr/>
        </p:nvSpPr>
        <p:spPr>
          <a:xfrm>
            <a:off x="1051560" y="4041648"/>
            <a:ext cx="2286000" cy="320040"/>
          </a:xfrm>
          <a:prstGeom prst="rect">
            <a:avLst/>
          </a:prstGeom>
          <a:noFill/>
          <a:ln/>
        </p:spPr>
        <p:txBody>
          <a:bodyPr wrap="square" lIns="0" tIns="0" rIns="0" bIns="0" rtlCol="0" anchor="ctr"/>
          <a:lstStyle/>
          <a:p>
            <a:pPr indent="0" marL="0">
              <a:buNone/>
            </a:pPr>
            <a:r>
              <a:rPr lang="en-US" sz="1200" b="1" dirty="0">
                <a:solidFill>
                  <a:srgbClr val="5DADE2"/>
                </a:solidFill>
                <a:latin typeface="Cambria" pitchFamily="34" charset="0"/>
                <a:ea typeface="Cambria" pitchFamily="34" charset="-122"/>
                <a:cs typeface="Cambria" pitchFamily="34" charset="-120"/>
              </a:rPr>
              <a:t>Network Resilience:</a:t>
            </a:r>
            <a:endParaRPr lang="en-US" sz="1200" dirty="0"/>
          </a:p>
        </p:txBody>
      </p:sp>
      <p:sp>
        <p:nvSpPr>
          <p:cNvPr id="40" name="Text 37"/>
          <p:cNvSpPr/>
          <p:nvPr/>
        </p:nvSpPr>
        <p:spPr>
          <a:xfrm>
            <a:off x="1051560" y="4343400"/>
            <a:ext cx="7406640" cy="420624"/>
          </a:xfrm>
          <a:prstGeom prst="rect">
            <a:avLst/>
          </a:prstGeom>
          <a:noFill/>
          <a:ln/>
        </p:spPr>
        <p:txBody>
          <a:bodyPr wrap="square" lIns="0" tIns="0" rIns="0" bIns="0" rtlCol="0" anchor="ctr"/>
          <a:lstStyle/>
          <a:p>
            <a:pPr indent="0" marL="0">
              <a:buNone/>
            </a:pPr>
            <a:r>
              <a:rPr lang="en-US" sz="1100" dirty="0">
                <a:solidFill>
                  <a:srgbClr val="B8C9D6"/>
                </a:solidFill>
                <a:latin typeface="Calibri" pitchFamily="34" charset="0"/>
                <a:ea typeface="Calibri" pitchFamily="34" charset="-122"/>
                <a:cs typeface="Calibri" pitchFamily="34" charset="-120"/>
              </a:rPr>
              <a:t>If the cellular or broadband link drops, the edge node caches all violations locally in SQLite and automatically syncs them once connectivity is restored. Fully offline-first.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12236"/>
          </a:solidFill>
          <a:ln w="12700">
            <a:solidFill>
              <a:srgbClr val="112236"/>
            </a:solidFill>
            <a:prstDash val="solid"/>
          </a:ln>
        </p:spPr>
      </p:sp>
      <p:sp>
        <p:nvSpPr>
          <p:cNvPr id="3" name="Text 1"/>
          <p:cNvSpPr/>
          <p:nvPr/>
        </p:nvSpPr>
        <p:spPr>
          <a:xfrm>
            <a:off x="365760" y="73152"/>
            <a:ext cx="3657600" cy="274320"/>
          </a:xfrm>
          <a:prstGeom prst="rect">
            <a:avLst/>
          </a:prstGeom>
          <a:noFill/>
          <a:ln/>
        </p:spPr>
        <p:txBody>
          <a:bodyPr wrap="square" lIns="0" tIns="0" rIns="0" bIns="0" rtlCol="0" anchor="ctr"/>
          <a:lstStyle/>
          <a:p>
            <a:pPr indent="0" marL="0">
              <a:buNone/>
            </a:pPr>
            <a:r>
              <a:rPr lang="en-US" sz="1000" b="1" spc="300" kern="0" dirty="0">
                <a:solidFill>
                  <a:srgbClr val="D4A017"/>
                </a:solidFill>
                <a:latin typeface="Calibri" pitchFamily="34" charset="0"/>
                <a:ea typeface="Calibri" pitchFamily="34" charset="-122"/>
                <a:cs typeface="Calibri" pitchFamily="34" charset="-120"/>
              </a:rPr>
              <a:t>CORE ALGORITHM</a:t>
            </a:r>
            <a:endParaRPr lang="en-US" sz="1000" dirty="0"/>
          </a:p>
        </p:txBody>
      </p:sp>
      <p:sp>
        <p:nvSpPr>
          <p:cNvPr id="4" name="Text 2"/>
          <p:cNvSpPr/>
          <p:nvPr/>
        </p:nvSpPr>
        <p:spPr>
          <a:xfrm>
            <a:off x="365760" y="347472"/>
            <a:ext cx="8412480" cy="43891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Plate Reconstruction Pipeline: Resolving Blurry &amp; Obscured Plates</a:t>
            </a:r>
            <a:endParaRPr lang="en-US" sz="2200" dirty="0"/>
          </a:p>
        </p:txBody>
      </p:sp>
      <p:sp>
        <p:nvSpPr>
          <p:cNvPr id="5" name="Shape 3"/>
          <p:cNvSpPr/>
          <p:nvPr/>
        </p:nvSpPr>
        <p:spPr>
          <a:xfrm>
            <a:off x="228600" y="1051560"/>
            <a:ext cx="1965960" cy="3108960"/>
          </a:xfrm>
          <a:prstGeom prst="roundRect">
            <a:avLst>
              <a:gd name="adj" fmla="val 4651"/>
            </a:avLst>
          </a:prstGeom>
          <a:solidFill>
            <a:srgbClr val="162840"/>
          </a:solidFill>
          <a:ln w="15240">
            <a:solidFill>
              <a:srgbClr val="922B21"/>
            </a:solidFill>
            <a:prstDash val="solid"/>
          </a:ln>
          <a:effectLst>
            <a:outerShdw sx="100000" sy="100000" kx="0" ky="0" algn="bl" rotWithShape="0" blurRad="101600" dist="38100" dir="2700000">
              <a:srgbClr val="000000">
                <a:alpha val="18000"/>
              </a:srgbClr>
            </a:outerShdw>
          </a:effectLst>
        </p:spPr>
      </p:sp>
      <p:sp>
        <p:nvSpPr>
          <p:cNvPr id="6" name="Shape 4"/>
          <p:cNvSpPr/>
          <p:nvPr/>
        </p:nvSpPr>
        <p:spPr>
          <a:xfrm>
            <a:off x="868680" y="1170432"/>
            <a:ext cx="685800" cy="685800"/>
          </a:xfrm>
          <a:prstGeom prst="ellipse">
            <a:avLst/>
          </a:prstGeom>
          <a:solidFill>
            <a:srgbClr val="922B21">
              <a:alpha val="80000"/>
            </a:srgbClr>
          </a:solidFill>
          <a:ln w="19050">
            <a:solidFill>
              <a:srgbClr val="922B21"/>
            </a:solidFill>
            <a:prstDash val="solid"/>
          </a:ln>
        </p:spPr>
      </p:sp>
      <p:sp>
        <p:nvSpPr>
          <p:cNvPr id="7" name="Text 5"/>
          <p:cNvSpPr/>
          <p:nvPr/>
        </p:nvSpPr>
        <p:spPr>
          <a:xfrm>
            <a:off x="868680" y="1170432"/>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01</a:t>
            </a:r>
            <a:endParaRPr lang="en-US" sz="1800" dirty="0"/>
          </a:p>
        </p:txBody>
      </p:sp>
      <p:sp>
        <p:nvSpPr>
          <p:cNvPr id="8" name="Text 6"/>
          <p:cNvSpPr/>
          <p:nvPr/>
        </p:nvSpPr>
        <p:spPr>
          <a:xfrm>
            <a:off x="338328" y="1965960"/>
            <a:ext cx="1755648" cy="411480"/>
          </a:xfrm>
          <a:prstGeom prst="rect">
            <a:avLst/>
          </a:prstGeom>
          <a:noFill/>
          <a:ln/>
        </p:spPr>
        <p:txBody>
          <a:bodyPr wrap="square" lIns="0" tIns="0" rIns="0" bIns="0" rtlCol="0" anchor="ctr"/>
          <a:lstStyle/>
          <a:p>
            <a:pPr algn="ctr" indent="0" marL="0">
              <a:buNone/>
            </a:pPr>
            <a:r>
              <a:rPr lang="en-US" sz="1300" b="1" dirty="0">
                <a:solidFill>
                  <a:srgbClr val="922B21"/>
                </a:solidFill>
                <a:latin typeface="Cambria" pitchFamily="34" charset="0"/>
                <a:ea typeface="Cambria" pitchFamily="34" charset="-122"/>
                <a:cs typeface="Cambria" pitchFamily="34" charset="-120"/>
              </a:rPr>
              <a:t>Camera Capture</a:t>
            </a:r>
            <a:endParaRPr lang="en-US" sz="1300" dirty="0"/>
          </a:p>
        </p:txBody>
      </p:sp>
      <p:sp>
        <p:nvSpPr>
          <p:cNvPr id="9" name="Text 7"/>
          <p:cNvSpPr/>
          <p:nvPr/>
        </p:nvSpPr>
        <p:spPr>
          <a:xfrm>
            <a:off x="338328" y="2423160"/>
            <a:ext cx="1755648" cy="1508760"/>
          </a:xfrm>
          <a:prstGeom prst="rect">
            <a:avLst/>
          </a:prstGeom>
          <a:noFill/>
          <a:ln/>
        </p:spPr>
        <p:txBody>
          <a:bodyPr wrap="square" lIns="0" tIns="0" rIns="0" bIns="0" rtlCol="0" anchor="ctr"/>
          <a:lstStyle/>
          <a:p>
            <a:pPr algn="ctr" indent="0" marL="0">
              <a:buNone/>
            </a:pPr>
            <a:r>
              <a:rPr lang="en-US" sz="1100" dirty="0">
                <a:solidFill>
                  <a:srgbClr val="E8EEF4"/>
                </a:solidFill>
                <a:latin typeface="Calibri" pitchFamily="34" charset="0"/>
                <a:ea typeface="Calibri" pitchFamily="34" charset="-122"/>
                <a:cs typeface="Calibri" pitchFamily="34" charset="-120"/>
              </a:rPr>
              <a:t>Partial plate detected:</a:t>
            </a:r>
            <a:endParaRPr lang="en-US" sz="1100" dirty="0"/>
          </a:p>
          <a:p>
            <a:pPr algn="ctr" indent="0" marL="0">
              <a:buNone/>
            </a:pPr>
            <a:r>
              <a:rPr lang="en-US" sz="1100" dirty="0">
                <a:solidFill>
                  <a:srgbClr val="E8EEF4"/>
                </a:solidFill>
                <a:latin typeface="Calibri" pitchFamily="34" charset="0"/>
                <a:ea typeface="Calibri" pitchFamily="34" charset="-122"/>
                <a:cs typeface="Calibri" pitchFamily="34" charset="-120"/>
              </a:rPr>
              <a:t>KA 03 M_ _ _92</a:t>
            </a:r>
            <a:endParaRPr lang="en-US" sz="1100" dirty="0"/>
          </a:p>
          <a:p>
            <a:pPr algn="ctr" indent="0" marL="0">
              <a:buNone/>
            </a:pPr>
            <a:r>
              <a:rPr lang="en-US" sz="1100" dirty="0">
                <a:solidFill>
                  <a:srgbClr val="E8EEF4"/>
                </a:solidFill>
                <a:latin typeface="Calibri" pitchFamily="34" charset="0"/>
                <a:ea typeface="Calibri" pitchFamily="34" charset="-122"/>
                <a:cs typeface="Calibri" pitchFamily="34" charset="-120"/>
              </a:rPr>
              <a:t>(blurry / obscured)</a:t>
            </a:r>
            <a:endParaRPr lang="en-US" sz="1100" dirty="0"/>
          </a:p>
        </p:txBody>
      </p:sp>
      <p:sp>
        <p:nvSpPr>
          <p:cNvPr id="10" name="Shape 8"/>
          <p:cNvSpPr/>
          <p:nvPr/>
        </p:nvSpPr>
        <p:spPr>
          <a:xfrm>
            <a:off x="2240280" y="2606040"/>
            <a:ext cx="155448" cy="0"/>
          </a:xfrm>
          <a:prstGeom prst="line">
            <a:avLst/>
          </a:prstGeom>
          <a:noFill/>
          <a:ln w="25400">
            <a:solidFill>
              <a:srgbClr val="2E86C1"/>
            </a:solidFill>
            <a:prstDash val="solid"/>
          </a:ln>
        </p:spPr>
      </p:sp>
      <p:sp>
        <p:nvSpPr>
          <p:cNvPr id="11" name="Shape 9"/>
          <p:cNvSpPr/>
          <p:nvPr/>
        </p:nvSpPr>
        <p:spPr>
          <a:xfrm>
            <a:off x="2441448" y="1051560"/>
            <a:ext cx="1965960" cy="3108960"/>
          </a:xfrm>
          <a:prstGeom prst="roundRect">
            <a:avLst>
              <a:gd name="adj" fmla="val 4651"/>
            </a:avLst>
          </a:prstGeom>
          <a:solidFill>
            <a:srgbClr val="162840"/>
          </a:solidFill>
          <a:ln w="15240">
            <a:solidFill>
              <a:srgbClr val="D4A017"/>
            </a:solidFill>
            <a:prstDash val="solid"/>
          </a:ln>
          <a:effectLst>
            <a:outerShdw sx="100000" sy="100000" kx="0" ky="0" algn="bl" rotWithShape="0" blurRad="101600" dist="38100" dir="2700000">
              <a:srgbClr val="000000">
                <a:alpha val="18000"/>
              </a:srgbClr>
            </a:outerShdw>
          </a:effectLst>
        </p:spPr>
      </p:sp>
      <p:sp>
        <p:nvSpPr>
          <p:cNvPr id="12" name="Shape 10"/>
          <p:cNvSpPr/>
          <p:nvPr/>
        </p:nvSpPr>
        <p:spPr>
          <a:xfrm>
            <a:off x="3081528" y="1170432"/>
            <a:ext cx="685800" cy="685800"/>
          </a:xfrm>
          <a:prstGeom prst="ellipse">
            <a:avLst/>
          </a:prstGeom>
          <a:solidFill>
            <a:srgbClr val="D4A017">
              <a:alpha val="80000"/>
            </a:srgbClr>
          </a:solidFill>
          <a:ln w="19050">
            <a:solidFill>
              <a:srgbClr val="D4A017"/>
            </a:solidFill>
            <a:prstDash val="solid"/>
          </a:ln>
        </p:spPr>
      </p:sp>
      <p:sp>
        <p:nvSpPr>
          <p:cNvPr id="13" name="Text 11"/>
          <p:cNvSpPr/>
          <p:nvPr/>
        </p:nvSpPr>
        <p:spPr>
          <a:xfrm>
            <a:off x="3081528" y="1170432"/>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02</a:t>
            </a:r>
            <a:endParaRPr lang="en-US" sz="1800" dirty="0"/>
          </a:p>
        </p:txBody>
      </p:sp>
      <p:sp>
        <p:nvSpPr>
          <p:cNvPr id="14" name="Text 12"/>
          <p:cNvSpPr/>
          <p:nvPr/>
        </p:nvSpPr>
        <p:spPr>
          <a:xfrm>
            <a:off x="2551176" y="1965960"/>
            <a:ext cx="1755648" cy="411480"/>
          </a:xfrm>
          <a:prstGeom prst="rect">
            <a:avLst/>
          </a:prstGeom>
          <a:noFill/>
          <a:ln/>
        </p:spPr>
        <p:txBody>
          <a:bodyPr wrap="square" lIns="0" tIns="0" rIns="0" bIns="0" rtlCol="0" anchor="ctr"/>
          <a:lstStyle/>
          <a:p>
            <a:pPr algn="ctr" indent="0" marL="0">
              <a:buNone/>
            </a:pPr>
            <a:r>
              <a:rPr lang="en-US" sz="1300" b="1" dirty="0">
                <a:solidFill>
                  <a:srgbClr val="D4A017"/>
                </a:solidFill>
                <a:latin typeface="Cambria" pitchFamily="34" charset="0"/>
                <a:ea typeface="Cambria" pitchFamily="34" charset="-122"/>
                <a:cs typeface="Cambria" pitchFamily="34" charset="-120"/>
              </a:rPr>
              <a:t>Feature Extract</a:t>
            </a:r>
            <a:endParaRPr lang="en-US" sz="1300" dirty="0"/>
          </a:p>
        </p:txBody>
      </p:sp>
      <p:sp>
        <p:nvSpPr>
          <p:cNvPr id="15" name="Text 13"/>
          <p:cNvSpPr/>
          <p:nvPr/>
        </p:nvSpPr>
        <p:spPr>
          <a:xfrm>
            <a:off x="2551176" y="2423160"/>
            <a:ext cx="1755648" cy="1508760"/>
          </a:xfrm>
          <a:prstGeom prst="rect">
            <a:avLst/>
          </a:prstGeom>
          <a:noFill/>
          <a:ln/>
        </p:spPr>
        <p:txBody>
          <a:bodyPr wrap="square" lIns="0" tIns="0" rIns="0" bIns="0" rtlCol="0" anchor="ctr"/>
          <a:lstStyle/>
          <a:p>
            <a:pPr algn="ctr" indent="0" marL="0">
              <a:buNone/>
            </a:pPr>
            <a:r>
              <a:rPr lang="en-US" sz="1100" dirty="0">
                <a:solidFill>
                  <a:srgbClr val="E8EEF4"/>
                </a:solidFill>
                <a:latin typeface="Calibri" pitchFamily="34" charset="0"/>
                <a:ea typeface="Calibri" pitchFamily="34" charset="-122"/>
                <a:cs typeface="Calibri" pitchFamily="34" charset="-120"/>
              </a:rPr>
              <a:t>YOLO → Vehicle Type: Hatchback</a:t>
            </a:r>
            <a:endParaRPr lang="en-US" sz="1100" dirty="0"/>
          </a:p>
          <a:p>
            <a:pPr algn="ctr" indent="0" marL="0">
              <a:buNone/>
            </a:pPr>
            <a:r>
              <a:rPr lang="en-US" sz="1100" dirty="0">
                <a:solidFill>
                  <a:srgbClr val="E8EEF4"/>
                </a:solidFill>
                <a:latin typeface="Calibri" pitchFamily="34" charset="0"/>
                <a:ea typeface="Calibri" pitchFamily="34" charset="-122"/>
                <a:cs typeface="Calibri" pitchFamily="34" charset="-120"/>
              </a:rPr>
              <a:t>HSV Histogram → Color: Red</a:t>
            </a:r>
            <a:endParaRPr lang="en-US" sz="1100" dirty="0"/>
          </a:p>
          <a:p>
            <a:pPr algn="ctr" indent="0" marL="0">
              <a:buNone/>
            </a:pPr>
            <a:r>
              <a:rPr lang="en-US" sz="1100" dirty="0">
                <a:solidFill>
                  <a:srgbClr val="E8EEF4"/>
                </a:solidFill>
                <a:latin typeface="Calibri" pitchFamily="34" charset="0"/>
                <a:ea typeface="Calibri" pitchFamily="34" charset="-122"/>
                <a:cs typeface="Calibri" pitchFamily="34" charset="-120"/>
              </a:rPr>
              <a:t>OCR → KA03M??92</a:t>
            </a:r>
            <a:endParaRPr lang="en-US" sz="1100" dirty="0"/>
          </a:p>
        </p:txBody>
      </p:sp>
      <p:sp>
        <p:nvSpPr>
          <p:cNvPr id="16" name="Shape 14"/>
          <p:cNvSpPr/>
          <p:nvPr/>
        </p:nvSpPr>
        <p:spPr>
          <a:xfrm>
            <a:off x="4453128" y="2606040"/>
            <a:ext cx="155448" cy="0"/>
          </a:xfrm>
          <a:prstGeom prst="line">
            <a:avLst/>
          </a:prstGeom>
          <a:noFill/>
          <a:ln w="25400">
            <a:solidFill>
              <a:srgbClr val="2E86C1"/>
            </a:solidFill>
            <a:prstDash val="solid"/>
          </a:ln>
        </p:spPr>
      </p:sp>
      <p:sp>
        <p:nvSpPr>
          <p:cNvPr id="17" name="Shape 15"/>
          <p:cNvSpPr/>
          <p:nvPr/>
        </p:nvSpPr>
        <p:spPr>
          <a:xfrm>
            <a:off x="4654296" y="1051560"/>
            <a:ext cx="1965960" cy="3108960"/>
          </a:xfrm>
          <a:prstGeom prst="roundRect">
            <a:avLst>
              <a:gd name="adj" fmla="val 4651"/>
            </a:avLst>
          </a:prstGeom>
          <a:solidFill>
            <a:srgbClr val="162840"/>
          </a:solidFill>
          <a:ln w="15240">
            <a:solidFill>
              <a:srgbClr val="2E86C1"/>
            </a:solidFill>
            <a:prstDash val="solid"/>
          </a:ln>
          <a:effectLst>
            <a:outerShdw sx="100000" sy="100000" kx="0" ky="0" algn="bl" rotWithShape="0" blurRad="101600" dist="38100" dir="2700000">
              <a:srgbClr val="000000">
                <a:alpha val="18000"/>
              </a:srgbClr>
            </a:outerShdw>
          </a:effectLst>
        </p:spPr>
      </p:sp>
      <p:sp>
        <p:nvSpPr>
          <p:cNvPr id="18" name="Shape 16"/>
          <p:cNvSpPr/>
          <p:nvPr/>
        </p:nvSpPr>
        <p:spPr>
          <a:xfrm>
            <a:off x="5294376" y="1170432"/>
            <a:ext cx="685800" cy="685800"/>
          </a:xfrm>
          <a:prstGeom prst="ellipse">
            <a:avLst/>
          </a:prstGeom>
          <a:solidFill>
            <a:srgbClr val="2E86C1">
              <a:alpha val="80000"/>
            </a:srgbClr>
          </a:solidFill>
          <a:ln w="19050">
            <a:solidFill>
              <a:srgbClr val="2E86C1"/>
            </a:solidFill>
            <a:prstDash val="solid"/>
          </a:ln>
        </p:spPr>
      </p:sp>
      <p:sp>
        <p:nvSpPr>
          <p:cNvPr id="19" name="Text 17"/>
          <p:cNvSpPr/>
          <p:nvPr/>
        </p:nvSpPr>
        <p:spPr>
          <a:xfrm>
            <a:off x="5294376" y="1170432"/>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03</a:t>
            </a:r>
            <a:endParaRPr lang="en-US" sz="1800" dirty="0"/>
          </a:p>
        </p:txBody>
      </p:sp>
      <p:sp>
        <p:nvSpPr>
          <p:cNvPr id="20" name="Text 18"/>
          <p:cNvSpPr/>
          <p:nvPr/>
        </p:nvSpPr>
        <p:spPr>
          <a:xfrm>
            <a:off x="4764024" y="1965960"/>
            <a:ext cx="1755648" cy="411480"/>
          </a:xfrm>
          <a:prstGeom prst="rect">
            <a:avLst/>
          </a:prstGeom>
          <a:noFill/>
          <a:ln/>
        </p:spPr>
        <p:txBody>
          <a:bodyPr wrap="square" lIns="0" tIns="0" rIns="0" bIns="0" rtlCol="0" anchor="ctr"/>
          <a:lstStyle/>
          <a:p>
            <a:pPr algn="ctr" indent="0" marL="0">
              <a:buNone/>
            </a:pPr>
            <a:r>
              <a:rPr lang="en-US" sz="1300" b="1" dirty="0">
                <a:solidFill>
                  <a:srgbClr val="2E86C1"/>
                </a:solidFill>
                <a:latin typeface="Cambria" pitchFamily="34" charset="0"/>
                <a:ea typeface="Cambria" pitchFamily="34" charset="-122"/>
                <a:cs typeface="Cambria" pitchFamily="34" charset="-120"/>
              </a:rPr>
              <a:t>DB Query + Rank</a:t>
            </a:r>
            <a:endParaRPr lang="en-US" sz="1300" dirty="0"/>
          </a:p>
        </p:txBody>
      </p:sp>
      <p:sp>
        <p:nvSpPr>
          <p:cNvPr id="21" name="Text 19"/>
          <p:cNvSpPr/>
          <p:nvPr/>
        </p:nvSpPr>
        <p:spPr>
          <a:xfrm>
            <a:off x="4764024" y="2423160"/>
            <a:ext cx="1755648" cy="1508760"/>
          </a:xfrm>
          <a:prstGeom prst="rect">
            <a:avLst/>
          </a:prstGeom>
          <a:noFill/>
          <a:ln/>
        </p:spPr>
        <p:txBody>
          <a:bodyPr wrap="square" lIns="0" tIns="0" rIns="0" bIns="0" rtlCol="0" anchor="ctr"/>
          <a:lstStyle/>
          <a:p>
            <a:pPr algn="ctr" indent="0" marL="0">
              <a:buNone/>
            </a:pPr>
            <a:r>
              <a:rPr lang="en-US" sz="1100" dirty="0">
                <a:solidFill>
                  <a:srgbClr val="E8EEF4"/>
                </a:solidFill>
                <a:latin typeface="Calibri" pitchFamily="34" charset="0"/>
                <a:ea typeface="Calibri" pitchFamily="34" charset="-122"/>
                <a:cs typeface="Calibri" pitchFamily="34" charset="-120"/>
              </a:rPr>
              <a:t>Regex match on partial chars</a:t>
            </a:r>
            <a:endParaRPr lang="en-US" sz="1100" dirty="0"/>
          </a:p>
          <a:p>
            <a:pPr algn="ctr" indent="0" marL="0">
              <a:buNone/>
            </a:pPr>
            <a:r>
              <a:rPr lang="en-US" sz="1100" dirty="0">
                <a:solidFill>
                  <a:srgbClr val="E8EEF4"/>
                </a:solidFill>
                <a:latin typeface="Calibri" pitchFamily="34" charset="0"/>
                <a:ea typeface="Calibri" pitchFamily="34" charset="-122"/>
                <a:cs typeface="Calibri" pitchFamily="34" charset="-120"/>
              </a:rPr>
              <a:t>+ filter by vehicle class</a:t>
            </a:r>
            <a:endParaRPr lang="en-US" sz="1100" dirty="0"/>
          </a:p>
          <a:p>
            <a:pPr algn="ctr" indent="0" marL="0">
              <a:buNone/>
            </a:pPr>
            <a:r>
              <a:rPr lang="en-US" sz="1100" dirty="0">
                <a:solidFill>
                  <a:srgbClr val="E8EEF4"/>
                </a:solidFill>
                <a:latin typeface="Calibri" pitchFamily="34" charset="0"/>
                <a:ea typeface="Calibri" pitchFamily="34" charset="-122"/>
                <a:cs typeface="Calibri" pitchFamily="34" charset="-120"/>
              </a:rPr>
              <a:t>+ filter by color</a:t>
            </a:r>
            <a:endParaRPr lang="en-US" sz="1100" dirty="0"/>
          </a:p>
        </p:txBody>
      </p:sp>
      <p:sp>
        <p:nvSpPr>
          <p:cNvPr id="22" name="Shape 20"/>
          <p:cNvSpPr/>
          <p:nvPr/>
        </p:nvSpPr>
        <p:spPr>
          <a:xfrm>
            <a:off x="6665976" y="2606040"/>
            <a:ext cx="155448" cy="0"/>
          </a:xfrm>
          <a:prstGeom prst="line">
            <a:avLst/>
          </a:prstGeom>
          <a:noFill/>
          <a:ln w="25400">
            <a:solidFill>
              <a:srgbClr val="2E86C1"/>
            </a:solidFill>
            <a:prstDash val="solid"/>
          </a:ln>
        </p:spPr>
      </p:sp>
      <p:sp>
        <p:nvSpPr>
          <p:cNvPr id="23" name="Shape 21"/>
          <p:cNvSpPr/>
          <p:nvPr/>
        </p:nvSpPr>
        <p:spPr>
          <a:xfrm>
            <a:off x="6867144" y="1051560"/>
            <a:ext cx="1965960" cy="3108960"/>
          </a:xfrm>
          <a:prstGeom prst="roundRect">
            <a:avLst>
              <a:gd name="adj" fmla="val 4651"/>
            </a:avLst>
          </a:prstGeom>
          <a:solidFill>
            <a:srgbClr val="162840"/>
          </a:solidFill>
          <a:ln w="15240">
            <a:solidFill>
              <a:srgbClr val="27AE60"/>
            </a:solidFill>
            <a:prstDash val="solid"/>
          </a:ln>
          <a:effectLst>
            <a:outerShdw sx="100000" sy="100000" kx="0" ky="0" algn="bl" rotWithShape="0" blurRad="101600" dist="38100" dir="2700000">
              <a:srgbClr val="000000">
                <a:alpha val="18000"/>
              </a:srgbClr>
            </a:outerShdw>
          </a:effectLst>
        </p:spPr>
      </p:sp>
      <p:sp>
        <p:nvSpPr>
          <p:cNvPr id="24" name="Shape 22"/>
          <p:cNvSpPr/>
          <p:nvPr/>
        </p:nvSpPr>
        <p:spPr>
          <a:xfrm>
            <a:off x="7507224" y="1170432"/>
            <a:ext cx="685800" cy="685800"/>
          </a:xfrm>
          <a:prstGeom prst="ellipse">
            <a:avLst/>
          </a:prstGeom>
          <a:solidFill>
            <a:srgbClr val="27AE60">
              <a:alpha val="80000"/>
            </a:srgbClr>
          </a:solidFill>
          <a:ln w="19050">
            <a:solidFill>
              <a:srgbClr val="27AE60"/>
            </a:solidFill>
            <a:prstDash val="solid"/>
          </a:ln>
        </p:spPr>
      </p:sp>
      <p:sp>
        <p:nvSpPr>
          <p:cNvPr id="25" name="Text 23"/>
          <p:cNvSpPr/>
          <p:nvPr/>
        </p:nvSpPr>
        <p:spPr>
          <a:xfrm>
            <a:off x="7507224" y="1170432"/>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04</a:t>
            </a:r>
            <a:endParaRPr lang="en-US" sz="1800" dirty="0"/>
          </a:p>
        </p:txBody>
      </p:sp>
      <p:sp>
        <p:nvSpPr>
          <p:cNvPr id="26" name="Text 24"/>
          <p:cNvSpPr/>
          <p:nvPr/>
        </p:nvSpPr>
        <p:spPr>
          <a:xfrm>
            <a:off x="6976872" y="1965960"/>
            <a:ext cx="1755648" cy="411480"/>
          </a:xfrm>
          <a:prstGeom prst="rect">
            <a:avLst/>
          </a:prstGeom>
          <a:noFill/>
          <a:ln/>
        </p:spPr>
        <p:txBody>
          <a:bodyPr wrap="square" lIns="0" tIns="0" rIns="0" bIns="0" rtlCol="0" anchor="ctr"/>
          <a:lstStyle/>
          <a:p>
            <a:pPr algn="ctr" indent="0" marL="0">
              <a:buNone/>
            </a:pPr>
            <a:r>
              <a:rPr lang="en-US" sz="1300" b="1" dirty="0">
                <a:solidFill>
                  <a:srgbClr val="27AE60"/>
                </a:solidFill>
                <a:latin typeface="Cambria" pitchFamily="34" charset="0"/>
                <a:ea typeface="Cambria" pitchFamily="34" charset="-122"/>
                <a:cs typeface="Cambria" pitchFamily="34" charset="-120"/>
              </a:rPr>
              <a:t>Identity Resolved</a:t>
            </a:r>
            <a:endParaRPr lang="en-US" sz="1300" dirty="0"/>
          </a:p>
        </p:txBody>
      </p:sp>
      <p:sp>
        <p:nvSpPr>
          <p:cNvPr id="27" name="Text 25"/>
          <p:cNvSpPr/>
          <p:nvPr/>
        </p:nvSpPr>
        <p:spPr>
          <a:xfrm>
            <a:off x="6976872" y="2423160"/>
            <a:ext cx="1755648" cy="1508760"/>
          </a:xfrm>
          <a:prstGeom prst="rect">
            <a:avLst/>
          </a:prstGeom>
          <a:noFill/>
          <a:ln/>
        </p:spPr>
        <p:txBody>
          <a:bodyPr wrap="square" lIns="0" tIns="0" rIns="0" bIns="0" rtlCol="0" anchor="ctr"/>
          <a:lstStyle/>
          <a:p>
            <a:pPr algn="ctr" indent="0" marL="0">
              <a:buNone/>
            </a:pPr>
            <a:r>
              <a:rPr lang="en-US" sz="1100" dirty="0">
                <a:solidFill>
                  <a:srgbClr val="E8EEF4"/>
                </a:solidFill>
                <a:latin typeface="Calibri" pitchFamily="34" charset="0"/>
                <a:ea typeface="Calibri" pitchFamily="34" charset="-122"/>
                <a:cs typeface="Calibri" pitchFamily="34" charset="-120"/>
              </a:rPr>
              <a:t>KA 03 MD 8292</a:t>
            </a:r>
            <a:endParaRPr lang="en-US" sz="1100" dirty="0"/>
          </a:p>
          <a:p>
            <a:pPr algn="ctr" indent="0" marL="0">
              <a:buNone/>
            </a:pPr>
            <a:r>
              <a:rPr lang="en-US" sz="1100" dirty="0">
                <a:solidFill>
                  <a:srgbClr val="E8EEF4"/>
                </a:solidFill>
                <a:latin typeface="Calibri" pitchFamily="34" charset="0"/>
                <a:ea typeface="Calibri" pitchFamily="34" charset="-122"/>
                <a:cs typeface="Calibri" pitchFamily="34" charset="-120"/>
              </a:rPr>
              <a:t>Confidence: HIGH ✓</a:t>
            </a:r>
            <a:endParaRPr lang="en-US" sz="1100" dirty="0"/>
          </a:p>
          <a:p>
            <a:pPr algn="ctr" indent="0" marL="0">
              <a:buNone/>
            </a:pPr>
            <a:r>
              <a:rPr lang="en-US" sz="1100" dirty="0">
                <a:solidFill>
                  <a:srgbClr val="E8EEF4"/>
                </a:solidFill>
                <a:latin typeface="Calibri" pitchFamily="34" charset="0"/>
                <a:ea typeface="Calibri" pitchFamily="34" charset="-122"/>
                <a:cs typeface="Calibri" pitchFamily="34" charset="-120"/>
              </a:rPr>
              <a:t>Challan issued automatically</a:t>
            </a:r>
            <a:endParaRPr lang="en-US" sz="1100" dirty="0"/>
          </a:p>
        </p:txBody>
      </p:sp>
      <p:sp>
        <p:nvSpPr>
          <p:cNvPr id="28" name="Shape 26"/>
          <p:cNvSpPr/>
          <p:nvPr/>
        </p:nvSpPr>
        <p:spPr>
          <a:xfrm>
            <a:off x="274320" y="4315968"/>
            <a:ext cx="2651760" cy="658368"/>
          </a:xfrm>
          <a:prstGeom prst="roundRect">
            <a:avLst>
              <a:gd name="adj" fmla="val 11111"/>
            </a:avLst>
          </a:prstGeom>
          <a:solidFill>
            <a:srgbClr val="1A3353"/>
          </a:solidFill>
          <a:ln w="10160">
            <a:solidFill>
              <a:srgbClr val="1B5E8C"/>
            </a:solidFill>
            <a:prstDash val="solid"/>
          </a:ln>
        </p:spPr>
      </p:sp>
      <p:pic>
        <p:nvPicPr>
          <p:cNvPr id="29" name="Image 0" descr="preencoded.png">    </p:cNvPr>
          <p:cNvPicPr>
            <a:picLocks noChangeAspect="1"/>
          </p:cNvPicPr>
          <p:nvPr/>
        </p:nvPicPr>
        <p:blipFill>
          <a:blip r:embed="rId1"/>
          <a:stretch>
            <a:fillRect/>
          </a:stretch>
        </p:blipFill>
        <p:spPr>
          <a:xfrm>
            <a:off x="402336" y="4434840"/>
            <a:ext cx="384048" cy="384048"/>
          </a:xfrm>
          <a:prstGeom prst="rect">
            <a:avLst/>
          </a:prstGeom>
        </p:spPr>
      </p:pic>
      <p:sp>
        <p:nvSpPr>
          <p:cNvPr id="30" name="Text 27"/>
          <p:cNvSpPr/>
          <p:nvPr/>
        </p:nvSpPr>
        <p:spPr>
          <a:xfrm>
            <a:off x="868680" y="4352544"/>
            <a:ext cx="1965960" cy="256032"/>
          </a:xfrm>
          <a:prstGeom prst="rect">
            <a:avLst/>
          </a:prstGeom>
          <a:noFill/>
          <a:ln/>
        </p:spPr>
        <p:txBody>
          <a:bodyPr wrap="square" lIns="0" tIns="0" rIns="0" bIns="0" rtlCol="0" anchor="ctr"/>
          <a:lstStyle/>
          <a:p>
            <a:pPr indent="0" marL="0">
              <a:buNone/>
            </a:pPr>
            <a:r>
              <a:rPr lang="en-US" sz="1100" b="1" dirty="0">
                <a:solidFill>
                  <a:srgbClr val="D4A017"/>
                </a:solidFill>
                <a:latin typeface="Cambria" pitchFamily="34" charset="0"/>
                <a:ea typeface="Cambria" pitchFamily="34" charset="-122"/>
                <a:cs typeface="Cambria" pitchFamily="34" charset="-120"/>
              </a:rPr>
              <a:t>Visual Extraction</a:t>
            </a:r>
            <a:endParaRPr lang="en-US" sz="1100" dirty="0"/>
          </a:p>
        </p:txBody>
      </p:sp>
      <p:sp>
        <p:nvSpPr>
          <p:cNvPr id="31" name="Text 28"/>
          <p:cNvSpPr/>
          <p:nvPr/>
        </p:nvSpPr>
        <p:spPr>
          <a:xfrm>
            <a:off x="868680" y="4599432"/>
            <a:ext cx="1965960" cy="292608"/>
          </a:xfrm>
          <a:prstGeom prst="rect">
            <a:avLst/>
          </a:prstGeom>
          <a:noFill/>
          <a:ln/>
        </p:spPr>
        <p:txBody>
          <a:bodyPr wrap="square" lIns="0" tIns="0" rIns="0" bIns="0" rtlCol="0" anchor="ctr"/>
          <a:lstStyle/>
          <a:p>
            <a:pPr indent="0" marL="0">
              <a:buNone/>
            </a:pPr>
            <a:r>
              <a:rPr lang="en-US" sz="950" dirty="0">
                <a:solidFill>
                  <a:srgbClr val="B8C9D6"/>
                </a:solidFill>
                <a:latin typeface="Calibri" pitchFamily="34" charset="0"/>
                <a:ea typeface="Calibri" pitchFamily="34" charset="-122"/>
                <a:cs typeface="Calibri" pitchFamily="34" charset="-120"/>
              </a:rPr>
              <a:t>YOLO vehicle type + HSV histogram color analysis</a:t>
            </a:r>
            <a:endParaRPr lang="en-US" sz="950" dirty="0"/>
          </a:p>
        </p:txBody>
      </p:sp>
      <p:sp>
        <p:nvSpPr>
          <p:cNvPr id="32" name="Shape 29"/>
          <p:cNvSpPr/>
          <p:nvPr/>
        </p:nvSpPr>
        <p:spPr>
          <a:xfrm>
            <a:off x="3227832" y="4315968"/>
            <a:ext cx="2651760" cy="658368"/>
          </a:xfrm>
          <a:prstGeom prst="roundRect">
            <a:avLst>
              <a:gd name="adj" fmla="val 11111"/>
            </a:avLst>
          </a:prstGeom>
          <a:solidFill>
            <a:srgbClr val="1A3353"/>
          </a:solidFill>
          <a:ln w="10160">
            <a:solidFill>
              <a:srgbClr val="1B5E8C"/>
            </a:solidFill>
            <a:prstDash val="solid"/>
          </a:ln>
        </p:spPr>
      </p:sp>
      <p:pic>
        <p:nvPicPr>
          <p:cNvPr id="33" name="Image 1" descr="preencoded.png">    </p:cNvPr>
          <p:cNvPicPr>
            <a:picLocks noChangeAspect="1"/>
          </p:cNvPicPr>
          <p:nvPr/>
        </p:nvPicPr>
        <p:blipFill>
          <a:blip r:embed="rId2"/>
          <a:stretch>
            <a:fillRect/>
          </a:stretch>
        </p:blipFill>
        <p:spPr>
          <a:xfrm>
            <a:off x="3355848" y="4434840"/>
            <a:ext cx="384048" cy="384048"/>
          </a:xfrm>
          <a:prstGeom prst="rect">
            <a:avLst/>
          </a:prstGeom>
        </p:spPr>
      </p:pic>
      <p:sp>
        <p:nvSpPr>
          <p:cNvPr id="34" name="Text 30"/>
          <p:cNvSpPr/>
          <p:nvPr/>
        </p:nvSpPr>
        <p:spPr>
          <a:xfrm>
            <a:off x="3822192" y="4352544"/>
            <a:ext cx="1965960" cy="256032"/>
          </a:xfrm>
          <a:prstGeom prst="rect">
            <a:avLst/>
          </a:prstGeom>
          <a:noFill/>
          <a:ln/>
        </p:spPr>
        <p:txBody>
          <a:bodyPr wrap="square" lIns="0" tIns="0" rIns="0" bIns="0" rtlCol="0" anchor="ctr"/>
          <a:lstStyle/>
          <a:p>
            <a:pPr indent="0" marL="0">
              <a:buNone/>
            </a:pPr>
            <a:r>
              <a:rPr lang="en-US" sz="1100" b="1" dirty="0">
                <a:solidFill>
                  <a:srgbClr val="D4A017"/>
                </a:solidFill>
                <a:latin typeface="Cambria" pitchFamily="34" charset="0"/>
                <a:ea typeface="Cambria" pitchFamily="34" charset="-122"/>
                <a:cs typeface="Cambria" pitchFamily="34" charset="-120"/>
              </a:rPr>
              <a:t>Regex Recovery</a:t>
            </a:r>
            <a:endParaRPr lang="en-US" sz="1100" dirty="0"/>
          </a:p>
        </p:txBody>
      </p:sp>
      <p:sp>
        <p:nvSpPr>
          <p:cNvPr id="35" name="Text 31"/>
          <p:cNvSpPr/>
          <p:nvPr/>
        </p:nvSpPr>
        <p:spPr>
          <a:xfrm>
            <a:off x="3822192" y="4599432"/>
            <a:ext cx="1965960" cy="292608"/>
          </a:xfrm>
          <a:prstGeom prst="rect">
            <a:avLst/>
          </a:prstGeom>
          <a:noFill/>
          <a:ln/>
        </p:spPr>
        <p:txBody>
          <a:bodyPr wrap="square" lIns="0" tIns="0" rIns="0" bIns="0" rtlCol="0" anchor="ctr"/>
          <a:lstStyle/>
          <a:p>
            <a:pPr indent="0" marL="0">
              <a:buNone/>
            </a:pPr>
            <a:r>
              <a:rPr lang="en-US" sz="950" dirty="0">
                <a:solidFill>
                  <a:srgbClr val="B8C9D6"/>
                </a:solidFill>
                <a:latin typeface="Calibri" pitchFamily="34" charset="0"/>
                <a:ea typeface="Calibri" pitchFamily="34" charset="-122"/>
                <a:cs typeface="Calibri" pitchFamily="34" charset="-120"/>
              </a:rPr>
              <a:t>State-code pattern matching — KA, MH, TN, DL, etc.</a:t>
            </a:r>
            <a:endParaRPr lang="en-US" sz="950" dirty="0"/>
          </a:p>
        </p:txBody>
      </p:sp>
      <p:sp>
        <p:nvSpPr>
          <p:cNvPr id="36" name="Shape 32"/>
          <p:cNvSpPr/>
          <p:nvPr/>
        </p:nvSpPr>
        <p:spPr>
          <a:xfrm>
            <a:off x="6181344" y="4315968"/>
            <a:ext cx="2651760" cy="658368"/>
          </a:xfrm>
          <a:prstGeom prst="roundRect">
            <a:avLst>
              <a:gd name="adj" fmla="val 11111"/>
            </a:avLst>
          </a:prstGeom>
          <a:solidFill>
            <a:srgbClr val="1A3353"/>
          </a:solidFill>
          <a:ln w="10160">
            <a:solidFill>
              <a:srgbClr val="1B5E8C"/>
            </a:solidFill>
            <a:prstDash val="solid"/>
          </a:ln>
        </p:spPr>
      </p:sp>
      <p:pic>
        <p:nvPicPr>
          <p:cNvPr id="37" name="Image 2" descr="preencoded.png">    </p:cNvPr>
          <p:cNvPicPr>
            <a:picLocks noChangeAspect="1"/>
          </p:cNvPicPr>
          <p:nvPr/>
        </p:nvPicPr>
        <p:blipFill>
          <a:blip r:embed="rId3"/>
          <a:stretch>
            <a:fillRect/>
          </a:stretch>
        </p:blipFill>
        <p:spPr>
          <a:xfrm>
            <a:off x="6309360" y="4434840"/>
            <a:ext cx="384048" cy="384048"/>
          </a:xfrm>
          <a:prstGeom prst="rect">
            <a:avLst/>
          </a:prstGeom>
        </p:spPr>
      </p:pic>
      <p:sp>
        <p:nvSpPr>
          <p:cNvPr id="38" name="Text 33"/>
          <p:cNvSpPr/>
          <p:nvPr/>
        </p:nvSpPr>
        <p:spPr>
          <a:xfrm>
            <a:off x="6775704" y="4352544"/>
            <a:ext cx="1965960" cy="256032"/>
          </a:xfrm>
          <a:prstGeom prst="rect">
            <a:avLst/>
          </a:prstGeom>
          <a:noFill/>
          <a:ln/>
        </p:spPr>
        <p:txBody>
          <a:bodyPr wrap="square" lIns="0" tIns="0" rIns="0" bIns="0" rtlCol="0" anchor="ctr"/>
          <a:lstStyle/>
          <a:p>
            <a:pPr indent="0" marL="0">
              <a:buNone/>
            </a:pPr>
            <a:r>
              <a:rPr lang="en-US" sz="1100" b="1" dirty="0">
                <a:solidFill>
                  <a:srgbClr val="D4A017"/>
                </a:solidFill>
                <a:latin typeface="Cambria" pitchFamily="34" charset="0"/>
                <a:ea typeface="Cambria" pitchFamily="34" charset="-122"/>
                <a:cs typeface="Cambria" pitchFamily="34" charset="-120"/>
              </a:rPr>
              <a:t>Candidate Ranking</a:t>
            </a:r>
            <a:endParaRPr lang="en-US" sz="1100" dirty="0"/>
          </a:p>
        </p:txBody>
      </p:sp>
      <p:sp>
        <p:nvSpPr>
          <p:cNvPr id="39" name="Text 34"/>
          <p:cNvSpPr/>
          <p:nvPr/>
        </p:nvSpPr>
        <p:spPr>
          <a:xfrm>
            <a:off x="6775704" y="4599432"/>
            <a:ext cx="1965960" cy="292608"/>
          </a:xfrm>
          <a:prstGeom prst="rect">
            <a:avLst/>
          </a:prstGeom>
          <a:noFill/>
          <a:ln/>
        </p:spPr>
        <p:txBody>
          <a:bodyPr wrap="square" lIns="0" tIns="0" rIns="0" bIns="0" rtlCol="0" anchor="ctr"/>
          <a:lstStyle/>
          <a:p>
            <a:pPr indent="0" marL="0">
              <a:buNone/>
            </a:pPr>
            <a:r>
              <a:rPr lang="en-US" sz="950" dirty="0">
                <a:solidFill>
                  <a:srgbClr val="B8C9D6"/>
                </a:solidFill>
                <a:latin typeface="Calibri" pitchFamily="34" charset="0"/>
                <a:ea typeface="Calibri" pitchFamily="34" charset="-122"/>
                <a:cs typeface="Calibri" pitchFamily="34" charset="-120"/>
              </a:rPr>
              <a:t>DB query on partial chars → filtered by type &amp; color</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sp>
      <p:sp>
        <p:nvSpPr>
          <p:cNvPr id="3" name="Text 1"/>
          <p:cNvSpPr/>
          <p:nvPr/>
        </p:nvSpPr>
        <p:spPr>
          <a:xfrm>
            <a:off x="365760" y="73152"/>
            <a:ext cx="2743200" cy="274320"/>
          </a:xfrm>
          <a:prstGeom prst="rect">
            <a:avLst/>
          </a:prstGeom>
          <a:noFill/>
          <a:ln/>
        </p:spPr>
        <p:txBody>
          <a:bodyPr wrap="square" lIns="0" tIns="0" rIns="0" bIns="0" rtlCol="0" anchor="ctr"/>
          <a:lstStyle/>
          <a:p>
            <a:pPr indent="0" marL="0">
              <a:buNone/>
            </a:pPr>
            <a:r>
              <a:rPr lang="en-US" sz="1000" b="1" spc="300" kern="0" dirty="0">
                <a:solidFill>
                  <a:srgbClr val="D4A017"/>
                </a:solidFill>
                <a:latin typeface="Calibri" pitchFamily="34" charset="0"/>
                <a:ea typeface="Calibri" pitchFamily="34" charset="-122"/>
                <a:cs typeface="Calibri" pitchFamily="34" charset="-120"/>
              </a:rPr>
              <a:t>DIFFERENTIATION</a:t>
            </a:r>
            <a:endParaRPr lang="en-US" sz="1000" dirty="0"/>
          </a:p>
        </p:txBody>
      </p:sp>
      <p:sp>
        <p:nvSpPr>
          <p:cNvPr id="4" name="Text 2"/>
          <p:cNvSpPr/>
          <p:nvPr/>
        </p:nvSpPr>
        <p:spPr>
          <a:xfrm>
            <a:off x="365760" y="365760"/>
            <a:ext cx="822960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Five Core Unique Selling Propositions</a:t>
            </a:r>
            <a:endParaRPr lang="en-US" sz="2600" dirty="0"/>
          </a:p>
        </p:txBody>
      </p:sp>
      <p:sp>
        <p:nvSpPr>
          <p:cNvPr id="5" name="Shape 3"/>
          <p:cNvSpPr/>
          <p:nvPr/>
        </p:nvSpPr>
        <p:spPr>
          <a:xfrm>
            <a:off x="256032" y="1097280"/>
            <a:ext cx="1554480" cy="3822192"/>
          </a:xfrm>
          <a:prstGeom prst="roundRect">
            <a:avLst>
              <a:gd name="adj" fmla="val 5882"/>
            </a:avLst>
          </a:prstGeom>
          <a:solidFill>
            <a:srgbClr val="FFFFFF"/>
          </a:solidFill>
          <a:ln w="12700">
            <a:solidFill>
              <a:srgbClr val="DDE4EC"/>
            </a:solidFill>
            <a:prstDash val="solid"/>
          </a:ln>
          <a:effectLst>
            <a:outerShdw sx="100000" sy="100000" kx="0" ky="0" algn="bl" rotWithShape="0" blurRad="152400" dist="50800" dir="2700000">
              <a:srgbClr val="000000">
                <a:alpha val="22000"/>
              </a:srgbClr>
            </a:outerShdw>
          </a:effectLst>
        </p:spPr>
      </p:sp>
      <p:sp>
        <p:nvSpPr>
          <p:cNvPr id="6" name="Shape 4"/>
          <p:cNvSpPr/>
          <p:nvPr/>
        </p:nvSpPr>
        <p:spPr>
          <a:xfrm>
            <a:off x="256032" y="1097280"/>
            <a:ext cx="1554480" cy="1188720"/>
          </a:xfrm>
          <a:prstGeom prst="roundRect">
            <a:avLst>
              <a:gd name="adj" fmla="val 7692"/>
            </a:avLst>
          </a:prstGeom>
          <a:solidFill>
            <a:srgbClr val="2E86C1">
              <a:alpha val="12000"/>
            </a:srgbClr>
          </a:solidFill>
          <a:ln w="10160">
            <a:solidFill>
              <a:srgbClr val="2E86C1"/>
            </a:solidFill>
            <a:prstDash val="solid"/>
          </a:ln>
        </p:spPr>
      </p:sp>
      <p:sp>
        <p:nvSpPr>
          <p:cNvPr id="7" name="Shape 5"/>
          <p:cNvSpPr/>
          <p:nvPr/>
        </p:nvSpPr>
        <p:spPr>
          <a:xfrm>
            <a:off x="256032" y="1920240"/>
            <a:ext cx="1554480" cy="365760"/>
          </a:xfrm>
          <a:prstGeom prst="rect">
            <a:avLst/>
          </a:prstGeom>
          <a:solidFill>
            <a:srgbClr val="2E86C1">
              <a:alpha val="12000"/>
            </a:srgbClr>
          </a:solidFill>
          <a:ln w="12700">
            <a:solidFill>
              <a:srgbClr val="2E86C1"/>
            </a:solidFill>
            <a:prstDash val="solid"/>
          </a:ln>
        </p:spPr>
      </p:sp>
      <p:sp>
        <p:nvSpPr>
          <p:cNvPr id="8" name="Text 6"/>
          <p:cNvSpPr/>
          <p:nvPr/>
        </p:nvSpPr>
        <p:spPr>
          <a:xfrm>
            <a:off x="329184" y="1143000"/>
            <a:ext cx="502920" cy="384048"/>
          </a:xfrm>
          <a:prstGeom prst="rect">
            <a:avLst/>
          </a:prstGeom>
          <a:noFill/>
          <a:ln/>
        </p:spPr>
        <p:txBody>
          <a:bodyPr wrap="square" lIns="0" tIns="0" rIns="0" bIns="0" rtlCol="0" anchor="ctr"/>
          <a:lstStyle/>
          <a:p>
            <a:pPr indent="0" marL="0">
              <a:buNone/>
            </a:pPr>
            <a:r>
              <a:rPr lang="en-US" sz="1800" b="1" dirty="0">
                <a:solidFill>
                  <a:srgbClr val="2E86C1"/>
                </a:solidFill>
                <a:latin typeface="Cambria" pitchFamily="34" charset="0"/>
                <a:ea typeface="Cambria" pitchFamily="34" charset="-122"/>
                <a:cs typeface="Cambria" pitchFamily="34" charset="-120"/>
              </a:rPr>
              <a:t>01</a:t>
            </a:r>
            <a:endParaRPr lang="en-US" sz="1800" dirty="0"/>
          </a:p>
        </p:txBody>
      </p:sp>
      <p:pic>
        <p:nvPicPr>
          <p:cNvPr id="9" name="Image 0" descr="preencoded.png">    </p:cNvPr>
          <p:cNvPicPr>
            <a:picLocks noChangeAspect="1"/>
          </p:cNvPicPr>
          <p:nvPr/>
        </p:nvPicPr>
        <p:blipFill>
          <a:blip r:embed="rId1"/>
          <a:stretch>
            <a:fillRect/>
          </a:stretch>
        </p:blipFill>
        <p:spPr>
          <a:xfrm>
            <a:off x="758952" y="1207008"/>
            <a:ext cx="566928" cy="566928"/>
          </a:xfrm>
          <a:prstGeom prst="rect">
            <a:avLst/>
          </a:prstGeom>
        </p:spPr>
      </p:pic>
      <p:sp>
        <p:nvSpPr>
          <p:cNvPr id="10" name="Text 7"/>
          <p:cNvSpPr/>
          <p:nvPr/>
        </p:nvSpPr>
        <p:spPr>
          <a:xfrm>
            <a:off x="347472" y="1993392"/>
            <a:ext cx="1389888" cy="594360"/>
          </a:xfrm>
          <a:prstGeom prst="rect">
            <a:avLst/>
          </a:prstGeom>
          <a:noFill/>
          <a:ln/>
        </p:spPr>
        <p:txBody>
          <a:bodyPr wrap="square" lIns="0" tIns="0" rIns="0" bIns="0" rtlCol="0" anchor="ctr"/>
          <a:lstStyle/>
          <a:p>
            <a:pPr algn="ctr" indent="0" marL="0">
              <a:buNone/>
            </a:pPr>
            <a:r>
              <a:rPr lang="en-US" sz="1100" b="1" dirty="0">
                <a:solidFill>
                  <a:srgbClr val="1A2738"/>
                </a:solidFill>
                <a:latin typeface="Cambria" pitchFamily="34" charset="0"/>
                <a:ea typeface="Cambria" pitchFamily="34" charset="-122"/>
                <a:cs typeface="Cambria" pitchFamily="34" charset="-120"/>
              </a:rPr>
              <a:t>Edge-Native Autonomy</a:t>
            </a:r>
            <a:endParaRPr lang="en-US" sz="1100" dirty="0"/>
          </a:p>
        </p:txBody>
      </p:sp>
      <p:sp>
        <p:nvSpPr>
          <p:cNvPr id="11" name="Text 8"/>
          <p:cNvSpPr/>
          <p:nvPr/>
        </p:nvSpPr>
        <p:spPr>
          <a:xfrm>
            <a:off x="347472" y="2633472"/>
            <a:ext cx="1389888" cy="2084832"/>
          </a:xfrm>
          <a:prstGeom prst="rect">
            <a:avLst/>
          </a:prstGeom>
          <a:noFill/>
          <a:ln/>
        </p:spPr>
        <p:txBody>
          <a:bodyPr wrap="square" lIns="0" tIns="0" rIns="0" bIns="0" rtlCol="0" anchor="ctr"/>
          <a:lstStyle/>
          <a:p>
            <a:pPr algn="ctr" indent="0" marL="0">
              <a:buNone/>
            </a:pPr>
            <a:r>
              <a:rPr lang="en-US" sz="1000" dirty="0">
                <a:solidFill>
                  <a:srgbClr val="445566"/>
                </a:solidFill>
                <a:latin typeface="Calibri" pitchFamily="34" charset="0"/>
                <a:ea typeface="Calibri" pitchFamily="34" charset="-122"/>
                <a:cs typeface="Calibri" pitchFamily="34" charset="-120"/>
              </a:rPr>
              <a:t>Operates without high-speed internet. Full detection, tracking and enforcement runs locally — ideal for connectivity dead zones.</a:t>
            </a:r>
            <a:endParaRPr lang="en-US" sz="1000" dirty="0"/>
          </a:p>
        </p:txBody>
      </p:sp>
      <p:sp>
        <p:nvSpPr>
          <p:cNvPr id="12" name="Shape 9"/>
          <p:cNvSpPr/>
          <p:nvPr/>
        </p:nvSpPr>
        <p:spPr>
          <a:xfrm>
            <a:off x="1993392" y="1097280"/>
            <a:ext cx="1554480" cy="3822192"/>
          </a:xfrm>
          <a:prstGeom prst="roundRect">
            <a:avLst>
              <a:gd name="adj" fmla="val 5882"/>
            </a:avLst>
          </a:prstGeom>
          <a:solidFill>
            <a:srgbClr val="FFFFFF"/>
          </a:solidFill>
          <a:ln w="12700">
            <a:solidFill>
              <a:srgbClr val="DDE4EC"/>
            </a:solidFill>
            <a:prstDash val="solid"/>
          </a:ln>
          <a:effectLst>
            <a:outerShdw sx="100000" sy="100000" kx="0" ky="0" algn="bl" rotWithShape="0" blurRad="152400" dist="50800" dir="2700000">
              <a:srgbClr val="000000">
                <a:alpha val="22000"/>
              </a:srgbClr>
            </a:outerShdw>
          </a:effectLst>
        </p:spPr>
      </p:sp>
      <p:sp>
        <p:nvSpPr>
          <p:cNvPr id="13" name="Shape 10"/>
          <p:cNvSpPr/>
          <p:nvPr/>
        </p:nvSpPr>
        <p:spPr>
          <a:xfrm>
            <a:off x="1993392" y="1097280"/>
            <a:ext cx="1554480" cy="1188720"/>
          </a:xfrm>
          <a:prstGeom prst="roundRect">
            <a:avLst>
              <a:gd name="adj" fmla="val 7692"/>
            </a:avLst>
          </a:prstGeom>
          <a:solidFill>
            <a:srgbClr val="D4A017">
              <a:alpha val="12000"/>
            </a:srgbClr>
          </a:solidFill>
          <a:ln w="10160">
            <a:solidFill>
              <a:srgbClr val="D4A017"/>
            </a:solidFill>
            <a:prstDash val="solid"/>
          </a:ln>
        </p:spPr>
      </p:sp>
      <p:sp>
        <p:nvSpPr>
          <p:cNvPr id="14" name="Shape 11"/>
          <p:cNvSpPr/>
          <p:nvPr/>
        </p:nvSpPr>
        <p:spPr>
          <a:xfrm>
            <a:off x="1993392" y="1920240"/>
            <a:ext cx="1554480" cy="365760"/>
          </a:xfrm>
          <a:prstGeom prst="rect">
            <a:avLst/>
          </a:prstGeom>
          <a:solidFill>
            <a:srgbClr val="D4A017">
              <a:alpha val="12000"/>
            </a:srgbClr>
          </a:solidFill>
          <a:ln w="12700">
            <a:solidFill>
              <a:srgbClr val="D4A017"/>
            </a:solidFill>
            <a:prstDash val="solid"/>
          </a:ln>
        </p:spPr>
      </p:sp>
      <p:sp>
        <p:nvSpPr>
          <p:cNvPr id="15" name="Text 12"/>
          <p:cNvSpPr/>
          <p:nvPr/>
        </p:nvSpPr>
        <p:spPr>
          <a:xfrm>
            <a:off x="2066544" y="1143000"/>
            <a:ext cx="502920" cy="384048"/>
          </a:xfrm>
          <a:prstGeom prst="rect">
            <a:avLst/>
          </a:prstGeom>
          <a:noFill/>
          <a:ln/>
        </p:spPr>
        <p:txBody>
          <a:bodyPr wrap="square" lIns="0" tIns="0" rIns="0" bIns="0" rtlCol="0" anchor="ctr"/>
          <a:lstStyle/>
          <a:p>
            <a:pPr indent="0" marL="0">
              <a:buNone/>
            </a:pPr>
            <a:r>
              <a:rPr lang="en-US" sz="1800" b="1" dirty="0">
                <a:solidFill>
                  <a:srgbClr val="D4A017"/>
                </a:solidFill>
                <a:latin typeface="Cambria" pitchFamily="34" charset="0"/>
                <a:ea typeface="Cambria" pitchFamily="34" charset="-122"/>
                <a:cs typeface="Cambria" pitchFamily="34" charset="-120"/>
              </a:rPr>
              <a:t>02</a:t>
            </a:r>
            <a:endParaRPr lang="en-US" sz="1800" dirty="0"/>
          </a:p>
        </p:txBody>
      </p:sp>
      <p:pic>
        <p:nvPicPr>
          <p:cNvPr id="16" name="Image 1" descr="preencoded.png">    </p:cNvPr>
          <p:cNvPicPr>
            <a:picLocks noChangeAspect="1"/>
          </p:cNvPicPr>
          <p:nvPr/>
        </p:nvPicPr>
        <p:blipFill>
          <a:blip r:embed="rId2"/>
          <a:stretch>
            <a:fillRect/>
          </a:stretch>
        </p:blipFill>
        <p:spPr>
          <a:xfrm>
            <a:off x="2496312" y="1207008"/>
            <a:ext cx="566928" cy="566928"/>
          </a:xfrm>
          <a:prstGeom prst="rect">
            <a:avLst/>
          </a:prstGeom>
        </p:spPr>
      </p:pic>
      <p:sp>
        <p:nvSpPr>
          <p:cNvPr id="17" name="Text 13"/>
          <p:cNvSpPr/>
          <p:nvPr/>
        </p:nvSpPr>
        <p:spPr>
          <a:xfrm>
            <a:off x="2084832" y="1993392"/>
            <a:ext cx="1389888" cy="594360"/>
          </a:xfrm>
          <a:prstGeom prst="rect">
            <a:avLst/>
          </a:prstGeom>
          <a:noFill/>
          <a:ln/>
        </p:spPr>
        <p:txBody>
          <a:bodyPr wrap="square" lIns="0" tIns="0" rIns="0" bIns="0" rtlCol="0" anchor="ctr"/>
          <a:lstStyle/>
          <a:p>
            <a:pPr algn="ctr" indent="0" marL="0">
              <a:buNone/>
            </a:pPr>
            <a:r>
              <a:rPr lang="en-US" sz="1100" b="1" dirty="0">
                <a:solidFill>
                  <a:srgbClr val="1A2738"/>
                </a:solidFill>
                <a:latin typeface="Cambria" pitchFamily="34" charset="0"/>
                <a:ea typeface="Cambria" pitchFamily="34" charset="-122"/>
                <a:cs typeface="Cambria" pitchFamily="34" charset="-120"/>
              </a:rPr>
              <a:t>Obscured Plate Resolution</a:t>
            </a:r>
            <a:endParaRPr lang="en-US" sz="1100" dirty="0"/>
          </a:p>
        </p:txBody>
      </p:sp>
      <p:sp>
        <p:nvSpPr>
          <p:cNvPr id="18" name="Text 14"/>
          <p:cNvSpPr/>
          <p:nvPr/>
        </p:nvSpPr>
        <p:spPr>
          <a:xfrm>
            <a:off x="2084832" y="2633472"/>
            <a:ext cx="1389888" cy="2084832"/>
          </a:xfrm>
          <a:prstGeom prst="rect">
            <a:avLst/>
          </a:prstGeom>
          <a:noFill/>
          <a:ln/>
        </p:spPr>
        <p:txBody>
          <a:bodyPr wrap="square" lIns="0" tIns="0" rIns="0" bIns="0" rtlCol="0" anchor="ctr"/>
          <a:lstStyle/>
          <a:p>
            <a:pPr algn="ctr" indent="0" marL="0">
              <a:buNone/>
            </a:pPr>
            <a:r>
              <a:rPr lang="en-US" sz="1000" dirty="0">
                <a:solidFill>
                  <a:srgbClr val="445566"/>
                </a:solidFill>
                <a:latin typeface="Calibri" pitchFamily="34" charset="0"/>
                <a:ea typeface="Calibri" pitchFamily="34" charset="-122"/>
                <a:cs typeface="Calibri" pitchFamily="34" charset="-120"/>
              </a:rPr>
              <a:t>Solves the unreadable plate problem through multi-factor DB lookups combining partial characters, vehicle class and color.</a:t>
            </a:r>
            <a:endParaRPr lang="en-US" sz="1000" dirty="0"/>
          </a:p>
        </p:txBody>
      </p:sp>
      <p:sp>
        <p:nvSpPr>
          <p:cNvPr id="19" name="Shape 15"/>
          <p:cNvSpPr/>
          <p:nvPr/>
        </p:nvSpPr>
        <p:spPr>
          <a:xfrm>
            <a:off x="3730752" y="1097280"/>
            <a:ext cx="1554480" cy="3822192"/>
          </a:xfrm>
          <a:prstGeom prst="roundRect">
            <a:avLst>
              <a:gd name="adj" fmla="val 5882"/>
            </a:avLst>
          </a:prstGeom>
          <a:solidFill>
            <a:srgbClr val="FFFFFF"/>
          </a:solidFill>
          <a:ln w="12700">
            <a:solidFill>
              <a:srgbClr val="DDE4EC"/>
            </a:solidFill>
            <a:prstDash val="solid"/>
          </a:ln>
          <a:effectLst>
            <a:outerShdw sx="100000" sy="100000" kx="0" ky="0" algn="bl" rotWithShape="0" blurRad="152400" dist="50800" dir="2700000">
              <a:srgbClr val="000000">
                <a:alpha val="22000"/>
              </a:srgbClr>
            </a:outerShdw>
          </a:effectLst>
        </p:spPr>
      </p:sp>
      <p:sp>
        <p:nvSpPr>
          <p:cNvPr id="20" name="Shape 16"/>
          <p:cNvSpPr/>
          <p:nvPr/>
        </p:nvSpPr>
        <p:spPr>
          <a:xfrm>
            <a:off x="3730752" y="1097280"/>
            <a:ext cx="1554480" cy="1188720"/>
          </a:xfrm>
          <a:prstGeom prst="roundRect">
            <a:avLst>
              <a:gd name="adj" fmla="val 7692"/>
            </a:avLst>
          </a:prstGeom>
          <a:solidFill>
            <a:srgbClr val="1E8449">
              <a:alpha val="12000"/>
            </a:srgbClr>
          </a:solidFill>
          <a:ln w="10160">
            <a:solidFill>
              <a:srgbClr val="1E8449"/>
            </a:solidFill>
            <a:prstDash val="solid"/>
          </a:ln>
        </p:spPr>
      </p:sp>
      <p:sp>
        <p:nvSpPr>
          <p:cNvPr id="21" name="Shape 17"/>
          <p:cNvSpPr/>
          <p:nvPr/>
        </p:nvSpPr>
        <p:spPr>
          <a:xfrm>
            <a:off x="3730752" y="1920240"/>
            <a:ext cx="1554480" cy="365760"/>
          </a:xfrm>
          <a:prstGeom prst="rect">
            <a:avLst/>
          </a:prstGeom>
          <a:solidFill>
            <a:srgbClr val="1E8449">
              <a:alpha val="12000"/>
            </a:srgbClr>
          </a:solidFill>
          <a:ln w="12700">
            <a:solidFill>
              <a:srgbClr val="1E8449"/>
            </a:solidFill>
            <a:prstDash val="solid"/>
          </a:ln>
        </p:spPr>
      </p:sp>
      <p:sp>
        <p:nvSpPr>
          <p:cNvPr id="22" name="Text 18"/>
          <p:cNvSpPr/>
          <p:nvPr/>
        </p:nvSpPr>
        <p:spPr>
          <a:xfrm>
            <a:off x="3803904" y="1143000"/>
            <a:ext cx="502920" cy="384048"/>
          </a:xfrm>
          <a:prstGeom prst="rect">
            <a:avLst/>
          </a:prstGeom>
          <a:noFill/>
          <a:ln/>
        </p:spPr>
        <p:txBody>
          <a:bodyPr wrap="square" lIns="0" tIns="0" rIns="0" bIns="0" rtlCol="0" anchor="ctr"/>
          <a:lstStyle/>
          <a:p>
            <a:pPr indent="0" marL="0">
              <a:buNone/>
            </a:pPr>
            <a:r>
              <a:rPr lang="en-US" sz="1800" b="1" dirty="0">
                <a:solidFill>
                  <a:srgbClr val="1E8449"/>
                </a:solidFill>
                <a:latin typeface="Cambria" pitchFamily="34" charset="0"/>
                <a:ea typeface="Cambria" pitchFamily="34" charset="-122"/>
                <a:cs typeface="Cambria" pitchFamily="34" charset="-120"/>
              </a:rPr>
              <a:t>03</a:t>
            </a:r>
            <a:endParaRPr lang="en-US" sz="1800" dirty="0"/>
          </a:p>
        </p:txBody>
      </p:sp>
      <p:pic>
        <p:nvPicPr>
          <p:cNvPr id="23" name="Image 2" descr="preencoded.png">    </p:cNvPr>
          <p:cNvPicPr>
            <a:picLocks noChangeAspect="1"/>
          </p:cNvPicPr>
          <p:nvPr/>
        </p:nvPicPr>
        <p:blipFill>
          <a:blip r:embed="rId3"/>
          <a:stretch>
            <a:fillRect/>
          </a:stretch>
        </p:blipFill>
        <p:spPr>
          <a:xfrm>
            <a:off x="4233672" y="1207008"/>
            <a:ext cx="566928" cy="566928"/>
          </a:xfrm>
          <a:prstGeom prst="rect">
            <a:avLst/>
          </a:prstGeom>
        </p:spPr>
      </p:pic>
      <p:sp>
        <p:nvSpPr>
          <p:cNvPr id="24" name="Text 19"/>
          <p:cNvSpPr/>
          <p:nvPr/>
        </p:nvSpPr>
        <p:spPr>
          <a:xfrm>
            <a:off x="3822192" y="1993392"/>
            <a:ext cx="1389888" cy="594360"/>
          </a:xfrm>
          <a:prstGeom prst="rect">
            <a:avLst/>
          </a:prstGeom>
          <a:noFill/>
          <a:ln/>
        </p:spPr>
        <p:txBody>
          <a:bodyPr wrap="square" lIns="0" tIns="0" rIns="0" bIns="0" rtlCol="0" anchor="ctr"/>
          <a:lstStyle/>
          <a:p>
            <a:pPr algn="ctr" indent="0" marL="0">
              <a:buNone/>
            </a:pPr>
            <a:r>
              <a:rPr lang="en-US" sz="1100" b="1" dirty="0">
                <a:solidFill>
                  <a:srgbClr val="1A2738"/>
                </a:solidFill>
                <a:latin typeface="Cambria" pitchFamily="34" charset="0"/>
                <a:ea typeface="Cambria" pitchFamily="34" charset="-122"/>
                <a:cs typeface="Cambria" pitchFamily="34" charset="-120"/>
              </a:rPr>
              <a:t>Driver State Alerts</a:t>
            </a:r>
            <a:endParaRPr lang="en-US" sz="1100" dirty="0"/>
          </a:p>
        </p:txBody>
      </p:sp>
      <p:sp>
        <p:nvSpPr>
          <p:cNvPr id="25" name="Text 20"/>
          <p:cNvSpPr/>
          <p:nvPr/>
        </p:nvSpPr>
        <p:spPr>
          <a:xfrm>
            <a:off x="3822192" y="2633472"/>
            <a:ext cx="1389888" cy="2084832"/>
          </a:xfrm>
          <a:prstGeom prst="rect">
            <a:avLst/>
          </a:prstGeom>
          <a:noFill/>
          <a:ln/>
        </p:spPr>
        <p:txBody>
          <a:bodyPr wrap="square" lIns="0" tIns="0" rIns="0" bIns="0" rtlCol="0" anchor="ctr"/>
          <a:lstStyle/>
          <a:p>
            <a:pPr algn="ctr" indent="0" marL="0">
              <a:buNone/>
            </a:pPr>
            <a:r>
              <a:rPr lang="en-US" sz="1000" dirty="0">
                <a:solidFill>
                  <a:srgbClr val="445566"/>
                </a:solidFill>
                <a:latin typeface="Calibri" pitchFamily="34" charset="0"/>
                <a:ea typeface="Calibri" pitchFamily="34" charset="-122"/>
                <a:cs typeface="Calibri" pitchFamily="34" charset="-120"/>
              </a:rPr>
              <a:t>Proactive accident prevention via MediaPipe FaceMesh — detects drowsiness and mobile phone usage in real time.</a:t>
            </a:r>
            <a:endParaRPr lang="en-US" sz="1000" dirty="0"/>
          </a:p>
        </p:txBody>
      </p:sp>
      <p:sp>
        <p:nvSpPr>
          <p:cNvPr id="26" name="Shape 21"/>
          <p:cNvSpPr/>
          <p:nvPr/>
        </p:nvSpPr>
        <p:spPr>
          <a:xfrm>
            <a:off x="5468112" y="1097280"/>
            <a:ext cx="1554480" cy="3822192"/>
          </a:xfrm>
          <a:prstGeom prst="roundRect">
            <a:avLst>
              <a:gd name="adj" fmla="val 5882"/>
            </a:avLst>
          </a:prstGeom>
          <a:solidFill>
            <a:srgbClr val="FFFFFF"/>
          </a:solidFill>
          <a:ln w="12700">
            <a:solidFill>
              <a:srgbClr val="DDE4EC"/>
            </a:solidFill>
            <a:prstDash val="solid"/>
          </a:ln>
          <a:effectLst>
            <a:outerShdw sx="100000" sy="100000" kx="0" ky="0" algn="bl" rotWithShape="0" blurRad="152400" dist="50800" dir="2700000">
              <a:srgbClr val="000000">
                <a:alpha val="22000"/>
              </a:srgbClr>
            </a:outerShdw>
          </a:effectLst>
        </p:spPr>
      </p:sp>
      <p:sp>
        <p:nvSpPr>
          <p:cNvPr id="27" name="Shape 22"/>
          <p:cNvSpPr/>
          <p:nvPr/>
        </p:nvSpPr>
        <p:spPr>
          <a:xfrm>
            <a:off x="5468112" y="1097280"/>
            <a:ext cx="1554480" cy="1188720"/>
          </a:xfrm>
          <a:prstGeom prst="roundRect">
            <a:avLst>
              <a:gd name="adj" fmla="val 7692"/>
            </a:avLst>
          </a:prstGeom>
          <a:solidFill>
            <a:srgbClr val="5DADE2">
              <a:alpha val="12000"/>
            </a:srgbClr>
          </a:solidFill>
          <a:ln w="10160">
            <a:solidFill>
              <a:srgbClr val="5DADE2"/>
            </a:solidFill>
            <a:prstDash val="solid"/>
          </a:ln>
        </p:spPr>
      </p:sp>
      <p:sp>
        <p:nvSpPr>
          <p:cNvPr id="28" name="Shape 23"/>
          <p:cNvSpPr/>
          <p:nvPr/>
        </p:nvSpPr>
        <p:spPr>
          <a:xfrm>
            <a:off x="5468112" y="1920240"/>
            <a:ext cx="1554480" cy="365760"/>
          </a:xfrm>
          <a:prstGeom prst="rect">
            <a:avLst/>
          </a:prstGeom>
          <a:solidFill>
            <a:srgbClr val="5DADE2">
              <a:alpha val="12000"/>
            </a:srgbClr>
          </a:solidFill>
          <a:ln w="12700">
            <a:solidFill>
              <a:srgbClr val="5DADE2"/>
            </a:solidFill>
            <a:prstDash val="solid"/>
          </a:ln>
        </p:spPr>
      </p:sp>
      <p:sp>
        <p:nvSpPr>
          <p:cNvPr id="29" name="Text 24"/>
          <p:cNvSpPr/>
          <p:nvPr/>
        </p:nvSpPr>
        <p:spPr>
          <a:xfrm>
            <a:off x="5541264" y="1143000"/>
            <a:ext cx="502920" cy="384048"/>
          </a:xfrm>
          <a:prstGeom prst="rect">
            <a:avLst/>
          </a:prstGeom>
          <a:noFill/>
          <a:ln/>
        </p:spPr>
        <p:txBody>
          <a:bodyPr wrap="square" lIns="0" tIns="0" rIns="0" bIns="0" rtlCol="0" anchor="ctr"/>
          <a:lstStyle/>
          <a:p>
            <a:pPr indent="0" marL="0">
              <a:buNone/>
            </a:pPr>
            <a:r>
              <a:rPr lang="en-US" sz="1800" b="1" dirty="0">
                <a:solidFill>
                  <a:srgbClr val="5DADE2"/>
                </a:solidFill>
                <a:latin typeface="Cambria" pitchFamily="34" charset="0"/>
                <a:ea typeface="Cambria" pitchFamily="34" charset="-122"/>
                <a:cs typeface="Cambria" pitchFamily="34" charset="-120"/>
              </a:rPr>
              <a:t>04</a:t>
            </a:r>
            <a:endParaRPr lang="en-US" sz="1800" dirty="0"/>
          </a:p>
        </p:txBody>
      </p:sp>
      <p:pic>
        <p:nvPicPr>
          <p:cNvPr id="30" name="Image 3" descr="preencoded.png">    </p:cNvPr>
          <p:cNvPicPr>
            <a:picLocks noChangeAspect="1"/>
          </p:cNvPicPr>
          <p:nvPr/>
        </p:nvPicPr>
        <p:blipFill>
          <a:blip r:embed="rId4"/>
          <a:stretch>
            <a:fillRect/>
          </a:stretch>
        </p:blipFill>
        <p:spPr>
          <a:xfrm>
            <a:off x="5971032" y="1207008"/>
            <a:ext cx="566928" cy="566928"/>
          </a:xfrm>
          <a:prstGeom prst="rect">
            <a:avLst/>
          </a:prstGeom>
        </p:spPr>
      </p:pic>
      <p:sp>
        <p:nvSpPr>
          <p:cNvPr id="31" name="Text 25"/>
          <p:cNvSpPr/>
          <p:nvPr/>
        </p:nvSpPr>
        <p:spPr>
          <a:xfrm>
            <a:off x="5559552" y="1993392"/>
            <a:ext cx="1389888" cy="594360"/>
          </a:xfrm>
          <a:prstGeom prst="rect">
            <a:avLst/>
          </a:prstGeom>
          <a:noFill/>
          <a:ln/>
        </p:spPr>
        <p:txBody>
          <a:bodyPr wrap="square" lIns="0" tIns="0" rIns="0" bIns="0" rtlCol="0" anchor="ctr"/>
          <a:lstStyle/>
          <a:p>
            <a:pPr algn="ctr" indent="0" marL="0">
              <a:buNone/>
            </a:pPr>
            <a:r>
              <a:rPr lang="en-US" sz="1100" b="1" dirty="0">
                <a:solidFill>
                  <a:srgbClr val="1A2738"/>
                </a:solidFill>
                <a:latin typeface="Cambria" pitchFamily="34" charset="0"/>
                <a:ea typeface="Cambria" pitchFamily="34" charset="-122"/>
                <a:cs typeface="Cambria" pitchFamily="34" charset="-120"/>
              </a:rPr>
              <a:t>Privacy-First Federated Learning</a:t>
            </a:r>
            <a:endParaRPr lang="en-US" sz="1100" dirty="0"/>
          </a:p>
        </p:txBody>
      </p:sp>
      <p:sp>
        <p:nvSpPr>
          <p:cNvPr id="32" name="Text 26"/>
          <p:cNvSpPr/>
          <p:nvPr/>
        </p:nvSpPr>
        <p:spPr>
          <a:xfrm>
            <a:off x="5559552" y="2633472"/>
            <a:ext cx="1389888" cy="2084832"/>
          </a:xfrm>
          <a:prstGeom prst="rect">
            <a:avLst/>
          </a:prstGeom>
          <a:noFill/>
          <a:ln/>
        </p:spPr>
        <p:txBody>
          <a:bodyPr wrap="square" lIns="0" tIns="0" rIns="0" bIns="0" rtlCol="0" anchor="ctr"/>
          <a:lstStyle/>
          <a:p>
            <a:pPr algn="ctr" indent="0" marL="0">
              <a:buNone/>
            </a:pPr>
            <a:r>
              <a:rPr lang="en-US" sz="1000" dirty="0">
                <a:solidFill>
                  <a:srgbClr val="445566"/>
                </a:solidFill>
                <a:latin typeface="Calibri" pitchFamily="34" charset="0"/>
                <a:ea typeface="Calibri" pitchFamily="34" charset="-122"/>
                <a:cs typeface="Calibri" pitchFamily="34" charset="-120"/>
              </a:rPr>
              <a:t>Models train locally on officer-confirmed samples. Only weight deltas are shared weekly via Flower — no video leaves the node.</a:t>
            </a:r>
            <a:endParaRPr lang="en-US" sz="1000" dirty="0"/>
          </a:p>
        </p:txBody>
      </p:sp>
      <p:sp>
        <p:nvSpPr>
          <p:cNvPr id="33" name="Shape 27"/>
          <p:cNvSpPr/>
          <p:nvPr/>
        </p:nvSpPr>
        <p:spPr>
          <a:xfrm>
            <a:off x="7205472" y="1097280"/>
            <a:ext cx="1554480" cy="3822192"/>
          </a:xfrm>
          <a:prstGeom prst="roundRect">
            <a:avLst>
              <a:gd name="adj" fmla="val 5882"/>
            </a:avLst>
          </a:prstGeom>
          <a:solidFill>
            <a:srgbClr val="FFFFFF"/>
          </a:solidFill>
          <a:ln w="12700">
            <a:solidFill>
              <a:srgbClr val="DDE4EC"/>
            </a:solidFill>
            <a:prstDash val="solid"/>
          </a:ln>
          <a:effectLst>
            <a:outerShdw sx="100000" sy="100000" kx="0" ky="0" algn="bl" rotWithShape="0" blurRad="152400" dist="50800" dir="2700000">
              <a:srgbClr val="000000">
                <a:alpha val="22000"/>
              </a:srgbClr>
            </a:outerShdw>
          </a:effectLst>
        </p:spPr>
      </p:sp>
      <p:sp>
        <p:nvSpPr>
          <p:cNvPr id="34" name="Shape 28"/>
          <p:cNvSpPr/>
          <p:nvPr/>
        </p:nvSpPr>
        <p:spPr>
          <a:xfrm>
            <a:off x="7205472" y="1097280"/>
            <a:ext cx="1554480" cy="1188720"/>
          </a:xfrm>
          <a:prstGeom prst="roundRect">
            <a:avLst>
              <a:gd name="adj" fmla="val 7692"/>
            </a:avLst>
          </a:prstGeom>
          <a:solidFill>
            <a:srgbClr val="C9A84C">
              <a:alpha val="12000"/>
            </a:srgbClr>
          </a:solidFill>
          <a:ln w="10160">
            <a:solidFill>
              <a:srgbClr val="C9A84C"/>
            </a:solidFill>
            <a:prstDash val="solid"/>
          </a:ln>
        </p:spPr>
      </p:sp>
      <p:sp>
        <p:nvSpPr>
          <p:cNvPr id="35" name="Shape 29"/>
          <p:cNvSpPr/>
          <p:nvPr/>
        </p:nvSpPr>
        <p:spPr>
          <a:xfrm>
            <a:off x="7205472" y="1920240"/>
            <a:ext cx="1554480" cy="365760"/>
          </a:xfrm>
          <a:prstGeom prst="rect">
            <a:avLst/>
          </a:prstGeom>
          <a:solidFill>
            <a:srgbClr val="C9A84C">
              <a:alpha val="12000"/>
            </a:srgbClr>
          </a:solidFill>
          <a:ln w="12700">
            <a:solidFill>
              <a:srgbClr val="C9A84C"/>
            </a:solidFill>
            <a:prstDash val="solid"/>
          </a:ln>
        </p:spPr>
      </p:sp>
      <p:sp>
        <p:nvSpPr>
          <p:cNvPr id="36" name="Text 30"/>
          <p:cNvSpPr/>
          <p:nvPr/>
        </p:nvSpPr>
        <p:spPr>
          <a:xfrm>
            <a:off x="7278624" y="1143000"/>
            <a:ext cx="502920" cy="384048"/>
          </a:xfrm>
          <a:prstGeom prst="rect">
            <a:avLst/>
          </a:prstGeom>
          <a:noFill/>
          <a:ln/>
        </p:spPr>
        <p:txBody>
          <a:bodyPr wrap="square" lIns="0" tIns="0" rIns="0" bIns="0" rtlCol="0" anchor="ctr"/>
          <a:lstStyle/>
          <a:p>
            <a:pPr indent="0" marL="0">
              <a:buNone/>
            </a:pPr>
            <a:r>
              <a:rPr lang="en-US" sz="1800" b="1" dirty="0">
                <a:solidFill>
                  <a:srgbClr val="C9A84C"/>
                </a:solidFill>
                <a:latin typeface="Cambria" pitchFamily="34" charset="0"/>
                <a:ea typeface="Cambria" pitchFamily="34" charset="-122"/>
                <a:cs typeface="Cambria" pitchFamily="34" charset="-120"/>
              </a:rPr>
              <a:t>05</a:t>
            </a:r>
            <a:endParaRPr lang="en-US" sz="1800" dirty="0"/>
          </a:p>
        </p:txBody>
      </p:sp>
      <p:pic>
        <p:nvPicPr>
          <p:cNvPr id="37" name="Image 4" descr="preencoded.png">    </p:cNvPr>
          <p:cNvPicPr>
            <a:picLocks noChangeAspect="1"/>
          </p:cNvPicPr>
          <p:nvPr/>
        </p:nvPicPr>
        <p:blipFill>
          <a:blip r:embed="rId5"/>
          <a:stretch>
            <a:fillRect/>
          </a:stretch>
        </p:blipFill>
        <p:spPr>
          <a:xfrm>
            <a:off x="7708392" y="1207008"/>
            <a:ext cx="566928" cy="566928"/>
          </a:xfrm>
          <a:prstGeom prst="rect">
            <a:avLst/>
          </a:prstGeom>
        </p:spPr>
      </p:pic>
      <p:sp>
        <p:nvSpPr>
          <p:cNvPr id="38" name="Text 31"/>
          <p:cNvSpPr/>
          <p:nvPr/>
        </p:nvSpPr>
        <p:spPr>
          <a:xfrm>
            <a:off x="7296912" y="1993392"/>
            <a:ext cx="1389888" cy="594360"/>
          </a:xfrm>
          <a:prstGeom prst="rect">
            <a:avLst/>
          </a:prstGeom>
          <a:noFill/>
          <a:ln/>
        </p:spPr>
        <p:txBody>
          <a:bodyPr wrap="square" lIns="0" tIns="0" rIns="0" bIns="0" rtlCol="0" anchor="ctr"/>
          <a:lstStyle/>
          <a:p>
            <a:pPr algn="ctr" indent="0" marL="0">
              <a:buNone/>
            </a:pPr>
            <a:r>
              <a:rPr lang="en-US" sz="1100" b="1" dirty="0">
                <a:solidFill>
                  <a:srgbClr val="1A2738"/>
                </a:solidFill>
                <a:latin typeface="Cambria" pitchFamily="34" charset="0"/>
                <a:ea typeface="Cambria" pitchFamily="34" charset="-122"/>
                <a:cs typeface="Cambria" pitchFamily="34" charset="-120"/>
              </a:rPr>
              <a:t>Confidence-Gated Review Queue</a:t>
            </a:r>
            <a:endParaRPr lang="en-US" sz="1100" dirty="0"/>
          </a:p>
        </p:txBody>
      </p:sp>
      <p:sp>
        <p:nvSpPr>
          <p:cNvPr id="39" name="Text 32"/>
          <p:cNvSpPr/>
          <p:nvPr/>
        </p:nvSpPr>
        <p:spPr>
          <a:xfrm>
            <a:off x="7296912" y="2633472"/>
            <a:ext cx="1389888" cy="2084832"/>
          </a:xfrm>
          <a:prstGeom prst="rect">
            <a:avLst/>
          </a:prstGeom>
          <a:noFill/>
          <a:ln/>
        </p:spPr>
        <p:txBody>
          <a:bodyPr wrap="square" lIns="0" tIns="0" rIns="0" bIns="0" rtlCol="0" anchor="ctr"/>
          <a:lstStyle/>
          <a:p>
            <a:pPr algn="ctr" indent="0" marL="0">
              <a:buNone/>
            </a:pPr>
            <a:r>
              <a:rPr lang="en-US" sz="1000" dirty="0">
                <a:solidFill>
                  <a:srgbClr val="445566"/>
                </a:solidFill>
                <a:latin typeface="Calibri" pitchFamily="34" charset="0"/>
                <a:ea typeface="Calibri" pitchFamily="34" charset="-122"/>
                <a:cs typeface="Calibri" pitchFamily="34" charset="-120"/>
              </a:rPr>
              <a:t>Dual safety check: high-confidence violations are auto-issued; borderline cases route to officers — preventing all false challans.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12236"/>
          </a:solidFill>
          <a:ln w="12700">
            <a:solidFill>
              <a:srgbClr val="112236"/>
            </a:solidFill>
            <a:prstDash val="solid"/>
          </a:ln>
        </p:spPr>
      </p:sp>
      <p:sp>
        <p:nvSpPr>
          <p:cNvPr id="3" name="Text 1"/>
          <p:cNvSpPr/>
          <p:nvPr/>
        </p:nvSpPr>
        <p:spPr>
          <a:xfrm>
            <a:off x="365760" y="73152"/>
            <a:ext cx="3657600" cy="274320"/>
          </a:xfrm>
          <a:prstGeom prst="rect">
            <a:avLst/>
          </a:prstGeom>
          <a:noFill/>
          <a:ln/>
        </p:spPr>
        <p:txBody>
          <a:bodyPr wrap="square" lIns="0" tIns="0" rIns="0" bIns="0" rtlCol="0" anchor="ctr"/>
          <a:lstStyle/>
          <a:p>
            <a:pPr indent="0" marL="0">
              <a:buNone/>
            </a:pPr>
            <a:r>
              <a:rPr lang="en-US" sz="1000" b="1" spc="300" kern="0" dirty="0">
                <a:solidFill>
                  <a:srgbClr val="27AE60"/>
                </a:solidFill>
                <a:latin typeface="Calibri" pitchFamily="34" charset="0"/>
                <a:ea typeface="Calibri" pitchFamily="34" charset="-122"/>
                <a:cs typeface="Calibri" pitchFamily="34" charset="-120"/>
              </a:rPr>
              <a:t>IMPLEMENTATION</a:t>
            </a:r>
            <a:endParaRPr lang="en-US" sz="1000" dirty="0"/>
          </a:p>
        </p:txBody>
      </p:sp>
      <p:sp>
        <p:nvSpPr>
          <p:cNvPr id="4" name="Text 2"/>
          <p:cNvSpPr/>
          <p:nvPr/>
        </p:nvSpPr>
        <p:spPr>
          <a:xfrm>
            <a:off x="365760" y="347472"/>
            <a:ext cx="8229600" cy="438912"/>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Technical Stack — Fully Implemented &amp; Operational</a:t>
            </a:r>
            <a:endParaRPr lang="en-US" sz="2400" dirty="0"/>
          </a:p>
        </p:txBody>
      </p:sp>
      <p:sp>
        <p:nvSpPr>
          <p:cNvPr id="5" name="Shape 3"/>
          <p:cNvSpPr/>
          <p:nvPr/>
        </p:nvSpPr>
        <p:spPr>
          <a:xfrm>
            <a:off x="256032" y="1005840"/>
            <a:ext cx="2743200" cy="3913632"/>
          </a:xfrm>
          <a:prstGeom prst="roundRect">
            <a:avLst>
              <a:gd name="adj" fmla="val 3333"/>
            </a:avLst>
          </a:prstGeom>
          <a:solidFill>
            <a:srgbClr val="162840"/>
          </a:solidFill>
          <a:ln w="15240">
            <a:solidFill>
              <a:srgbClr val="5DADE2"/>
            </a:solidFill>
            <a:prstDash val="solid"/>
          </a:ln>
          <a:effectLst>
            <a:outerShdw sx="100000" sy="100000" kx="0" ky="0" algn="bl" rotWithShape="0" blurRad="101600" dist="38100" dir="2700000">
              <a:srgbClr val="000000">
                <a:alpha val="18000"/>
              </a:srgbClr>
            </a:outerShdw>
          </a:effectLst>
        </p:spPr>
      </p:sp>
      <p:sp>
        <p:nvSpPr>
          <p:cNvPr id="6" name="Shape 4"/>
          <p:cNvSpPr/>
          <p:nvPr/>
        </p:nvSpPr>
        <p:spPr>
          <a:xfrm>
            <a:off x="256032" y="1005840"/>
            <a:ext cx="2743200" cy="822960"/>
          </a:xfrm>
          <a:prstGeom prst="roundRect">
            <a:avLst>
              <a:gd name="adj" fmla="val 11111"/>
            </a:avLst>
          </a:prstGeom>
          <a:solidFill>
            <a:srgbClr val="1A3353"/>
          </a:solidFill>
          <a:ln w="12700">
            <a:solidFill>
              <a:srgbClr val="5DADE2"/>
            </a:solidFill>
            <a:prstDash val="solid"/>
          </a:ln>
        </p:spPr>
      </p:sp>
      <p:sp>
        <p:nvSpPr>
          <p:cNvPr id="7" name="Shape 5"/>
          <p:cNvSpPr/>
          <p:nvPr/>
        </p:nvSpPr>
        <p:spPr>
          <a:xfrm>
            <a:off x="256032" y="1463040"/>
            <a:ext cx="2743200" cy="365760"/>
          </a:xfrm>
          <a:prstGeom prst="rect">
            <a:avLst/>
          </a:prstGeom>
          <a:solidFill>
            <a:srgbClr val="1A3353"/>
          </a:solidFill>
          <a:ln w="12700">
            <a:solidFill>
              <a:srgbClr val="1A3353"/>
            </a:solidFill>
            <a:prstDash val="solid"/>
          </a:ln>
        </p:spPr>
      </p:sp>
      <p:pic>
        <p:nvPicPr>
          <p:cNvPr id="8" name="Image 0" descr="preencoded.png">    </p:cNvPr>
          <p:cNvPicPr>
            <a:picLocks noChangeAspect="1"/>
          </p:cNvPicPr>
          <p:nvPr/>
        </p:nvPicPr>
        <p:blipFill>
          <a:blip r:embed="rId1"/>
          <a:stretch>
            <a:fillRect/>
          </a:stretch>
        </p:blipFill>
        <p:spPr>
          <a:xfrm>
            <a:off x="393192" y="1097280"/>
            <a:ext cx="502920" cy="502920"/>
          </a:xfrm>
          <a:prstGeom prst="rect">
            <a:avLst/>
          </a:prstGeom>
        </p:spPr>
      </p:pic>
      <p:sp>
        <p:nvSpPr>
          <p:cNvPr id="9" name="Text 6"/>
          <p:cNvSpPr/>
          <p:nvPr/>
        </p:nvSpPr>
        <p:spPr>
          <a:xfrm>
            <a:off x="987552" y="1115568"/>
            <a:ext cx="1920240" cy="347472"/>
          </a:xfrm>
          <a:prstGeom prst="rect">
            <a:avLst/>
          </a:prstGeom>
          <a:noFill/>
          <a:ln/>
        </p:spPr>
        <p:txBody>
          <a:bodyPr wrap="square" lIns="0" tIns="0" rIns="0" bIns="0" rtlCol="0" anchor="ctr"/>
          <a:lstStyle/>
          <a:p>
            <a:pPr indent="0" marL="0">
              <a:buNone/>
            </a:pPr>
            <a:r>
              <a:rPr lang="en-US" sz="1600" b="1" dirty="0">
                <a:solidFill>
                  <a:srgbClr val="5DADE2"/>
                </a:solidFill>
                <a:latin typeface="Cambria" pitchFamily="34" charset="0"/>
                <a:ea typeface="Cambria" pitchFamily="34" charset="-122"/>
                <a:cs typeface="Cambria" pitchFamily="34" charset="-120"/>
              </a:rPr>
              <a:t>Frontend</a:t>
            </a:r>
            <a:endParaRPr lang="en-US" sz="1600" dirty="0"/>
          </a:p>
        </p:txBody>
      </p:sp>
      <p:sp>
        <p:nvSpPr>
          <p:cNvPr id="10" name="Shape 7"/>
          <p:cNvSpPr/>
          <p:nvPr/>
        </p:nvSpPr>
        <p:spPr>
          <a:xfrm>
            <a:off x="365760" y="1920240"/>
            <a:ext cx="2523744" cy="365760"/>
          </a:xfrm>
          <a:prstGeom prst="roundRect">
            <a:avLst>
              <a:gd name="adj" fmla="val 15000"/>
            </a:avLst>
          </a:prstGeom>
          <a:solidFill>
            <a:srgbClr val="0D1B2A"/>
          </a:solidFill>
          <a:ln w="7620">
            <a:solidFill>
              <a:srgbClr val="1B5E8C"/>
            </a:solidFill>
            <a:prstDash val="solid"/>
          </a:ln>
        </p:spPr>
      </p:sp>
      <p:sp>
        <p:nvSpPr>
          <p:cNvPr id="11" name="Text 8"/>
          <p:cNvSpPr/>
          <p:nvPr/>
        </p:nvSpPr>
        <p:spPr>
          <a:xfrm>
            <a:off x="420624" y="1956816"/>
            <a:ext cx="2423160" cy="292608"/>
          </a:xfrm>
          <a:prstGeom prst="rect">
            <a:avLst/>
          </a:prstGeom>
          <a:noFill/>
          <a:ln/>
        </p:spPr>
        <p:txBody>
          <a:bodyPr wrap="square" lIns="0" tIns="0" rIns="0" bIns="0" rtlCol="0" anchor="ctr"/>
          <a:lstStyle/>
          <a:p>
            <a:pPr indent="0" marL="0">
              <a:buNone/>
            </a:pPr>
            <a:r>
              <a:rPr lang="en-US" sz="950" b="1" dirty="0">
                <a:solidFill>
                  <a:srgbClr val="5DADE2"/>
                </a:solidFill>
                <a:latin typeface="Calibri" pitchFamily="34" charset="0"/>
                <a:ea typeface="Calibri" pitchFamily="34" charset="-122"/>
                <a:cs typeface="Calibri" pitchFamily="34" charset="-120"/>
              </a:rPr>
              <a:t>Next.js 16 + TypeScript + React 19</a:t>
            </a:r>
            <a:endParaRPr lang="en-US" sz="950" dirty="0"/>
          </a:p>
        </p:txBody>
      </p:sp>
      <p:sp>
        <p:nvSpPr>
          <p:cNvPr id="12" name="Shape 9"/>
          <p:cNvSpPr/>
          <p:nvPr/>
        </p:nvSpPr>
        <p:spPr>
          <a:xfrm>
            <a:off x="420624" y="2487168"/>
            <a:ext cx="128016" cy="128016"/>
          </a:xfrm>
          <a:prstGeom prst="ellipse">
            <a:avLst/>
          </a:prstGeom>
          <a:solidFill>
            <a:srgbClr val="5DADE2"/>
          </a:solidFill>
          <a:ln w="12700">
            <a:solidFill>
              <a:srgbClr val="5DADE2"/>
            </a:solidFill>
            <a:prstDash val="solid"/>
          </a:ln>
        </p:spPr>
      </p:sp>
      <p:sp>
        <p:nvSpPr>
          <p:cNvPr id="13" name="Text 10"/>
          <p:cNvSpPr/>
          <p:nvPr/>
        </p:nvSpPr>
        <p:spPr>
          <a:xfrm>
            <a:off x="621792" y="2432304"/>
            <a:ext cx="2267712" cy="347472"/>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Live camera feed viewer</a:t>
            </a:r>
            <a:endParaRPr lang="en-US" sz="1100" dirty="0"/>
          </a:p>
        </p:txBody>
      </p:sp>
      <p:sp>
        <p:nvSpPr>
          <p:cNvPr id="14" name="Shape 11"/>
          <p:cNvSpPr/>
          <p:nvPr/>
        </p:nvSpPr>
        <p:spPr>
          <a:xfrm>
            <a:off x="420624" y="2944368"/>
            <a:ext cx="128016" cy="128016"/>
          </a:xfrm>
          <a:prstGeom prst="ellipse">
            <a:avLst/>
          </a:prstGeom>
          <a:solidFill>
            <a:srgbClr val="5DADE2"/>
          </a:solidFill>
          <a:ln w="12700">
            <a:solidFill>
              <a:srgbClr val="5DADE2"/>
            </a:solidFill>
            <a:prstDash val="solid"/>
          </a:ln>
        </p:spPr>
      </p:sp>
      <p:sp>
        <p:nvSpPr>
          <p:cNvPr id="15" name="Text 12"/>
          <p:cNvSpPr/>
          <p:nvPr/>
        </p:nvSpPr>
        <p:spPr>
          <a:xfrm>
            <a:off x="621792" y="2889504"/>
            <a:ext cx="2267712" cy="347472"/>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Real-time violation heatmaps</a:t>
            </a:r>
            <a:endParaRPr lang="en-US" sz="1100" dirty="0"/>
          </a:p>
        </p:txBody>
      </p:sp>
      <p:sp>
        <p:nvSpPr>
          <p:cNvPr id="16" name="Shape 13"/>
          <p:cNvSpPr/>
          <p:nvPr/>
        </p:nvSpPr>
        <p:spPr>
          <a:xfrm>
            <a:off x="420624" y="3401568"/>
            <a:ext cx="128016" cy="128016"/>
          </a:xfrm>
          <a:prstGeom prst="ellipse">
            <a:avLst/>
          </a:prstGeom>
          <a:solidFill>
            <a:srgbClr val="5DADE2"/>
          </a:solidFill>
          <a:ln w="12700">
            <a:solidFill>
              <a:srgbClr val="5DADE2"/>
            </a:solidFill>
            <a:prstDash val="solid"/>
          </a:ln>
        </p:spPr>
      </p:sp>
      <p:sp>
        <p:nvSpPr>
          <p:cNvPr id="17" name="Text 14"/>
          <p:cNvSpPr/>
          <p:nvPr/>
        </p:nvSpPr>
        <p:spPr>
          <a:xfrm>
            <a:off x="621792" y="3346704"/>
            <a:ext cx="2267712" cy="347472"/>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Camera calibration panel</a:t>
            </a:r>
            <a:endParaRPr lang="en-US" sz="1100" dirty="0"/>
          </a:p>
        </p:txBody>
      </p:sp>
      <p:sp>
        <p:nvSpPr>
          <p:cNvPr id="18" name="Shape 15"/>
          <p:cNvSpPr/>
          <p:nvPr/>
        </p:nvSpPr>
        <p:spPr>
          <a:xfrm>
            <a:off x="420624" y="3858768"/>
            <a:ext cx="128016" cy="128016"/>
          </a:xfrm>
          <a:prstGeom prst="ellipse">
            <a:avLst/>
          </a:prstGeom>
          <a:solidFill>
            <a:srgbClr val="5DADE2"/>
          </a:solidFill>
          <a:ln w="12700">
            <a:solidFill>
              <a:srgbClr val="5DADE2"/>
            </a:solidFill>
            <a:prstDash val="solid"/>
          </a:ln>
        </p:spPr>
      </p:sp>
      <p:sp>
        <p:nvSpPr>
          <p:cNvPr id="19" name="Text 16"/>
          <p:cNvSpPr/>
          <p:nvPr/>
        </p:nvSpPr>
        <p:spPr>
          <a:xfrm>
            <a:off x="621792" y="3803904"/>
            <a:ext cx="2267712" cy="347472"/>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Officer approval / reject queue</a:t>
            </a:r>
            <a:endParaRPr lang="en-US" sz="1100" dirty="0"/>
          </a:p>
        </p:txBody>
      </p:sp>
      <p:sp>
        <p:nvSpPr>
          <p:cNvPr id="20" name="Shape 17"/>
          <p:cNvSpPr/>
          <p:nvPr/>
        </p:nvSpPr>
        <p:spPr>
          <a:xfrm>
            <a:off x="420624" y="4315968"/>
            <a:ext cx="128016" cy="128016"/>
          </a:xfrm>
          <a:prstGeom prst="ellipse">
            <a:avLst/>
          </a:prstGeom>
          <a:solidFill>
            <a:srgbClr val="5DADE2"/>
          </a:solidFill>
          <a:ln w="12700">
            <a:solidFill>
              <a:srgbClr val="5DADE2"/>
            </a:solidFill>
            <a:prstDash val="solid"/>
          </a:ln>
        </p:spPr>
      </p:sp>
      <p:sp>
        <p:nvSpPr>
          <p:cNvPr id="21" name="Text 18"/>
          <p:cNvSpPr/>
          <p:nvPr/>
        </p:nvSpPr>
        <p:spPr>
          <a:xfrm>
            <a:off x="621792" y="4261104"/>
            <a:ext cx="2267712" cy="347472"/>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WebSocket-driven updates</a:t>
            </a:r>
            <a:endParaRPr lang="en-US" sz="1100" dirty="0"/>
          </a:p>
        </p:txBody>
      </p:sp>
      <p:sp>
        <p:nvSpPr>
          <p:cNvPr id="22" name="Shape 19"/>
          <p:cNvSpPr/>
          <p:nvPr/>
        </p:nvSpPr>
        <p:spPr>
          <a:xfrm>
            <a:off x="3227832" y="1005840"/>
            <a:ext cx="2743200" cy="3913632"/>
          </a:xfrm>
          <a:prstGeom prst="roundRect">
            <a:avLst>
              <a:gd name="adj" fmla="val 3333"/>
            </a:avLst>
          </a:prstGeom>
          <a:solidFill>
            <a:srgbClr val="162840"/>
          </a:solidFill>
          <a:ln w="15240">
            <a:solidFill>
              <a:srgbClr val="D4A017"/>
            </a:solidFill>
            <a:prstDash val="solid"/>
          </a:ln>
          <a:effectLst>
            <a:outerShdw sx="100000" sy="100000" kx="0" ky="0" algn="bl" rotWithShape="0" blurRad="101600" dist="38100" dir="2700000">
              <a:srgbClr val="000000">
                <a:alpha val="18000"/>
              </a:srgbClr>
            </a:outerShdw>
          </a:effectLst>
        </p:spPr>
      </p:sp>
      <p:sp>
        <p:nvSpPr>
          <p:cNvPr id="23" name="Shape 20"/>
          <p:cNvSpPr/>
          <p:nvPr/>
        </p:nvSpPr>
        <p:spPr>
          <a:xfrm>
            <a:off x="3227832" y="1005840"/>
            <a:ext cx="2743200" cy="822960"/>
          </a:xfrm>
          <a:prstGeom prst="roundRect">
            <a:avLst>
              <a:gd name="adj" fmla="val 11111"/>
            </a:avLst>
          </a:prstGeom>
          <a:solidFill>
            <a:srgbClr val="1A3353"/>
          </a:solidFill>
          <a:ln w="12700">
            <a:solidFill>
              <a:srgbClr val="D4A017"/>
            </a:solidFill>
            <a:prstDash val="solid"/>
          </a:ln>
        </p:spPr>
      </p:sp>
      <p:sp>
        <p:nvSpPr>
          <p:cNvPr id="24" name="Shape 21"/>
          <p:cNvSpPr/>
          <p:nvPr/>
        </p:nvSpPr>
        <p:spPr>
          <a:xfrm>
            <a:off x="3227832" y="1463040"/>
            <a:ext cx="2743200" cy="365760"/>
          </a:xfrm>
          <a:prstGeom prst="rect">
            <a:avLst/>
          </a:prstGeom>
          <a:solidFill>
            <a:srgbClr val="1A3353"/>
          </a:solidFill>
          <a:ln w="12700">
            <a:solidFill>
              <a:srgbClr val="1A3353"/>
            </a:solidFill>
            <a:prstDash val="solid"/>
          </a:ln>
        </p:spPr>
      </p:sp>
      <p:pic>
        <p:nvPicPr>
          <p:cNvPr id="25" name="Image 1" descr="preencoded.png">    </p:cNvPr>
          <p:cNvPicPr>
            <a:picLocks noChangeAspect="1"/>
          </p:cNvPicPr>
          <p:nvPr/>
        </p:nvPicPr>
        <p:blipFill>
          <a:blip r:embed="rId2"/>
          <a:stretch>
            <a:fillRect/>
          </a:stretch>
        </p:blipFill>
        <p:spPr>
          <a:xfrm>
            <a:off x="3364992" y="1097280"/>
            <a:ext cx="502920" cy="502920"/>
          </a:xfrm>
          <a:prstGeom prst="rect">
            <a:avLst/>
          </a:prstGeom>
        </p:spPr>
      </p:pic>
      <p:sp>
        <p:nvSpPr>
          <p:cNvPr id="26" name="Text 22"/>
          <p:cNvSpPr/>
          <p:nvPr/>
        </p:nvSpPr>
        <p:spPr>
          <a:xfrm>
            <a:off x="3959352" y="1115568"/>
            <a:ext cx="1920240" cy="347472"/>
          </a:xfrm>
          <a:prstGeom prst="rect">
            <a:avLst/>
          </a:prstGeom>
          <a:noFill/>
          <a:ln/>
        </p:spPr>
        <p:txBody>
          <a:bodyPr wrap="square" lIns="0" tIns="0" rIns="0" bIns="0" rtlCol="0" anchor="ctr"/>
          <a:lstStyle/>
          <a:p>
            <a:pPr indent="0" marL="0">
              <a:buNone/>
            </a:pPr>
            <a:r>
              <a:rPr lang="en-US" sz="1600" b="1" dirty="0">
                <a:solidFill>
                  <a:srgbClr val="D4A017"/>
                </a:solidFill>
                <a:latin typeface="Cambria" pitchFamily="34" charset="0"/>
                <a:ea typeface="Cambria" pitchFamily="34" charset="-122"/>
                <a:cs typeface="Cambria" pitchFamily="34" charset="-120"/>
              </a:rPr>
              <a:t>Backend</a:t>
            </a:r>
            <a:endParaRPr lang="en-US" sz="1600" dirty="0"/>
          </a:p>
        </p:txBody>
      </p:sp>
      <p:sp>
        <p:nvSpPr>
          <p:cNvPr id="27" name="Shape 23"/>
          <p:cNvSpPr/>
          <p:nvPr/>
        </p:nvSpPr>
        <p:spPr>
          <a:xfrm>
            <a:off x="3337560" y="1920240"/>
            <a:ext cx="2523744" cy="365760"/>
          </a:xfrm>
          <a:prstGeom prst="roundRect">
            <a:avLst>
              <a:gd name="adj" fmla="val 15000"/>
            </a:avLst>
          </a:prstGeom>
          <a:solidFill>
            <a:srgbClr val="0D1B2A"/>
          </a:solidFill>
          <a:ln w="7620">
            <a:solidFill>
              <a:srgbClr val="1B5E8C"/>
            </a:solidFill>
            <a:prstDash val="solid"/>
          </a:ln>
        </p:spPr>
      </p:sp>
      <p:sp>
        <p:nvSpPr>
          <p:cNvPr id="28" name="Text 24"/>
          <p:cNvSpPr/>
          <p:nvPr/>
        </p:nvSpPr>
        <p:spPr>
          <a:xfrm>
            <a:off x="3392424" y="1956816"/>
            <a:ext cx="2423160" cy="292608"/>
          </a:xfrm>
          <a:prstGeom prst="rect">
            <a:avLst/>
          </a:prstGeom>
          <a:noFill/>
          <a:ln/>
        </p:spPr>
        <p:txBody>
          <a:bodyPr wrap="square" lIns="0" tIns="0" rIns="0" bIns="0" rtlCol="0" anchor="ctr"/>
          <a:lstStyle/>
          <a:p>
            <a:pPr indent="0" marL="0">
              <a:buNone/>
            </a:pPr>
            <a:r>
              <a:rPr lang="en-US" sz="950" b="1" dirty="0">
                <a:solidFill>
                  <a:srgbClr val="D4A017"/>
                </a:solidFill>
                <a:latin typeface="Calibri" pitchFamily="34" charset="0"/>
                <a:ea typeface="Calibri" pitchFamily="34" charset="-122"/>
                <a:cs typeface="Calibri" pitchFamily="34" charset="-120"/>
              </a:rPr>
              <a:t>FastAPI + Async SQLite / PostgreSQL</a:t>
            </a:r>
            <a:endParaRPr lang="en-US" sz="950" dirty="0"/>
          </a:p>
        </p:txBody>
      </p:sp>
      <p:sp>
        <p:nvSpPr>
          <p:cNvPr id="29" name="Shape 25"/>
          <p:cNvSpPr/>
          <p:nvPr/>
        </p:nvSpPr>
        <p:spPr>
          <a:xfrm>
            <a:off x="3392424" y="2487168"/>
            <a:ext cx="128016" cy="128016"/>
          </a:xfrm>
          <a:prstGeom prst="ellipse">
            <a:avLst/>
          </a:prstGeom>
          <a:solidFill>
            <a:srgbClr val="D4A017"/>
          </a:solidFill>
          <a:ln w="12700">
            <a:solidFill>
              <a:srgbClr val="D4A017"/>
            </a:solidFill>
            <a:prstDash val="solid"/>
          </a:ln>
        </p:spPr>
      </p:sp>
      <p:sp>
        <p:nvSpPr>
          <p:cNvPr id="30" name="Text 26"/>
          <p:cNvSpPr/>
          <p:nvPr/>
        </p:nvSpPr>
        <p:spPr>
          <a:xfrm>
            <a:off x="3593592" y="2432304"/>
            <a:ext cx="2267712" cy="347472"/>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Async WebSocket streams</a:t>
            </a:r>
            <a:endParaRPr lang="en-US" sz="1100" dirty="0"/>
          </a:p>
        </p:txBody>
      </p:sp>
      <p:sp>
        <p:nvSpPr>
          <p:cNvPr id="31" name="Shape 27"/>
          <p:cNvSpPr/>
          <p:nvPr/>
        </p:nvSpPr>
        <p:spPr>
          <a:xfrm>
            <a:off x="3392424" y="2944368"/>
            <a:ext cx="128016" cy="128016"/>
          </a:xfrm>
          <a:prstGeom prst="ellipse">
            <a:avLst/>
          </a:prstGeom>
          <a:solidFill>
            <a:srgbClr val="D4A017"/>
          </a:solidFill>
          <a:ln w="12700">
            <a:solidFill>
              <a:srgbClr val="D4A017"/>
            </a:solidFill>
            <a:prstDash val="solid"/>
          </a:ln>
        </p:spPr>
      </p:sp>
      <p:sp>
        <p:nvSpPr>
          <p:cNvPr id="32" name="Text 28"/>
          <p:cNvSpPr/>
          <p:nvPr/>
        </p:nvSpPr>
        <p:spPr>
          <a:xfrm>
            <a:off x="3593592" y="2889504"/>
            <a:ext cx="2267712" cy="347472"/>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SQL ORM database models</a:t>
            </a:r>
            <a:endParaRPr lang="en-US" sz="1100" dirty="0"/>
          </a:p>
        </p:txBody>
      </p:sp>
      <p:sp>
        <p:nvSpPr>
          <p:cNvPr id="33" name="Shape 29"/>
          <p:cNvSpPr/>
          <p:nvPr/>
        </p:nvSpPr>
        <p:spPr>
          <a:xfrm>
            <a:off x="3392424" y="3401568"/>
            <a:ext cx="128016" cy="128016"/>
          </a:xfrm>
          <a:prstGeom prst="ellipse">
            <a:avLst/>
          </a:prstGeom>
          <a:solidFill>
            <a:srgbClr val="D4A017"/>
          </a:solidFill>
          <a:ln w="12700">
            <a:solidFill>
              <a:srgbClr val="D4A017"/>
            </a:solidFill>
            <a:prstDash val="solid"/>
          </a:ln>
        </p:spPr>
      </p:sp>
      <p:sp>
        <p:nvSpPr>
          <p:cNvPr id="34" name="Text 30"/>
          <p:cNvSpPr/>
          <p:nvPr/>
        </p:nvSpPr>
        <p:spPr>
          <a:xfrm>
            <a:off x="3593592" y="3346704"/>
            <a:ext cx="2267712" cy="347472"/>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Secure HTTPS API endpoint</a:t>
            </a:r>
            <a:endParaRPr lang="en-US" sz="1100" dirty="0"/>
          </a:p>
        </p:txBody>
      </p:sp>
      <p:sp>
        <p:nvSpPr>
          <p:cNvPr id="35" name="Shape 31"/>
          <p:cNvSpPr/>
          <p:nvPr/>
        </p:nvSpPr>
        <p:spPr>
          <a:xfrm>
            <a:off x="3392424" y="3858768"/>
            <a:ext cx="128016" cy="128016"/>
          </a:xfrm>
          <a:prstGeom prst="ellipse">
            <a:avLst/>
          </a:prstGeom>
          <a:solidFill>
            <a:srgbClr val="D4A017"/>
          </a:solidFill>
          <a:ln w="12700">
            <a:solidFill>
              <a:srgbClr val="D4A017"/>
            </a:solidFill>
            <a:prstDash val="solid"/>
          </a:ln>
        </p:spPr>
      </p:sp>
      <p:sp>
        <p:nvSpPr>
          <p:cNvPr id="36" name="Text 32"/>
          <p:cNvSpPr/>
          <p:nvPr/>
        </p:nvSpPr>
        <p:spPr>
          <a:xfrm>
            <a:off x="3593592" y="3803904"/>
            <a:ext cx="2267712" cy="347472"/>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SSL self-signed support</a:t>
            </a:r>
            <a:endParaRPr lang="en-US" sz="1100" dirty="0"/>
          </a:p>
        </p:txBody>
      </p:sp>
      <p:sp>
        <p:nvSpPr>
          <p:cNvPr id="37" name="Shape 33"/>
          <p:cNvSpPr/>
          <p:nvPr/>
        </p:nvSpPr>
        <p:spPr>
          <a:xfrm>
            <a:off x="3392424" y="4315968"/>
            <a:ext cx="128016" cy="128016"/>
          </a:xfrm>
          <a:prstGeom prst="ellipse">
            <a:avLst/>
          </a:prstGeom>
          <a:solidFill>
            <a:srgbClr val="D4A017"/>
          </a:solidFill>
          <a:ln w="12700">
            <a:solidFill>
              <a:srgbClr val="D4A017"/>
            </a:solidFill>
            <a:prstDash val="solid"/>
          </a:ln>
        </p:spPr>
      </p:sp>
      <p:sp>
        <p:nvSpPr>
          <p:cNvPr id="38" name="Text 34"/>
          <p:cNvSpPr/>
          <p:nvPr/>
        </p:nvSpPr>
        <p:spPr>
          <a:xfrm>
            <a:off x="3593592" y="4261104"/>
            <a:ext cx="2267712" cy="347472"/>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RESTful violation ingestion</a:t>
            </a:r>
            <a:endParaRPr lang="en-US" sz="1100" dirty="0"/>
          </a:p>
        </p:txBody>
      </p:sp>
      <p:sp>
        <p:nvSpPr>
          <p:cNvPr id="39" name="Shape 35"/>
          <p:cNvSpPr/>
          <p:nvPr/>
        </p:nvSpPr>
        <p:spPr>
          <a:xfrm>
            <a:off x="6199632" y="1005840"/>
            <a:ext cx="2743200" cy="3913632"/>
          </a:xfrm>
          <a:prstGeom prst="roundRect">
            <a:avLst>
              <a:gd name="adj" fmla="val 3333"/>
            </a:avLst>
          </a:prstGeom>
          <a:solidFill>
            <a:srgbClr val="162840"/>
          </a:solidFill>
          <a:ln w="15240">
            <a:solidFill>
              <a:srgbClr val="27AE60"/>
            </a:solidFill>
            <a:prstDash val="solid"/>
          </a:ln>
          <a:effectLst>
            <a:outerShdw sx="100000" sy="100000" kx="0" ky="0" algn="bl" rotWithShape="0" blurRad="101600" dist="38100" dir="2700000">
              <a:srgbClr val="000000">
                <a:alpha val="18000"/>
              </a:srgbClr>
            </a:outerShdw>
          </a:effectLst>
        </p:spPr>
      </p:sp>
      <p:sp>
        <p:nvSpPr>
          <p:cNvPr id="40" name="Shape 36"/>
          <p:cNvSpPr/>
          <p:nvPr/>
        </p:nvSpPr>
        <p:spPr>
          <a:xfrm>
            <a:off x="6199632" y="1005840"/>
            <a:ext cx="2743200" cy="822960"/>
          </a:xfrm>
          <a:prstGeom prst="roundRect">
            <a:avLst>
              <a:gd name="adj" fmla="val 11111"/>
            </a:avLst>
          </a:prstGeom>
          <a:solidFill>
            <a:srgbClr val="1A3353"/>
          </a:solidFill>
          <a:ln w="12700">
            <a:solidFill>
              <a:srgbClr val="27AE60"/>
            </a:solidFill>
            <a:prstDash val="solid"/>
          </a:ln>
        </p:spPr>
      </p:sp>
      <p:sp>
        <p:nvSpPr>
          <p:cNvPr id="41" name="Shape 37"/>
          <p:cNvSpPr/>
          <p:nvPr/>
        </p:nvSpPr>
        <p:spPr>
          <a:xfrm>
            <a:off x="6199632" y="1463040"/>
            <a:ext cx="2743200" cy="365760"/>
          </a:xfrm>
          <a:prstGeom prst="rect">
            <a:avLst/>
          </a:prstGeom>
          <a:solidFill>
            <a:srgbClr val="1A3353"/>
          </a:solidFill>
          <a:ln w="12700">
            <a:solidFill>
              <a:srgbClr val="1A3353"/>
            </a:solidFill>
            <a:prstDash val="solid"/>
          </a:ln>
        </p:spPr>
      </p:sp>
      <p:pic>
        <p:nvPicPr>
          <p:cNvPr id="42" name="Image 2" descr="preencoded.png">    </p:cNvPr>
          <p:cNvPicPr>
            <a:picLocks noChangeAspect="1"/>
          </p:cNvPicPr>
          <p:nvPr/>
        </p:nvPicPr>
        <p:blipFill>
          <a:blip r:embed="rId3"/>
          <a:stretch>
            <a:fillRect/>
          </a:stretch>
        </p:blipFill>
        <p:spPr>
          <a:xfrm>
            <a:off x="6336792" y="1097280"/>
            <a:ext cx="502920" cy="502920"/>
          </a:xfrm>
          <a:prstGeom prst="rect">
            <a:avLst/>
          </a:prstGeom>
        </p:spPr>
      </p:pic>
      <p:sp>
        <p:nvSpPr>
          <p:cNvPr id="43" name="Text 38"/>
          <p:cNvSpPr/>
          <p:nvPr/>
        </p:nvSpPr>
        <p:spPr>
          <a:xfrm>
            <a:off x="6931152" y="1115568"/>
            <a:ext cx="1920240" cy="347472"/>
          </a:xfrm>
          <a:prstGeom prst="rect">
            <a:avLst/>
          </a:prstGeom>
          <a:noFill/>
          <a:ln/>
        </p:spPr>
        <p:txBody>
          <a:bodyPr wrap="square" lIns="0" tIns="0" rIns="0" bIns="0" rtlCol="0" anchor="ctr"/>
          <a:lstStyle/>
          <a:p>
            <a:pPr indent="0" marL="0">
              <a:buNone/>
            </a:pPr>
            <a:r>
              <a:rPr lang="en-US" sz="1600" b="1" dirty="0">
                <a:solidFill>
                  <a:srgbClr val="27AE60"/>
                </a:solidFill>
                <a:latin typeface="Cambria" pitchFamily="34" charset="0"/>
                <a:ea typeface="Cambria" pitchFamily="34" charset="-122"/>
                <a:cs typeface="Cambria" pitchFamily="34" charset="-120"/>
              </a:rPr>
              <a:t>ML Pipeline</a:t>
            </a:r>
            <a:endParaRPr lang="en-US" sz="1600" dirty="0"/>
          </a:p>
        </p:txBody>
      </p:sp>
      <p:sp>
        <p:nvSpPr>
          <p:cNvPr id="44" name="Shape 39"/>
          <p:cNvSpPr/>
          <p:nvPr/>
        </p:nvSpPr>
        <p:spPr>
          <a:xfrm>
            <a:off x="6309360" y="1920240"/>
            <a:ext cx="2523744" cy="365760"/>
          </a:xfrm>
          <a:prstGeom prst="roundRect">
            <a:avLst>
              <a:gd name="adj" fmla="val 15000"/>
            </a:avLst>
          </a:prstGeom>
          <a:solidFill>
            <a:srgbClr val="0D1B2A"/>
          </a:solidFill>
          <a:ln w="7620">
            <a:solidFill>
              <a:srgbClr val="1B5E8C"/>
            </a:solidFill>
            <a:prstDash val="solid"/>
          </a:ln>
        </p:spPr>
      </p:sp>
      <p:sp>
        <p:nvSpPr>
          <p:cNvPr id="45" name="Text 40"/>
          <p:cNvSpPr/>
          <p:nvPr/>
        </p:nvSpPr>
        <p:spPr>
          <a:xfrm>
            <a:off x="6364224" y="1956816"/>
            <a:ext cx="2423160" cy="292608"/>
          </a:xfrm>
          <a:prstGeom prst="rect">
            <a:avLst/>
          </a:prstGeom>
          <a:noFill/>
          <a:ln/>
        </p:spPr>
        <p:txBody>
          <a:bodyPr wrap="square" lIns="0" tIns="0" rIns="0" bIns="0" rtlCol="0" anchor="ctr"/>
          <a:lstStyle/>
          <a:p>
            <a:pPr indent="0" marL="0">
              <a:buNone/>
            </a:pPr>
            <a:r>
              <a:rPr lang="en-US" sz="950" b="1" dirty="0">
                <a:solidFill>
                  <a:srgbClr val="27AE60"/>
                </a:solidFill>
                <a:latin typeface="Calibri" pitchFamily="34" charset="0"/>
                <a:ea typeface="Calibri" pitchFamily="34" charset="-122"/>
                <a:cs typeface="Calibri" pitchFamily="34" charset="-120"/>
              </a:rPr>
              <a:t>YOLOv8 + ByteTrack + Tesseract</a:t>
            </a:r>
            <a:endParaRPr lang="en-US" sz="950" dirty="0"/>
          </a:p>
        </p:txBody>
      </p:sp>
      <p:sp>
        <p:nvSpPr>
          <p:cNvPr id="46" name="Shape 41"/>
          <p:cNvSpPr/>
          <p:nvPr/>
        </p:nvSpPr>
        <p:spPr>
          <a:xfrm>
            <a:off x="6364224" y="2487168"/>
            <a:ext cx="128016" cy="128016"/>
          </a:xfrm>
          <a:prstGeom prst="ellipse">
            <a:avLst/>
          </a:prstGeom>
          <a:solidFill>
            <a:srgbClr val="27AE60"/>
          </a:solidFill>
          <a:ln w="12700">
            <a:solidFill>
              <a:srgbClr val="27AE60"/>
            </a:solidFill>
            <a:prstDash val="solid"/>
          </a:ln>
        </p:spPr>
      </p:sp>
      <p:sp>
        <p:nvSpPr>
          <p:cNvPr id="47" name="Text 42"/>
          <p:cNvSpPr/>
          <p:nvPr/>
        </p:nvSpPr>
        <p:spPr>
          <a:xfrm>
            <a:off x="6565392" y="2432304"/>
            <a:ext cx="2267712" cy="347472"/>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Vehicle detection — COCO 6 classes</a:t>
            </a:r>
            <a:endParaRPr lang="en-US" sz="1100" dirty="0"/>
          </a:p>
        </p:txBody>
      </p:sp>
      <p:sp>
        <p:nvSpPr>
          <p:cNvPr id="48" name="Shape 43"/>
          <p:cNvSpPr/>
          <p:nvPr/>
        </p:nvSpPr>
        <p:spPr>
          <a:xfrm>
            <a:off x="6364224" y="2944368"/>
            <a:ext cx="128016" cy="128016"/>
          </a:xfrm>
          <a:prstGeom prst="ellipse">
            <a:avLst/>
          </a:prstGeom>
          <a:solidFill>
            <a:srgbClr val="27AE60"/>
          </a:solidFill>
          <a:ln w="12700">
            <a:solidFill>
              <a:srgbClr val="27AE60"/>
            </a:solidFill>
            <a:prstDash val="solid"/>
          </a:ln>
        </p:spPr>
      </p:sp>
      <p:sp>
        <p:nvSpPr>
          <p:cNvPr id="49" name="Text 44"/>
          <p:cNvSpPr/>
          <p:nvPr/>
        </p:nvSpPr>
        <p:spPr>
          <a:xfrm>
            <a:off x="6565392" y="2889504"/>
            <a:ext cx="2267712" cy="347472"/>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ByteTrack multi-object tracking</a:t>
            </a:r>
            <a:endParaRPr lang="en-US" sz="1100" dirty="0"/>
          </a:p>
        </p:txBody>
      </p:sp>
      <p:sp>
        <p:nvSpPr>
          <p:cNvPr id="50" name="Shape 45"/>
          <p:cNvSpPr/>
          <p:nvPr/>
        </p:nvSpPr>
        <p:spPr>
          <a:xfrm>
            <a:off x="6364224" y="3401568"/>
            <a:ext cx="128016" cy="128016"/>
          </a:xfrm>
          <a:prstGeom prst="ellipse">
            <a:avLst/>
          </a:prstGeom>
          <a:solidFill>
            <a:srgbClr val="27AE60"/>
          </a:solidFill>
          <a:ln w="12700">
            <a:solidFill>
              <a:srgbClr val="27AE60"/>
            </a:solidFill>
            <a:prstDash val="solid"/>
          </a:ln>
        </p:spPr>
      </p:sp>
      <p:sp>
        <p:nvSpPr>
          <p:cNvPr id="51" name="Text 46"/>
          <p:cNvSpPr/>
          <p:nvPr/>
        </p:nvSpPr>
        <p:spPr>
          <a:xfrm>
            <a:off x="6565392" y="3346704"/>
            <a:ext cx="2267712" cy="347472"/>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Helmet CNN (MobileNetV3)</a:t>
            </a:r>
            <a:endParaRPr lang="en-US" sz="1100" dirty="0"/>
          </a:p>
        </p:txBody>
      </p:sp>
      <p:sp>
        <p:nvSpPr>
          <p:cNvPr id="52" name="Shape 47"/>
          <p:cNvSpPr/>
          <p:nvPr/>
        </p:nvSpPr>
        <p:spPr>
          <a:xfrm>
            <a:off x="6364224" y="3858768"/>
            <a:ext cx="128016" cy="128016"/>
          </a:xfrm>
          <a:prstGeom prst="ellipse">
            <a:avLst/>
          </a:prstGeom>
          <a:solidFill>
            <a:srgbClr val="27AE60"/>
          </a:solidFill>
          <a:ln w="12700">
            <a:solidFill>
              <a:srgbClr val="27AE60"/>
            </a:solidFill>
            <a:prstDash val="solid"/>
          </a:ln>
        </p:spPr>
      </p:sp>
      <p:sp>
        <p:nvSpPr>
          <p:cNvPr id="53" name="Text 48"/>
          <p:cNvSpPr/>
          <p:nvPr/>
        </p:nvSpPr>
        <p:spPr>
          <a:xfrm>
            <a:off x="6565392" y="3803904"/>
            <a:ext cx="2267712" cy="347472"/>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Drowsiness — MediaPipe FaceMesh</a:t>
            </a:r>
            <a:endParaRPr lang="en-US" sz="1100" dirty="0"/>
          </a:p>
        </p:txBody>
      </p:sp>
      <p:sp>
        <p:nvSpPr>
          <p:cNvPr id="54" name="Shape 49"/>
          <p:cNvSpPr/>
          <p:nvPr/>
        </p:nvSpPr>
        <p:spPr>
          <a:xfrm>
            <a:off x="6364224" y="4315968"/>
            <a:ext cx="128016" cy="128016"/>
          </a:xfrm>
          <a:prstGeom prst="ellipse">
            <a:avLst/>
          </a:prstGeom>
          <a:solidFill>
            <a:srgbClr val="27AE60"/>
          </a:solidFill>
          <a:ln w="12700">
            <a:solidFill>
              <a:srgbClr val="27AE60"/>
            </a:solidFill>
            <a:prstDash val="solid"/>
          </a:ln>
        </p:spPr>
      </p:sp>
      <p:sp>
        <p:nvSpPr>
          <p:cNvPr id="55" name="Text 50"/>
          <p:cNvSpPr/>
          <p:nvPr/>
        </p:nvSpPr>
        <p:spPr>
          <a:xfrm>
            <a:off x="6565392" y="4261104"/>
            <a:ext cx="2267712" cy="347472"/>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OCR plate reading pipeline</a:t>
            </a:r>
            <a:endParaRPr lang="en-US" sz="1100" dirty="0"/>
          </a:p>
        </p:txBody>
      </p:sp>
      <p:sp>
        <p:nvSpPr>
          <p:cNvPr id="56" name="Shape 51"/>
          <p:cNvSpPr/>
          <p:nvPr/>
        </p:nvSpPr>
        <p:spPr>
          <a:xfrm>
            <a:off x="256032" y="4663440"/>
            <a:ext cx="8631936" cy="347472"/>
          </a:xfrm>
          <a:prstGeom prst="roundRect">
            <a:avLst>
              <a:gd name="adj" fmla="val 15789"/>
            </a:avLst>
          </a:prstGeom>
          <a:solidFill>
            <a:srgbClr val="1A3353"/>
          </a:solidFill>
          <a:ln w="10160">
            <a:solidFill>
              <a:srgbClr val="2E86C1"/>
            </a:solidFill>
            <a:prstDash val="solid"/>
          </a:ln>
        </p:spPr>
      </p:sp>
      <p:sp>
        <p:nvSpPr>
          <p:cNvPr id="57" name="Text 52"/>
          <p:cNvSpPr/>
          <p:nvPr/>
        </p:nvSpPr>
        <p:spPr>
          <a:xfrm>
            <a:off x="365760" y="4700016"/>
            <a:ext cx="8321040" cy="274320"/>
          </a:xfrm>
          <a:prstGeom prst="rect">
            <a:avLst/>
          </a:prstGeom>
          <a:noFill/>
          <a:ln/>
        </p:spPr>
        <p:txBody>
          <a:bodyPr wrap="square" lIns="0" tIns="0" rIns="0" bIns="0" rtlCol="0" anchor="ctr"/>
          <a:lstStyle/>
          <a:p>
            <a:pPr algn="ctr" indent="0" marL="0">
              <a:buNone/>
            </a:pPr>
            <a:r>
              <a:rPr lang="en-US" sz="1100" b="1" dirty="0">
                <a:solidFill>
                  <a:srgbClr val="27AE60"/>
                </a:solidFill>
                <a:latin typeface="Calibri" pitchFamily="34" charset="0"/>
                <a:ea typeface="Calibri" pitchFamily="34" charset="-122"/>
                <a:cs typeface="Calibri" pitchFamily="34" charset="-120"/>
              </a:rPr>
              <a:t>⚡  ML pipeline executes in &lt; 6.7 sec on CPU  ·  35+ vehicles detected per frame  ·  Verified in local environment tests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sp>
      <p:sp>
        <p:nvSpPr>
          <p:cNvPr id="3" name="Text 1"/>
          <p:cNvSpPr/>
          <p:nvPr/>
        </p:nvSpPr>
        <p:spPr>
          <a:xfrm>
            <a:off x="365760" y="73152"/>
            <a:ext cx="2743200" cy="274320"/>
          </a:xfrm>
          <a:prstGeom prst="rect">
            <a:avLst/>
          </a:prstGeom>
          <a:noFill/>
          <a:ln/>
        </p:spPr>
        <p:txBody>
          <a:bodyPr wrap="square" lIns="0" tIns="0" rIns="0" bIns="0" rtlCol="0" anchor="ctr"/>
          <a:lstStyle/>
          <a:p>
            <a:pPr indent="0" marL="0">
              <a:buNone/>
            </a:pPr>
            <a:r>
              <a:rPr lang="en-US" sz="1000" b="1" spc="300" kern="0" dirty="0">
                <a:solidFill>
                  <a:srgbClr val="5DADE2"/>
                </a:solidFill>
                <a:latin typeface="Calibri" pitchFamily="34" charset="0"/>
                <a:ea typeface="Calibri" pitchFamily="34" charset="-122"/>
                <a:cs typeface="Calibri" pitchFamily="34" charset="-120"/>
              </a:rPr>
              <a:t>ROADMAP</a:t>
            </a:r>
            <a:endParaRPr lang="en-US" sz="1000" dirty="0"/>
          </a:p>
        </p:txBody>
      </p:sp>
      <p:sp>
        <p:nvSpPr>
          <p:cNvPr id="4" name="Text 2"/>
          <p:cNvSpPr/>
          <p:nvPr/>
        </p:nvSpPr>
        <p:spPr>
          <a:xfrm>
            <a:off x="365760" y="365760"/>
            <a:ext cx="822960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Future Scope: Moving to Production</a:t>
            </a:r>
            <a:endParaRPr lang="en-US" sz="2600" dirty="0"/>
          </a:p>
        </p:txBody>
      </p:sp>
      <p:sp>
        <p:nvSpPr>
          <p:cNvPr id="5" name="Shape 3"/>
          <p:cNvSpPr/>
          <p:nvPr/>
        </p:nvSpPr>
        <p:spPr>
          <a:xfrm>
            <a:off x="731520" y="2395728"/>
            <a:ext cx="7772400" cy="0"/>
          </a:xfrm>
          <a:prstGeom prst="line">
            <a:avLst/>
          </a:prstGeom>
          <a:noFill/>
          <a:ln w="31750">
            <a:solidFill>
              <a:srgbClr val="2E86C1"/>
            </a:solidFill>
            <a:prstDash val="solid"/>
          </a:ln>
        </p:spPr>
      </p:sp>
      <p:sp>
        <p:nvSpPr>
          <p:cNvPr id="6" name="Shape 4"/>
          <p:cNvSpPr/>
          <p:nvPr/>
        </p:nvSpPr>
        <p:spPr>
          <a:xfrm>
            <a:off x="1005840" y="2276856"/>
            <a:ext cx="237744" cy="237744"/>
          </a:xfrm>
          <a:prstGeom prst="ellipse">
            <a:avLst/>
          </a:prstGeom>
          <a:solidFill>
            <a:srgbClr val="D4A017"/>
          </a:solidFill>
          <a:ln w="12700">
            <a:solidFill>
              <a:srgbClr val="D4A017"/>
            </a:solidFill>
            <a:prstDash val="solid"/>
          </a:ln>
        </p:spPr>
      </p:sp>
      <p:sp>
        <p:nvSpPr>
          <p:cNvPr id="7" name="Shape 5"/>
          <p:cNvSpPr/>
          <p:nvPr/>
        </p:nvSpPr>
        <p:spPr>
          <a:xfrm>
            <a:off x="1124712" y="2276856"/>
            <a:ext cx="0" cy="-1225296"/>
          </a:xfrm>
          <a:prstGeom prst="line">
            <a:avLst/>
          </a:prstGeom>
          <a:noFill/>
          <a:ln w="12700">
            <a:solidFill>
              <a:srgbClr val="D4A017"/>
            </a:solidFill>
            <a:prstDash val="dash"/>
          </a:ln>
        </p:spPr>
      </p:sp>
      <p:sp>
        <p:nvSpPr>
          <p:cNvPr id="8" name="Shape 6"/>
          <p:cNvSpPr/>
          <p:nvPr/>
        </p:nvSpPr>
        <p:spPr>
          <a:xfrm>
            <a:off x="502920" y="1051560"/>
            <a:ext cx="1481328" cy="1188720"/>
          </a:xfrm>
          <a:prstGeom prst="roundRect">
            <a:avLst>
              <a:gd name="adj" fmla="val 6154"/>
            </a:avLst>
          </a:prstGeom>
          <a:solidFill>
            <a:srgbClr val="FFFFFF"/>
          </a:solidFill>
          <a:ln w="12700">
            <a:solidFill>
              <a:srgbClr val="DDE4EC"/>
            </a:solidFill>
            <a:prstDash val="solid"/>
          </a:ln>
          <a:effectLst>
            <a:outerShdw sx="100000" sy="100000" kx="0" ky="0" algn="bl" rotWithShape="0" blurRad="152400" dist="50800" dir="2700000">
              <a:srgbClr val="000000">
                <a:alpha val="22000"/>
              </a:srgbClr>
            </a:outerShdw>
          </a:effectLst>
        </p:spPr>
      </p:sp>
      <p:sp>
        <p:nvSpPr>
          <p:cNvPr id="9" name="Shape 7"/>
          <p:cNvSpPr/>
          <p:nvPr/>
        </p:nvSpPr>
        <p:spPr>
          <a:xfrm>
            <a:off x="576072" y="1106424"/>
            <a:ext cx="1335024" cy="219456"/>
          </a:xfrm>
          <a:prstGeom prst="roundRect">
            <a:avLst>
              <a:gd name="adj" fmla="val 16667"/>
            </a:avLst>
          </a:prstGeom>
          <a:solidFill>
            <a:srgbClr val="D4A017">
              <a:alpha val="20000"/>
            </a:srgbClr>
          </a:solidFill>
          <a:ln w="6350">
            <a:solidFill>
              <a:srgbClr val="D4A017"/>
            </a:solidFill>
            <a:prstDash val="solid"/>
          </a:ln>
        </p:spPr>
      </p:sp>
      <p:sp>
        <p:nvSpPr>
          <p:cNvPr id="10" name="Text 8"/>
          <p:cNvSpPr/>
          <p:nvPr/>
        </p:nvSpPr>
        <p:spPr>
          <a:xfrm>
            <a:off x="576072" y="1115568"/>
            <a:ext cx="1335024" cy="201168"/>
          </a:xfrm>
          <a:prstGeom prst="rect">
            <a:avLst/>
          </a:prstGeom>
          <a:noFill/>
          <a:ln/>
        </p:spPr>
        <p:txBody>
          <a:bodyPr wrap="square" lIns="0" tIns="0" rIns="0" bIns="0" rtlCol="0" anchor="ctr"/>
          <a:lstStyle/>
          <a:p>
            <a:pPr algn="ctr" indent="0" marL="0">
              <a:buNone/>
            </a:pPr>
            <a:r>
              <a:rPr lang="en-US" sz="800" b="1" dirty="0">
                <a:solidFill>
                  <a:srgbClr val="D4A017"/>
                </a:solidFill>
                <a:latin typeface="Calibri" pitchFamily="34" charset="0"/>
                <a:ea typeface="Calibri" pitchFamily="34" charset="-122"/>
                <a:cs typeface="Calibri" pitchFamily="34" charset="-120"/>
              </a:rPr>
              <a:t>In Progress</a:t>
            </a:r>
            <a:endParaRPr lang="en-US" sz="800" dirty="0"/>
          </a:p>
        </p:txBody>
      </p:sp>
      <p:sp>
        <p:nvSpPr>
          <p:cNvPr id="11" name="Text 9"/>
          <p:cNvSpPr/>
          <p:nvPr/>
        </p:nvSpPr>
        <p:spPr>
          <a:xfrm>
            <a:off x="576072" y="1362456"/>
            <a:ext cx="1335024" cy="365760"/>
          </a:xfrm>
          <a:prstGeom prst="rect">
            <a:avLst/>
          </a:prstGeom>
          <a:noFill/>
          <a:ln/>
        </p:spPr>
        <p:txBody>
          <a:bodyPr wrap="square" lIns="0" tIns="0" rIns="0" bIns="0" rtlCol="0" anchor="ctr"/>
          <a:lstStyle/>
          <a:p>
            <a:pPr algn="ctr" indent="0" marL="0">
              <a:buNone/>
            </a:pPr>
            <a:r>
              <a:rPr lang="en-US" sz="1050" b="1" dirty="0">
                <a:solidFill>
                  <a:srgbClr val="1A2738"/>
                </a:solidFill>
                <a:latin typeface="Cambria" pitchFamily="34" charset="0"/>
                <a:ea typeface="Cambria" pitchFamily="34" charset="-122"/>
                <a:cs typeface="Cambria" pitchFamily="34" charset="-120"/>
              </a:rPr>
              <a:t>Edge Quantization</a:t>
            </a:r>
            <a:endParaRPr lang="en-US" sz="1050" dirty="0"/>
          </a:p>
        </p:txBody>
      </p:sp>
      <p:sp>
        <p:nvSpPr>
          <p:cNvPr id="12" name="Text 10"/>
          <p:cNvSpPr/>
          <p:nvPr/>
        </p:nvSpPr>
        <p:spPr>
          <a:xfrm>
            <a:off x="576072" y="1746504"/>
            <a:ext cx="1335024" cy="438912"/>
          </a:xfrm>
          <a:prstGeom prst="rect">
            <a:avLst/>
          </a:prstGeom>
          <a:noFill/>
          <a:ln/>
        </p:spPr>
        <p:txBody>
          <a:bodyPr wrap="square" lIns="0" tIns="0" rIns="0" bIns="0" rtlCol="0" anchor="ctr"/>
          <a:lstStyle/>
          <a:p>
            <a:pPr algn="ctr" indent="0" marL="0">
              <a:buNone/>
            </a:pPr>
            <a:r>
              <a:rPr lang="en-US" sz="950" dirty="0">
                <a:solidFill>
                  <a:srgbClr val="445566"/>
                </a:solidFill>
                <a:latin typeface="Calibri" pitchFamily="34" charset="0"/>
                <a:ea typeface="Calibri" pitchFamily="34" charset="-122"/>
                <a:cs typeface="Calibri" pitchFamily="34" charset="-120"/>
              </a:rPr>
              <a:t>INT8 TFLite on</a:t>
            </a:r>
            <a:endParaRPr lang="en-US" sz="950" dirty="0"/>
          </a:p>
          <a:p>
            <a:pPr algn="ctr" indent="0" marL="0">
              <a:buNone/>
            </a:pPr>
            <a:r>
              <a:rPr lang="en-US" sz="950" dirty="0">
                <a:solidFill>
                  <a:srgbClr val="445566"/>
                </a:solidFill>
                <a:latin typeface="Calibri" pitchFamily="34" charset="0"/>
                <a:ea typeface="Calibri" pitchFamily="34" charset="-122"/>
                <a:cs typeface="Calibri" pitchFamily="34" charset="-120"/>
              </a:rPr>
              <a:t>RPi5 + Coral TPU</a:t>
            </a:r>
            <a:endParaRPr lang="en-US" sz="950" dirty="0"/>
          </a:p>
        </p:txBody>
      </p:sp>
      <p:sp>
        <p:nvSpPr>
          <p:cNvPr id="13" name="Text 11"/>
          <p:cNvSpPr/>
          <p:nvPr/>
        </p:nvSpPr>
        <p:spPr>
          <a:xfrm>
            <a:off x="822960" y="2578608"/>
            <a:ext cx="822960" cy="228600"/>
          </a:xfrm>
          <a:prstGeom prst="rect">
            <a:avLst/>
          </a:prstGeom>
          <a:noFill/>
          <a:ln/>
        </p:spPr>
        <p:txBody>
          <a:bodyPr wrap="square" lIns="0" tIns="0" rIns="0" bIns="0" rtlCol="0" anchor="ctr"/>
          <a:lstStyle/>
          <a:p>
            <a:pPr algn="ctr" indent="0" marL="0">
              <a:buNone/>
            </a:pPr>
            <a:r>
              <a:rPr lang="en-US" sz="900" b="1" dirty="0">
                <a:solidFill>
                  <a:srgbClr val="2E86C1"/>
                </a:solidFill>
                <a:latin typeface="Calibri" pitchFamily="34" charset="0"/>
                <a:ea typeface="Calibri" pitchFamily="34" charset="-122"/>
                <a:cs typeface="Calibri" pitchFamily="34" charset="-120"/>
              </a:rPr>
              <a:t>Phase 1</a:t>
            </a:r>
            <a:endParaRPr lang="en-US" sz="900" dirty="0"/>
          </a:p>
        </p:txBody>
      </p:sp>
      <p:sp>
        <p:nvSpPr>
          <p:cNvPr id="14" name="Shape 12"/>
          <p:cNvSpPr/>
          <p:nvPr/>
        </p:nvSpPr>
        <p:spPr>
          <a:xfrm>
            <a:off x="2670048" y="2276856"/>
            <a:ext cx="237744" cy="237744"/>
          </a:xfrm>
          <a:prstGeom prst="ellipse">
            <a:avLst/>
          </a:prstGeom>
          <a:solidFill>
            <a:srgbClr val="5DADE2"/>
          </a:solidFill>
          <a:ln w="12700">
            <a:solidFill>
              <a:srgbClr val="5DADE2"/>
            </a:solidFill>
            <a:prstDash val="solid"/>
          </a:ln>
        </p:spPr>
      </p:sp>
      <p:sp>
        <p:nvSpPr>
          <p:cNvPr id="15" name="Shape 13"/>
          <p:cNvSpPr/>
          <p:nvPr/>
        </p:nvSpPr>
        <p:spPr>
          <a:xfrm>
            <a:off x="2788920" y="2514600"/>
            <a:ext cx="0" cy="274320"/>
          </a:xfrm>
          <a:prstGeom prst="line">
            <a:avLst/>
          </a:prstGeom>
          <a:noFill/>
          <a:ln w="12700">
            <a:solidFill>
              <a:srgbClr val="5DADE2"/>
            </a:solidFill>
            <a:prstDash val="dash"/>
          </a:ln>
        </p:spPr>
      </p:sp>
      <p:sp>
        <p:nvSpPr>
          <p:cNvPr id="16" name="Shape 14"/>
          <p:cNvSpPr/>
          <p:nvPr/>
        </p:nvSpPr>
        <p:spPr>
          <a:xfrm>
            <a:off x="2167128" y="2834640"/>
            <a:ext cx="1481328" cy="1188720"/>
          </a:xfrm>
          <a:prstGeom prst="roundRect">
            <a:avLst>
              <a:gd name="adj" fmla="val 6154"/>
            </a:avLst>
          </a:prstGeom>
          <a:solidFill>
            <a:srgbClr val="FFFFFF"/>
          </a:solidFill>
          <a:ln w="12700">
            <a:solidFill>
              <a:srgbClr val="DDE4EC"/>
            </a:solidFill>
            <a:prstDash val="solid"/>
          </a:ln>
          <a:effectLst>
            <a:outerShdw sx="100000" sy="100000" kx="0" ky="0" algn="bl" rotWithShape="0" blurRad="152400" dist="50800" dir="2700000">
              <a:srgbClr val="000000">
                <a:alpha val="22000"/>
              </a:srgbClr>
            </a:outerShdw>
          </a:effectLst>
        </p:spPr>
      </p:sp>
      <p:sp>
        <p:nvSpPr>
          <p:cNvPr id="17" name="Shape 15"/>
          <p:cNvSpPr/>
          <p:nvPr/>
        </p:nvSpPr>
        <p:spPr>
          <a:xfrm>
            <a:off x="2240280" y="2889504"/>
            <a:ext cx="1335024" cy="219456"/>
          </a:xfrm>
          <a:prstGeom prst="roundRect">
            <a:avLst>
              <a:gd name="adj" fmla="val 16667"/>
            </a:avLst>
          </a:prstGeom>
          <a:solidFill>
            <a:srgbClr val="778899">
              <a:alpha val="20000"/>
            </a:srgbClr>
          </a:solidFill>
          <a:ln w="6350">
            <a:solidFill>
              <a:srgbClr val="778899"/>
            </a:solidFill>
            <a:prstDash val="solid"/>
          </a:ln>
        </p:spPr>
      </p:sp>
      <p:sp>
        <p:nvSpPr>
          <p:cNvPr id="18" name="Text 16"/>
          <p:cNvSpPr/>
          <p:nvPr/>
        </p:nvSpPr>
        <p:spPr>
          <a:xfrm>
            <a:off x="2240280" y="2898648"/>
            <a:ext cx="1335024" cy="201168"/>
          </a:xfrm>
          <a:prstGeom prst="rect">
            <a:avLst/>
          </a:prstGeom>
          <a:noFill/>
          <a:ln/>
        </p:spPr>
        <p:txBody>
          <a:bodyPr wrap="square" lIns="0" tIns="0" rIns="0" bIns="0" rtlCol="0" anchor="ctr"/>
          <a:lstStyle/>
          <a:p>
            <a:pPr algn="ctr" indent="0" marL="0">
              <a:buNone/>
            </a:pPr>
            <a:r>
              <a:rPr lang="en-US" sz="800" b="1" dirty="0">
                <a:solidFill>
                  <a:srgbClr val="556677"/>
                </a:solidFill>
                <a:latin typeface="Calibri" pitchFamily="34" charset="0"/>
                <a:ea typeface="Calibri" pitchFamily="34" charset="-122"/>
                <a:cs typeface="Calibri" pitchFamily="34" charset="-120"/>
              </a:rPr>
              <a:t>Planned</a:t>
            </a:r>
            <a:endParaRPr lang="en-US" sz="800" dirty="0"/>
          </a:p>
        </p:txBody>
      </p:sp>
      <p:sp>
        <p:nvSpPr>
          <p:cNvPr id="19" name="Text 17"/>
          <p:cNvSpPr/>
          <p:nvPr/>
        </p:nvSpPr>
        <p:spPr>
          <a:xfrm>
            <a:off x="2240280" y="3145536"/>
            <a:ext cx="1335024" cy="365760"/>
          </a:xfrm>
          <a:prstGeom prst="rect">
            <a:avLst/>
          </a:prstGeom>
          <a:noFill/>
          <a:ln/>
        </p:spPr>
        <p:txBody>
          <a:bodyPr wrap="square" lIns="0" tIns="0" rIns="0" bIns="0" rtlCol="0" anchor="ctr"/>
          <a:lstStyle/>
          <a:p>
            <a:pPr algn="ctr" indent="0" marL="0">
              <a:buNone/>
            </a:pPr>
            <a:r>
              <a:rPr lang="en-US" sz="1050" b="1" dirty="0">
                <a:solidFill>
                  <a:srgbClr val="1A2738"/>
                </a:solidFill>
                <a:latin typeface="Cambria" pitchFamily="34" charset="0"/>
                <a:ea typeface="Cambria" pitchFamily="34" charset="-122"/>
                <a:cs typeface="Cambria" pitchFamily="34" charset="-120"/>
              </a:rPr>
              <a:t>Vahan API Linkage</a:t>
            </a:r>
            <a:endParaRPr lang="en-US" sz="1050" dirty="0"/>
          </a:p>
        </p:txBody>
      </p:sp>
      <p:sp>
        <p:nvSpPr>
          <p:cNvPr id="20" name="Text 18"/>
          <p:cNvSpPr/>
          <p:nvPr/>
        </p:nvSpPr>
        <p:spPr>
          <a:xfrm>
            <a:off x="2240280" y="3529584"/>
            <a:ext cx="1335024" cy="438912"/>
          </a:xfrm>
          <a:prstGeom prst="rect">
            <a:avLst/>
          </a:prstGeom>
          <a:noFill/>
          <a:ln/>
        </p:spPr>
        <p:txBody>
          <a:bodyPr wrap="square" lIns="0" tIns="0" rIns="0" bIns="0" rtlCol="0" anchor="ctr"/>
          <a:lstStyle/>
          <a:p>
            <a:pPr algn="ctr" indent="0" marL="0">
              <a:buNone/>
            </a:pPr>
            <a:r>
              <a:rPr lang="en-US" sz="950" dirty="0">
                <a:solidFill>
                  <a:srgbClr val="445566"/>
                </a:solidFill>
                <a:latin typeface="Calibri" pitchFamily="34" charset="0"/>
                <a:ea typeface="Calibri" pitchFamily="34" charset="-122"/>
                <a:cs typeface="Calibri" pitchFamily="34" charset="-120"/>
              </a:rPr>
              <a:t>Live govt database</a:t>
            </a:r>
            <a:endParaRPr lang="en-US" sz="950" dirty="0"/>
          </a:p>
          <a:p>
            <a:pPr algn="ctr" indent="0" marL="0">
              <a:buNone/>
            </a:pPr>
            <a:r>
              <a:rPr lang="en-US" sz="950" dirty="0">
                <a:solidFill>
                  <a:srgbClr val="445566"/>
                </a:solidFill>
                <a:latin typeface="Calibri" pitchFamily="34" charset="0"/>
                <a:ea typeface="Calibri" pitchFamily="34" charset="-122"/>
                <a:cs typeface="Calibri" pitchFamily="34" charset="-120"/>
              </a:rPr>
              <a:t>integration</a:t>
            </a:r>
            <a:endParaRPr lang="en-US" sz="950" dirty="0"/>
          </a:p>
        </p:txBody>
      </p:sp>
      <p:sp>
        <p:nvSpPr>
          <p:cNvPr id="21" name="Text 19"/>
          <p:cNvSpPr/>
          <p:nvPr/>
        </p:nvSpPr>
        <p:spPr>
          <a:xfrm>
            <a:off x="2487168" y="2578608"/>
            <a:ext cx="822960" cy="228600"/>
          </a:xfrm>
          <a:prstGeom prst="rect">
            <a:avLst/>
          </a:prstGeom>
          <a:noFill/>
          <a:ln/>
        </p:spPr>
        <p:txBody>
          <a:bodyPr wrap="square" lIns="0" tIns="0" rIns="0" bIns="0" rtlCol="0" anchor="ctr"/>
          <a:lstStyle/>
          <a:p>
            <a:pPr algn="ctr" indent="0" marL="0">
              <a:buNone/>
            </a:pPr>
            <a:r>
              <a:rPr lang="en-US" sz="900" b="1" dirty="0">
                <a:solidFill>
                  <a:srgbClr val="2E86C1"/>
                </a:solidFill>
                <a:latin typeface="Calibri" pitchFamily="34" charset="0"/>
                <a:ea typeface="Calibri" pitchFamily="34" charset="-122"/>
                <a:cs typeface="Calibri" pitchFamily="34" charset="-120"/>
              </a:rPr>
              <a:t>Phase 2</a:t>
            </a:r>
            <a:endParaRPr lang="en-US" sz="900" dirty="0"/>
          </a:p>
        </p:txBody>
      </p:sp>
      <p:sp>
        <p:nvSpPr>
          <p:cNvPr id="22" name="Shape 20"/>
          <p:cNvSpPr/>
          <p:nvPr/>
        </p:nvSpPr>
        <p:spPr>
          <a:xfrm>
            <a:off x="4334256" y="2276856"/>
            <a:ext cx="237744" cy="237744"/>
          </a:xfrm>
          <a:prstGeom prst="ellipse">
            <a:avLst/>
          </a:prstGeom>
          <a:solidFill>
            <a:srgbClr val="5DADE2"/>
          </a:solidFill>
          <a:ln w="12700">
            <a:solidFill>
              <a:srgbClr val="5DADE2"/>
            </a:solidFill>
            <a:prstDash val="solid"/>
          </a:ln>
        </p:spPr>
      </p:sp>
      <p:sp>
        <p:nvSpPr>
          <p:cNvPr id="23" name="Shape 21"/>
          <p:cNvSpPr/>
          <p:nvPr/>
        </p:nvSpPr>
        <p:spPr>
          <a:xfrm>
            <a:off x="4453128" y="2276856"/>
            <a:ext cx="0" cy="-1225296"/>
          </a:xfrm>
          <a:prstGeom prst="line">
            <a:avLst/>
          </a:prstGeom>
          <a:noFill/>
          <a:ln w="12700">
            <a:solidFill>
              <a:srgbClr val="5DADE2"/>
            </a:solidFill>
            <a:prstDash val="dash"/>
          </a:ln>
        </p:spPr>
      </p:sp>
      <p:sp>
        <p:nvSpPr>
          <p:cNvPr id="24" name="Shape 22"/>
          <p:cNvSpPr/>
          <p:nvPr/>
        </p:nvSpPr>
        <p:spPr>
          <a:xfrm>
            <a:off x="3831336" y="1051560"/>
            <a:ext cx="1481328" cy="1188720"/>
          </a:xfrm>
          <a:prstGeom prst="roundRect">
            <a:avLst>
              <a:gd name="adj" fmla="val 6154"/>
            </a:avLst>
          </a:prstGeom>
          <a:solidFill>
            <a:srgbClr val="FFFFFF"/>
          </a:solidFill>
          <a:ln w="12700">
            <a:solidFill>
              <a:srgbClr val="DDE4EC"/>
            </a:solidFill>
            <a:prstDash val="solid"/>
          </a:ln>
          <a:effectLst>
            <a:outerShdw sx="100000" sy="100000" kx="0" ky="0" algn="bl" rotWithShape="0" blurRad="152400" dist="50800" dir="2700000">
              <a:srgbClr val="000000">
                <a:alpha val="22000"/>
              </a:srgbClr>
            </a:outerShdw>
          </a:effectLst>
        </p:spPr>
      </p:sp>
      <p:sp>
        <p:nvSpPr>
          <p:cNvPr id="25" name="Shape 23"/>
          <p:cNvSpPr/>
          <p:nvPr/>
        </p:nvSpPr>
        <p:spPr>
          <a:xfrm>
            <a:off x="3904488" y="1106424"/>
            <a:ext cx="1335024" cy="219456"/>
          </a:xfrm>
          <a:prstGeom prst="roundRect">
            <a:avLst>
              <a:gd name="adj" fmla="val 16667"/>
            </a:avLst>
          </a:prstGeom>
          <a:solidFill>
            <a:srgbClr val="778899">
              <a:alpha val="20000"/>
            </a:srgbClr>
          </a:solidFill>
          <a:ln w="6350">
            <a:solidFill>
              <a:srgbClr val="778899"/>
            </a:solidFill>
            <a:prstDash val="solid"/>
          </a:ln>
        </p:spPr>
      </p:sp>
      <p:sp>
        <p:nvSpPr>
          <p:cNvPr id="26" name="Text 24"/>
          <p:cNvSpPr/>
          <p:nvPr/>
        </p:nvSpPr>
        <p:spPr>
          <a:xfrm>
            <a:off x="3904488" y="1115568"/>
            <a:ext cx="1335024" cy="201168"/>
          </a:xfrm>
          <a:prstGeom prst="rect">
            <a:avLst/>
          </a:prstGeom>
          <a:noFill/>
          <a:ln/>
        </p:spPr>
        <p:txBody>
          <a:bodyPr wrap="square" lIns="0" tIns="0" rIns="0" bIns="0" rtlCol="0" anchor="ctr"/>
          <a:lstStyle/>
          <a:p>
            <a:pPr algn="ctr" indent="0" marL="0">
              <a:buNone/>
            </a:pPr>
            <a:r>
              <a:rPr lang="en-US" sz="800" b="1" dirty="0">
                <a:solidFill>
                  <a:srgbClr val="556677"/>
                </a:solidFill>
                <a:latin typeface="Calibri" pitchFamily="34" charset="0"/>
                <a:ea typeface="Calibri" pitchFamily="34" charset="-122"/>
                <a:cs typeface="Calibri" pitchFamily="34" charset="-120"/>
              </a:rPr>
              <a:t>Planned</a:t>
            </a:r>
            <a:endParaRPr lang="en-US" sz="800" dirty="0"/>
          </a:p>
        </p:txBody>
      </p:sp>
      <p:sp>
        <p:nvSpPr>
          <p:cNvPr id="27" name="Text 25"/>
          <p:cNvSpPr/>
          <p:nvPr/>
        </p:nvSpPr>
        <p:spPr>
          <a:xfrm>
            <a:off x="3904488" y="1362456"/>
            <a:ext cx="1335024" cy="365760"/>
          </a:xfrm>
          <a:prstGeom prst="rect">
            <a:avLst/>
          </a:prstGeom>
          <a:noFill/>
          <a:ln/>
        </p:spPr>
        <p:txBody>
          <a:bodyPr wrap="square" lIns="0" tIns="0" rIns="0" bIns="0" rtlCol="0" anchor="ctr"/>
          <a:lstStyle/>
          <a:p>
            <a:pPr algn="ctr" indent="0" marL="0">
              <a:buNone/>
            </a:pPr>
            <a:r>
              <a:rPr lang="en-US" sz="1050" b="1" dirty="0">
                <a:solidFill>
                  <a:srgbClr val="1A2738"/>
                </a:solidFill>
                <a:latin typeface="Cambria" pitchFamily="34" charset="0"/>
                <a:ea typeface="Cambria" pitchFamily="34" charset="-122"/>
                <a:cs typeface="Cambria" pitchFamily="34" charset="-120"/>
              </a:rPr>
              <a:t>Twilio SMS / WhatsApp</a:t>
            </a:r>
            <a:endParaRPr lang="en-US" sz="1050" dirty="0"/>
          </a:p>
        </p:txBody>
      </p:sp>
      <p:sp>
        <p:nvSpPr>
          <p:cNvPr id="28" name="Text 26"/>
          <p:cNvSpPr/>
          <p:nvPr/>
        </p:nvSpPr>
        <p:spPr>
          <a:xfrm>
            <a:off x="3904488" y="1746504"/>
            <a:ext cx="1335024" cy="438912"/>
          </a:xfrm>
          <a:prstGeom prst="rect">
            <a:avLst/>
          </a:prstGeom>
          <a:noFill/>
          <a:ln/>
        </p:spPr>
        <p:txBody>
          <a:bodyPr wrap="square" lIns="0" tIns="0" rIns="0" bIns="0" rtlCol="0" anchor="ctr"/>
          <a:lstStyle/>
          <a:p>
            <a:pPr algn="ctr" indent="0" marL="0">
              <a:buNone/>
            </a:pPr>
            <a:r>
              <a:rPr lang="en-US" sz="950" dirty="0">
                <a:solidFill>
                  <a:srgbClr val="445566"/>
                </a:solidFill>
                <a:latin typeface="Calibri" pitchFamily="34" charset="0"/>
                <a:ea typeface="Calibri" pitchFamily="34" charset="-122"/>
                <a:cs typeface="Calibri" pitchFamily="34" charset="-120"/>
              </a:rPr>
              <a:t>Live alert delivery</a:t>
            </a:r>
            <a:endParaRPr lang="en-US" sz="950" dirty="0"/>
          </a:p>
          <a:p>
            <a:pPr algn="ctr" indent="0" marL="0">
              <a:buNone/>
            </a:pPr>
            <a:r>
              <a:rPr lang="en-US" sz="950" dirty="0">
                <a:solidFill>
                  <a:srgbClr val="445566"/>
                </a:solidFill>
                <a:latin typeface="Calibri" pitchFamily="34" charset="0"/>
                <a:ea typeface="Calibri" pitchFamily="34" charset="-122"/>
                <a:cs typeface="Calibri" pitchFamily="34" charset="-120"/>
              </a:rPr>
              <a:t>from mock to prod</a:t>
            </a:r>
            <a:endParaRPr lang="en-US" sz="950" dirty="0"/>
          </a:p>
        </p:txBody>
      </p:sp>
      <p:sp>
        <p:nvSpPr>
          <p:cNvPr id="29" name="Text 27"/>
          <p:cNvSpPr/>
          <p:nvPr/>
        </p:nvSpPr>
        <p:spPr>
          <a:xfrm>
            <a:off x="4151376" y="2578608"/>
            <a:ext cx="822960" cy="228600"/>
          </a:xfrm>
          <a:prstGeom prst="rect">
            <a:avLst/>
          </a:prstGeom>
          <a:noFill/>
          <a:ln/>
        </p:spPr>
        <p:txBody>
          <a:bodyPr wrap="square" lIns="0" tIns="0" rIns="0" bIns="0" rtlCol="0" anchor="ctr"/>
          <a:lstStyle/>
          <a:p>
            <a:pPr algn="ctr" indent="0" marL="0">
              <a:buNone/>
            </a:pPr>
            <a:r>
              <a:rPr lang="en-US" sz="900" b="1" dirty="0">
                <a:solidFill>
                  <a:srgbClr val="2E86C1"/>
                </a:solidFill>
                <a:latin typeface="Calibri" pitchFamily="34" charset="0"/>
                <a:ea typeface="Calibri" pitchFamily="34" charset="-122"/>
                <a:cs typeface="Calibri" pitchFamily="34" charset="-120"/>
              </a:rPr>
              <a:t>Phase 3</a:t>
            </a:r>
            <a:endParaRPr lang="en-US" sz="900" dirty="0"/>
          </a:p>
        </p:txBody>
      </p:sp>
      <p:sp>
        <p:nvSpPr>
          <p:cNvPr id="30" name="Shape 28"/>
          <p:cNvSpPr/>
          <p:nvPr/>
        </p:nvSpPr>
        <p:spPr>
          <a:xfrm>
            <a:off x="5998464" y="2276856"/>
            <a:ext cx="237744" cy="237744"/>
          </a:xfrm>
          <a:prstGeom prst="ellipse">
            <a:avLst/>
          </a:prstGeom>
          <a:solidFill>
            <a:srgbClr val="5DADE2"/>
          </a:solidFill>
          <a:ln w="12700">
            <a:solidFill>
              <a:srgbClr val="5DADE2"/>
            </a:solidFill>
            <a:prstDash val="solid"/>
          </a:ln>
        </p:spPr>
      </p:sp>
      <p:sp>
        <p:nvSpPr>
          <p:cNvPr id="31" name="Shape 29"/>
          <p:cNvSpPr/>
          <p:nvPr/>
        </p:nvSpPr>
        <p:spPr>
          <a:xfrm>
            <a:off x="6117336" y="2514600"/>
            <a:ext cx="0" cy="274320"/>
          </a:xfrm>
          <a:prstGeom prst="line">
            <a:avLst/>
          </a:prstGeom>
          <a:noFill/>
          <a:ln w="12700">
            <a:solidFill>
              <a:srgbClr val="5DADE2"/>
            </a:solidFill>
            <a:prstDash val="dash"/>
          </a:ln>
        </p:spPr>
      </p:sp>
      <p:sp>
        <p:nvSpPr>
          <p:cNvPr id="32" name="Shape 30"/>
          <p:cNvSpPr/>
          <p:nvPr/>
        </p:nvSpPr>
        <p:spPr>
          <a:xfrm>
            <a:off x="5495544" y="2834640"/>
            <a:ext cx="1481328" cy="1188720"/>
          </a:xfrm>
          <a:prstGeom prst="roundRect">
            <a:avLst>
              <a:gd name="adj" fmla="val 6154"/>
            </a:avLst>
          </a:prstGeom>
          <a:solidFill>
            <a:srgbClr val="FFFFFF"/>
          </a:solidFill>
          <a:ln w="12700">
            <a:solidFill>
              <a:srgbClr val="DDE4EC"/>
            </a:solidFill>
            <a:prstDash val="solid"/>
          </a:ln>
          <a:effectLst>
            <a:outerShdw sx="100000" sy="100000" kx="0" ky="0" algn="bl" rotWithShape="0" blurRad="152400" dist="50800" dir="2700000">
              <a:srgbClr val="000000">
                <a:alpha val="22000"/>
              </a:srgbClr>
            </a:outerShdw>
          </a:effectLst>
        </p:spPr>
      </p:sp>
      <p:sp>
        <p:nvSpPr>
          <p:cNvPr id="33" name="Shape 31"/>
          <p:cNvSpPr/>
          <p:nvPr/>
        </p:nvSpPr>
        <p:spPr>
          <a:xfrm>
            <a:off x="5568696" y="2889504"/>
            <a:ext cx="1335024" cy="219456"/>
          </a:xfrm>
          <a:prstGeom prst="roundRect">
            <a:avLst>
              <a:gd name="adj" fmla="val 16667"/>
            </a:avLst>
          </a:prstGeom>
          <a:solidFill>
            <a:srgbClr val="778899">
              <a:alpha val="20000"/>
            </a:srgbClr>
          </a:solidFill>
          <a:ln w="6350">
            <a:solidFill>
              <a:srgbClr val="778899"/>
            </a:solidFill>
            <a:prstDash val="solid"/>
          </a:ln>
        </p:spPr>
      </p:sp>
      <p:sp>
        <p:nvSpPr>
          <p:cNvPr id="34" name="Text 32"/>
          <p:cNvSpPr/>
          <p:nvPr/>
        </p:nvSpPr>
        <p:spPr>
          <a:xfrm>
            <a:off x="5568696" y="2898648"/>
            <a:ext cx="1335024" cy="201168"/>
          </a:xfrm>
          <a:prstGeom prst="rect">
            <a:avLst/>
          </a:prstGeom>
          <a:noFill/>
          <a:ln/>
        </p:spPr>
        <p:txBody>
          <a:bodyPr wrap="square" lIns="0" tIns="0" rIns="0" bIns="0" rtlCol="0" anchor="ctr"/>
          <a:lstStyle/>
          <a:p>
            <a:pPr algn="ctr" indent="0" marL="0">
              <a:buNone/>
            </a:pPr>
            <a:r>
              <a:rPr lang="en-US" sz="800" b="1" dirty="0">
                <a:solidFill>
                  <a:srgbClr val="556677"/>
                </a:solidFill>
                <a:latin typeface="Calibri" pitchFamily="34" charset="0"/>
                <a:ea typeface="Calibri" pitchFamily="34" charset="-122"/>
                <a:cs typeface="Calibri" pitchFamily="34" charset="-120"/>
              </a:rPr>
              <a:t>Planned</a:t>
            </a:r>
            <a:endParaRPr lang="en-US" sz="800" dirty="0"/>
          </a:p>
        </p:txBody>
      </p:sp>
      <p:sp>
        <p:nvSpPr>
          <p:cNvPr id="35" name="Text 33"/>
          <p:cNvSpPr/>
          <p:nvPr/>
        </p:nvSpPr>
        <p:spPr>
          <a:xfrm>
            <a:off x="5568696" y="3145536"/>
            <a:ext cx="1335024" cy="365760"/>
          </a:xfrm>
          <a:prstGeom prst="rect">
            <a:avLst/>
          </a:prstGeom>
          <a:noFill/>
          <a:ln/>
        </p:spPr>
        <p:txBody>
          <a:bodyPr wrap="square" lIns="0" tIns="0" rIns="0" bIns="0" rtlCol="0" anchor="ctr"/>
          <a:lstStyle/>
          <a:p>
            <a:pPr algn="ctr" indent="0" marL="0">
              <a:buNone/>
            </a:pPr>
            <a:r>
              <a:rPr lang="en-US" sz="1050" b="1" dirty="0">
                <a:solidFill>
                  <a:srgbClr val="1A2738"/>
                </a:solidFill>
                <a:latin typeface="Cambria" pitchFamily="34" charset="0"/>
                <a:ea typeface="Cambria" pitchFamily="34" charset="-122"/>
                <a:cs typeface="Cambria" pitchFamily="34" charset="-120"/>
              </a:rPr>
              <a:t>Federated Learning Loop</a:t>
            </a:r>
            <a:endParaRPr lang="en-US" sz="1050" dirty="0"/>
          </a:p>
        </p:txBody>
      </p:sp>
      <p:sp>
        <p:nvSpPr>
          <p:cNvPr id="36" name="Text 34"/>
          <p:cNvSpPr/>
          <p:nvPr/>
        </p:nvSpPr>
        <p:spPr>
          <a:xfrm>
            <a:off x="5568696" y="3529584"/>
            <a:ext cx="1335024" cy="438912"/>
          </a:xfrm>
          <a:prstGeom prst="rect">
            <a:avLst/>
          </a:prstGeom>
          <a:noFill/>
          <a:ln/>
        </p:spPr>
        <p:txBody>
          <a:bodyPr wrap="square" lIns="0" tIns="0" rIns="0" bIns="0" rtlCol="0" anchor="ctr"/>
          <a:lstStyle/>
          <a:p>
            <a:pPr algn="ctr" indent="0" marL="0">
              <a:buNone/>
            </a:pPr>
            <a:r>
              <a:rPr lang="en-US" sz="950" dirty="0">
                <a:solidFill>
                  <a:srgbClr val="445566"/>
                </a:solidFill>
                <a:latin typeface="Calibri" pitchFamily="34" charset="0"/>
                <a:ea typeface="Calibri" pitchFamily="34" charset="-122"/>
                <a:cs typeface="Calibri" pitchFamily="34" charset="-120"/>
              </a:rPr>
              <a:t>_local_train retraining</a:t>
            </a:r>
            <a:endParaRPr lang="en-US" sz="950" dirty="0"/>
          </a:p>
          <a:p>
            <a:pPr algn="ctr" indent="0" marL="0">
              <a:buNone/>
            </a:pPr>
            <a:r>
              <a:rPr lang="en-US" sz="950" dirty="0">
                <a:solidFill>
                  <a:srgbClr val="445566"/>
                </a:solidFill>
                <a:latin typeface="Calibri" pitchFamily="34" charset="0"/>
                <a:ea typeface="Calibri" pitchFamily="34" charset="-122"/>
                <a:cs typeface="Calibri" pitchFamily="34" charset="-120"/>
              </a:rPr>
              <a:t>on confirmed samples</a:t>
            </a:r>
            <a:endParaRPr lang="en-US" sz="950" dirty="0"/>
          </a:p>
        </p:txBody>
      </p:sp>
      <p:sp>
        <p:nvSpPr>
          <p:cNvPr id="37" name="Text 35"/>
          <p:cNvSpPr/>
          <p:nvPr/>
        </p:nvSpPr>
        <p:spPr>
          <a:xfrm>
            <a:off x="5815584" y="2578608"/>
            <a:ext cx="822960" cy="228600"/>
          </a:xfrm>
          <a:prstGeom prst="rect">
            <a:avLst/>
          </a:prstGeom>
          <a:noFill/>
          <a:ln/>
        </p:spPr>
        <p:txBody>
          <a:bodyPr wrap="square" lIns="0" tIns="0" rIns="0" bIns="0" rtlCol="0" anchor="ctr"/>
          <a:lstStyle/>
          <a:p>
            <a:pPr algn="ctr" indent="0" marL="0">
              <a:buNone/>
            </a:pPr>
            <a:r>
              <a:rPr lang="en-US" sz="900" b="1" dirty="0">
                <a:solidFill>
                  <a:srgbClr val="2E86C1"/>
                </a:solidFill>
                <a:latin typeface="Calibri" pitchFamily="34" charset="0"/>
                <a:ea typeface="Calibri" pitchFamily="34" charset="-122"/>
                <a:cs typeface="Calibri" pitchFamily="34" charset="-120"/>
              </a:rPr>
              <a:t>Phase 4</a:t>
            </a:r>
            <a:endParaRPr lang="en-US" sz="900" dirty="0"/>
          </a:p>
        </p:txBody>
      </p:sp>
      <p:sp>
        <p:nvSpPr>
          <p:cNvPr id="38" name="Shape 36"/>
          <p:cNvSpPr/>
          <p:nvPr/>
        </p:nvSpPr>
        <p:spPr>
          <a:xfrm>
            <a:off x="7662672" y="2276856"/>
            <a:ext cx="237744" cy="237744"/>
          </a:xfrm>
          <a:prstGeom prst="ellipse">
            <a:avLst/>
          </a:prstGeom>
          <a:solidFill>
            <a:srgbClr val="5DADE2"/>
          </a:solidFill>
          <a:ln w="12700">
            <a:solidFill>
              <a:srgbClr val="5DADE2"/>
            </a:solidFill>
            <a:prstDash val="solid"/>
          </a:ln>
        </p:spPr>
      </p:sp>
      <p:sp>
        <p:nvSpPr>
          <p:cNvPr id="39" name="Shape 37"/>
          <p:cNvSpPr/>
          <p:nvPr/>
        </p:nvSpPr>
        <p:spPr>
          <a:xfrm>
            <a:off x="7781544" y="2276856"/>
            <a:ext cx="0" cy="-1225296"/>
          </a:xfrm>
          <a:prstGeom prst="line">
            <a:avLst/>
          </a:prstGeom>
          <a:noFill/>
          <a:ln w="12700">
            <a:solidFill>
              <a:srgbClr val="5DADE2"/>
            </a:solidFill>
            <a:prstDash val="dash"/>
          </a:ln>
        </p:spPr>
      </p:sp>
      <p:sp>
        <p:nvSpPr>
          <p:cNvPr id="40" name="Shape 38"/>
          <p:cNvSpPr/>
          <p:nvPr/>
        </p:nvSpPr>
        <p:spPr>
          <a:xfrm>
            <a:off x="7159752" y="1051560"/>
            <a:ext cx="1481328" cy="1188720"/>
          </a:xfrm>
          <a:prstGeom prst="roundRect">
            <a:avLst>
              <a:gd name="adj" fmla="val 6154"/>
            </a:avLst>
          </a:prstGeom>
          <a:solidFill>
            <a:srgbClr val="FFFFFF"/>
          </a:solidFill>
          <a:ln w="12700">
            <a:solidFill>
              <a:srgbClr val="DDE4EC"/>
            </a:solidFill>
            <a:prstDash val="solid"/>
          </a:ln>
          <a:effectLst>
            <a:outerShdw sx="100000" sy="100000" kx="0" ky="0" algn="bl" rotWithShape="0" blurRad="152400" dist="50800" dir="2700000">
              <a:srgbClr val="000000">
                <a:alpha val="22000"/>
              </a:srgbClr>
            </a:outerShdw>
          </a:effectLst>
        </p:spPr>
      </p:sp>
      <p:sp>
        <p:nvSpPr>
          <p:cNvPr id="41" name="Shape 39"/>
          <p:cNvSpPr/>
          <p:nvPr/>
        </p:nvSpPr>
        <p:spPr>
          <a:xfrm>
            <a:off x="7232904" y="1106424"/>
            <a:ext cx="1335024" cy="219456"/>
          </a:xfrm>
          <a:prstGeom prst="roundRect">
            <a:avLst>
              <a:gd name="adj" fmla="val 16667"/>
            </a:avLst>
          </a:prstGeom>
          <a:solidFill>
            <a:srgbClr val="778899">
              <a:alpha val="20000"/>
            </a:srgbClr>
          </a:solidFill>
          <a:ln w="6350">
            <a:solidFill>
              <a:srgbClr val="778899"/>
            </a:solidFill>
            <a:prstDash val="solid"/>
          </a:ln>
        </p:spPr>
      </p:sp>
      <p:sp>
        <p:nvSpPr>
          <p:cNvPr id="42" name="Text 40"/>
          <p:cNvSpPr/>
          <p:nvPr/>
        </p:nvSpPr>
        <p:spPr>
          <a:xfrm>
            <a:off x="7232904" y="1115568"/>
            <a:ext cx="1335024" cy="201168"/>
          </a:xfrm>
          <a:prstGeom prst="rect">
            <a:avLst/>
          </a:prstGeom>
          <a:noFill/>
          <a:ln/>
        </p:spPr>
        <p:txBody>
          <a:bodyPr wrap="square" lIns="0" tIns="0" rIns="0" bIns="0" rtlCol="0" anchor="ctr"/>
          <a:lstStyle/>
          <a:p>
            <a:pPr algn="ctr" indent="0" marL="0">
              <a:buNone/>
            </a:pPr>
            <a:r>
              <a:rPr lang="en-US" sz="800" b="1" dirty="0">
                <a:solidFill>
                  <a:srgbClr val="556677"/>
                </a:solidFill>
                <a:latin typeface="Calibri" pitchFamily="34" charset="0"/>
                <a:ea typeface="Calibri" pitchFamily="34" charset="-122"/>
                <a:cs typeface="Calibri" pitchFamily="34" charset="-120"/>
              </a:rPr>
              <a:t>Planned</a:t>
            </a:r>
            <a:endParaRPr lang="en-US" sz="800" dirty="0"/>
          </a:p>
        </p:txBody>
      </p:sp>
      <p:sp>
        <p:nvSpPr>
          <p:cNvPr id="43" name="Text 41"/>
          <p:cNvSpPr/>
          <p:nvPr/>
        </p:nvSpPr>
        <p:spPr>
          <a:xfrm>
            <a:off x="7232904" y="1362456"/>
            <a:ext cx="1335024" cy="365760"/>
          </a:xfrm>
          <a:prstGeom prst="rect">
            <a:avLst/>
          </a:prstGeom>
          <a:noFill/>
          <a:ln/>
        </p:spPr>
        <p:txBody>
          <a:bodyPr wrap="square" lIns="0" tIns="0" rIns="0" bIns="0" rtlCol="0" anchor="ctr"/>
          <a:lstStyle/>
          <a:p>
            <a:pPr algn="ctr" indent="0" marL="0">
              <a:buNone/>
            </a:pPr>
            <a:r>
              <a:rPr lang="en-US" sz="1050" b="1" dirty="0">
                <a:solidFill>
                  <a:srgbClr val="1A2738"/>
                </a:solidFill>
                <a:latin typeface="Cambria" pitchFamily="34" charset="0"/>
                <a:ea typeface="Cambria" pitchFamily="34" charset="-122"/>
                <a:cs typeface="Cambria" pitchFamily="34" charset="-120"/>
              </a:rPr>
              <a:t>Cross-Camera Re-ID</a:t>
            </a:r>
            <a:endParaRPr lang="en-US" sz="1050" dirty="0"/>
          </a:p>
        </p:txBody>
      </p:sp>
      <p:sp>
        <p:nvSpPr>
          <p:cNvPr id="44" name="Text 42"/>
          <p:cNvSpPr/>
          <p:nvPr/>
        </p:nvSpPr>
        <p:spPr>
          <a:xfrm>
            <a:off x="7232904" y="1746504"/>
            <a:ext cx="1335024" cy="438912"/>
          </a:xfrm>
          <a:prstGeom prst="rect">
            <a:avLst/>
          </a:prstGeom>
          <a:noFill/>
          <a:ln/>
        </p:spPr>
        <p:txBody>
          <a:bodyPr wrap="square" lIns="0" tIns="0" rIns="0" bIns="0" rtlCol="0" anchor="ctr"/>
          <a:lstStyle/>
          <a:p>
            <a:pPr algn="ctr" indent="0" marL="0">
              <a:buNone/>
            </a:pPr>
            <a:r>
              <a:rPr lang="en-US" sz="950" dirty="0">
                <a:solidFill>
                  <a:srgbClr val="445566"/>
                </a:solidFill>
                <a:latin typeface="Calibri" pitchFamily="34" charset="0"/>
                <a:ea typeface="Calibri" pitchFamily="34" charset="-122"/>
                <a:cs typeface="Calibri" pitchFamily="34" charset="-120"/>
              </a:rPr>
              <a:t>OSNet tracking</a:t>
            </a:r>
            <a:endParaRPr lang="en-US" sz="950" dirty="0"/>
          </a:p>
          <a:p>
            <a:pPr algn="ctr" indent="0" marL="0">
              <a:buNone/>
            </a:pPr>
            <a:r>
              <a:rPr lang="en-US" sz="950" dirty="0">
                <a:solidFill>
                  <a:srgbClr val="445566"/>
                </a:solidFill>
                <a:latin typeface="Calibri" pitchFamily="34" charset="0"/>
                <a:ea typeface="Calibri" pitchFamily="34" charset="-122"/>
                <a:cs typeface="Calibri" pitchFamily="34" charset="-120"/>
              </a:rPr>
              <a:t>without plate dependency</a:t>
            </a:r>
            <a:endParaRPr lang="en-US" sz="950" dirty="0"/>
          </a:p>
        </p:txBody>
      </p:sp>
      <p:sp>
        <p:nvSpPr>
          <p:cNvPr id="45" name="Text 43"/>
          <p:cNvSpPr/>
          <p:nvPr/>
        </p:nvSpPr>
        <p:spPr>
          <a:xfrm>
            <a:off x="7479792" y="2578608"/>
            <a:ext cx="822960" cy="228600"/>
          </a:xfrm>
          <a:prstGeom prst="rect">
            <a:avLst/>
          </a:prstGeom>
          <a:noFill/>
          <a:ln/>
        </p:spPr>
        <p:txBody>
          <a:bodyPr wrap="square" lIns="0" tIns="0" rIns="0" bIns="0" rtlCol="0" anchor="ctr"/>
          <a:lstStyle/>
          <a:p>
            <a:pPr algn="ctr" indent="0" marL="0">
              <a:buNone/>
            </a:pPr>
            <a:r>
              <a:rPr lang="en-US" sz="900" b="1" dirty="0">
                <a:solidFill>
                  <a:srgbClr val="2E86C1"/>
                </a:solidFill>
                <a:latin typeface="Calibri" pitchFamily="34" charset="0"/>
                <a:ea typeface="Calibri" pitchFamily="34" charset="-122"/>
                <a:cs typeface="Calibri" pitchFamily="34" charset="-120"/>
              </a:rPr>
              <a:t>Phase 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12236"/>
          </a:solidFill>
          <a:ln w="12700">
            <a:solidFill>
              <a:srgbClr val="112236"/>
            </a:solidFill>
            <a:prstDash val="solid"/>
          </a:ln>
        </p:spPr>
      </p:sp>
      <p:sp>
        <p:nvSpPr>
          <p:cNvPr id="3" name="Text 1"/>
          <p:cNvSpPr/>
          <p:nvPr/>
        </p:nvSpPr>
        <p:spPr>
          <a:xfrm>
            <a:off x="365760" y="73152"/>
            <a:ext cx="2743200" cy="274320"/>
          </a:xfrm>
          <a:prstGeom prst="rect">
            <a:avLst/>
          </a:prstGeom>
          <a:noFill/>
          <a:ln/>
        </p:spPr>
        <p:txBody>
          <a:bodyPr wrap="square" lIns="0" tIns="0" rIns="0" bIns="0" rtlCol="0" anchor="ctr"/>
          <a:lstStyle/>
          <a:p>
            <a:pPr indent="0" marL="0">
              <a:buNone/>
            </a:pPr>
            <a:r>
              <a:rPr lang="en-US" sz="1000" b="1" spc="300" kern="0" dirty="0">
                <a:solidFill>
                  <a:srgbClr val="27AE60"/>
                </a:solidFill>
                <a:latin typeface="Calibri" pitchFamily="34" charset="0"/>
                <a:ea typeface="Calibri" pitchFamily="34" charset="-122"/>
                <a:cs typeface="Calibri" pitchFamily="34" charset="-120"/>
              </a:rPr>
              <a:t>IMPACT</a:t>
            </a:r>
            <a:endParaRPr lang="en-US" sz="1000" dirty="0"/>
          </a:p>
        </p:txBody>
      </p:sp>
      <p:sp>
        <p:nvSpPr>
          <p:cNvPr id="4" name="Text 2"/>
          <p:cNvSpPr/>
          <p:nvPr/>
        </p:nvSpPr>
        <p:spPr>
          <a:xfrm>
            <a:off x="365760" y="347472"/>
            <a:ext cx="8229600" cy="438912"/>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Socio-Economic &amp; Governance Impact</a:t>
            </a:r>
            <a:endParaRPr lang="en-US" sz="2400" dirty="0"/>
          </a:p>
        </p:txBody>
      </p:sp>
      <p:sp>
        <p:nvSpPr>
          <p:cNvPr id="5" name="Shape 3"/>
          <p:cNvSpPr/>
          <p:nvPr/>
        </p:nvSpPr>
        <p:spPr>
          <a:xfrm>
            <a:off x="274320" y="1051560"/>
            <a:ext cx="1965960" cy="1261872"/>
          </a:xfrm>
          <a:prstGeom prst="roundRect">
            <a:avLst>
              <a:gd name="adj" fmla="val 7246"/>
            </a:avLst>
          </a:prstGeom>
          <a:solidFill>
            <a:srgbClr val="1A3353"/>
          </a:solidFill>
          <a:ln w="12700">
            <a:solidFill>
              <a:srgbClr val="1B5E8C"/>
            </a:solidFill>
            <a:prstDash val="solid"/>
          </a:ln>
          <a:effectLst>
            <a:outerShdw sx="100000" sy="100000" kx="0" ky="0" algn="bl" rotWithShape="0" blurRad="101600" dist="38100" dir="2700000">
              <a:srgbClr val="000000">
                <a:alpha val="18000"/>
              </a:srgbClr>
            </a:outerShdw>
          </a:effectLst>
        </p:spPr>
      </p:sp>
      <p:sp>
        <p:nvSpPr>
          <p:cNvPr id="6" name="Text 4"/>
          <p:cNvSpPr/>
          <p:nvPr/>
        </p:nvSpPr>
        <p:spPr>
          <a:xfrm>
            <a:off x="347472" y="1115568"/>
            <a:ext cx="1810512" cy="658368"/>
          </a:xfrm>
          <a:prstGeom prst="rect">
            <a:avLst/>
          </a:prstGeom>
          <a:noFill/>
          <a:ln/>
        </p:spPr>
        <p:txBody>
          <a:bodyPr wrap="square" lIns="0" tIns="0" rIns="0" bIns="0" rtlCol="0" anchor="ctr"/>
          <a:lstStyle/>
          <a:p>
            <a:pPr algn="ctr" indent="0" marL="0">
              <a:buNone/>
            </a:pPr>
            <a:r>
              <a:rPr lang="en-US" sz="3800" b="1" dirty="0">
                <a:solidFill>
                  <a:srgbClr val="D4A017"/>
                </a:solidFill>
                <a:latin typeface="Cambria" pitchFamily="34" charset="0"/>
                <a:ea typeface="Cambria" pitchFamily="34" charset="-122"/>
                <a:cs typeface="Cambria" pitchFamily="34" charset="-120"/>
              </a:rPr>
              <a:t>60%</a:t>
            </a:r>
            <a:endParaRPr lang="en-US" sz="3800" dirty="0"/>
          </a:p>
        </p:txBody>
      </p:sp>
      <p:sp>
        <p:nvSpPr>
          <p:cNvPr id="7" name="Text 5"/>
          <p:cNvSpPr/>
          <p:nvPr/>
        </p:nvSpPr>
        <p:spPr>
          <a:xfrm>
            <a:off x="347472" y="1755648"/>
            <a:ext cx="1810512" cy="457200"/>
          </a:xfrm>
          <a:prstGeom prst="rect">
            <a:avLst/>
          </a:prstGeom>
          <a:noFill/>
          <a:ln/>
        </p:spPr>
        <p:txBody>
          <a:bodyPr wrap="square" lIns="0" tIns="0" rIns="0" bIns="0" rtlCol="0" anchor="ctr"/>
          <a:lstStyle/>
          <a:p>
            <a:pPr algn="ctr" indent="0" marL="0">
              <a:buNone/>
            </a:pPr>
            <a:r>
              <a:rPr lang="en-US" sz="1000" dirty="0">
                <a:solidFill>
                  <a:srgbClr val="B8C9D6"/>
                </a:solidFill>
                <a:latin typeface="Calibri" pitchFamily="34" charset="0"/>
                <a:ea typeface="Calibri" pitchFamily="34" charset="-122"/>
                <a:cs typeface="Calibri" pitchFamily="34" charset="-120"/>
              </a:rPr>
              <a:t>Reduction in manual</a:t>
            </a:r>
            <a:endParaRPr lang="en-US" sz="1000" dirty="0"/>
          </a:p>
          <a:p>
            <a:pPr algn="ctr" indent="0" marL="0">
              <a:buNone/>
            </a:pPr>
            <a:r>
              <a:rPr lang="en-US" sz="1000" dirty="0">
                <a:solidFill>
                  <a:srgbClr val="B8C9D6"/>
                </a:solidFill>
                <a:latin typeface="Calibri" pitchFamily="34" charset="0"/>
                <a:ea typeface="Calibri" pitchFamily="34" charset="-122"/>
                <a:cs typeface="Calibri" pitchFamily="34" charset="-120"/>
              </a:rPr>
              <a:t>officer review time</a:t>
            </a:r>
            <a:endParaRPr lang="en-US" sz="1000" dirty="0"/>
          </a:p>
        </p:txBody>
      </p:sp>
      <p:sp>
        <p:nvSpPr>
          <p:cNvPr id="8" name="Shape 6"/>
          <p:cNvSpPr/>
          <p:nvPr/>
        </p:nvSpPr>
        <p:spPr>
          <a:xfrm>
            <a:off x="2487168" y="1051560"/>
            <a:ext cx="1965960" cy="1261872"/>
          </a:xfrm>
          <a:prstGeom prst="roundRect">
            <a:avLst>
              <a:gd name="adj" fmla="val 7246"/>
            </a:avLst>
          </a:prstGeom>
          <a:solidFill>
            <a:srgbClr val="1A3353"/>
          </a:solidFill>
          <a:ln w="12700">
            <a:solidFill>
              <a:srgbClr val="1B5E8C"/>
            </a:solidFill>
            <a:prstDash val="solid"/>
          </a:ln>
          <a:effectLst>
            <a:outerShdw sx="100000" sy="100000" kx="0" ky="0" algn="bl" rotWithShape="0" blurRad="101600" dist="38100" dir="2700000">
              <a:srgbClr val="000000">
                <a:alpha val="18000"/>
              </a:srgbClr>
            </a:outerShdw>
          </a:effectLst>
        </p:spPr>
      </p:sp>
      <p:sp>
        <p:nvSpPr>
          <p:cNvPr id="9" name="Text 7"/>
          <p:cNvSpPr/>
          <p:nvPr/>
        </p:nvSpPr>
        <p:spPr>
          <a:xfrm>
            <a:off x="2560320" y="1115568"/>
            <a:ext cx="1810512" cy="658368"/>
          </a:xfrm>
          <a:prstGeom prst="rect">
            <a:avLst/>
          </a:prstGeom>
          <a:noFill/>
          <a:ln/>
        </p:spPr>
        <p:txBody>
          <a:bodyPr wrap="square" lIns="0" tIns="0" rIns="0" bIns="0" rtlCol="0" anchor="ctr"/>
          <a:lstStyle/>
          <a:p>
            <a:pPr algn="ctr" indent="0" marL="0">
              <a:buNone/>
            </a:pPr>
            <a:r>
              <a:rPr lang="en-US" sz="3800" b="1" dirty="0">
                <a:solidFill>
                  <a:srgbClr val="D4A017"/>
                </a:solidFill>
                <a:latin typeface="Cambria" pitchFamily="34" charset="0"/>
                <a:ea typeface="Cambria" pitchFamily="34" charset="-122"/>
                <a:cs typeface="Cambria" pitchFamily="34" charset="-120"/>
              </a:rPr>
              <a:t>0</a:t>
            </a:r>
            <a:endParaRPr lang="en-US" sz="3800" dirty="0"/>
          </a:p>
        </p:txBody>
      </p:sp>
      <p:sp>
        <p:nvSpPr>
          <p:cNvPr id="10" name="Text 8"/>
          <p:cNvSpPr/>
          <p:nvPr/>
        </p:nvSpPr>
        <p:spPr>
          <a:xfrm>
            <a:off x="2560320" y="1755648"/>
            <a:ext cx="1810512" cy="457200"/>
          </a:xfrm>
          <a:prstGeom prst="rect">
            <a:avLst/>
          </a:prstGeom>
          <a:noFill/>
          <a:ln/>
        </p:spPr>
        <p:txBody>
          <a:bodyPr wrap="square" lIns="0" tIns="0" rIns="0" bIns="0" rtlCol="0" anchor="ctr"/>
          <a:lstStyle/>
          <a:p>
            <a:pPr algn="ctr" indent="0" marL="0">
              <a:buNone/>
            </a:pPr>
            <a:r>
              <a:rPr lang="en-US" sz="1000" dirty="0">
                <a:solidFill>
                  <a:srgbClr val="B8C9D6"/>
                </a:solidFill>
                <a:latin typeface="Calibri" pitchFamily="34" charset="0"/>
                <a:ea typeface="Calibri" pitchFamily="34" charset="-122"/>
                <a:cs typeface="Calibri" pitchFamily="34" charset="-120"/>
              </a:rPr>
              <a:t>Raw video bytes</a:t>
            </a:r>
            <a:endParaRPr lang="en-US" sz="1000" dirty="0"/>
          </a:p>
          <a:p>
            <a:pPr algn="ctr" indent="0" marL="0">
              <a:buNone/>
            </a:pPr>
            <a:r>
              <a:rPr lang="en-US" sz="1000" dirty="0">
                <a:solidFill>
                  <a:srgbClr val="B8C9D6"/>
                </a:solidFill>
                <a:latin typeface="Calibri" pitchFamily="34" charset="0"/>
                <a:ea typeface="Calibri" pitchFamily="34" charset="-122"/>
                <a:cs typeface="Calibri" pitchFamily="34" charset="-120"/>
              </a:rPr>
              <a:t>leave the intersection</a:t>
            </a:r>
            <a:endParaRPr lang="en-US" sz="1000" dirty="0"/>
          </a:p>
        </p:txBody>
      </p:sp>
      <p:sp>
        <p:nvSpPr>
          <p:cNvPr id="11" name="Shape 9"/>
          <p:cNvSpPr/>
          <p:nvPr/>
        </p:nvSpPr>
        <p:spPr>
          <a:xfrm>
            <a:off x="4700016" y="1051560"/>
            <a:ext cx="1965960" cy="1261872"/>
          </a:xfrm>
          <a:prstGeom prst="roundRect">
            <a:avLst>
              <a:gd name="adj" fmla="val 7246"/>
            </a:avLst>
          </a:prstGeom>
          <a:solidFill>
            <a:srgbClr val="1A3353"/>
          </a:solidFill>
          <a:ln w="12700">
            <a:solidFill>
              <a:srgbClr val="1B5E8C"/>
            </a:solidFill>
            <a:prstDash val="solid"/>
          </a:ln>
          <a:effectLst>
            <a:outerShdw sx="100000" sy="100000" kx="0" ky="0" algn="bl" rotWithShape="0" blurRad="101600" dist="38100" dir="2700000">
              <a:srgbClr val="000000">
                <a:alpha val="18000"/>
              </a:srgbClr>
            </a:outerShdw>
          </a:effectLst>
        </p:spPr>
      </p:sp>
      <p:sp>
        <p:nvSpPr>
          <p:cNvPr id="12" name="Text 10"/>
          <p:cNvSpPr/>
          <p:nvPr/>
        </p:nvSpPr>
        <p:spPr>
          <a:xfrm>
            <a:off x="4773168" y="1115568"/>
            <a:ext cx="1810512" cy="658368"/>
          </a:xfrm>
          <a:prstGeom prst="rect">
            <a:avLst/>
          </a:prstGeom>
          <a:noFill/>
          <a:ln/>
        </p:spPr>
        <p:txBody>
          <a:bodyPr wrap="square" lIns="0" tIns="0" rIns="0" bIns="0" rtlCol="0" anchor="ctr"/>
          <a:lstStyle/>
          <a:p>
            <a:pPr algn="ctr" indent="0" marL="0">
              <a:buNone/>
            </a:pPr>
            <a:r>
              <a:rPr lang="en-US" sz="3800" b="1" dirty="0">
                <a:solidFill>
                  <a:srgbClr val="D4A017"/>
                </a:solidFill>
                <a:latin typeface="Cambria" pitchFamily="34" charset="0"/>
                <a:ea typeface="Cambria" pitchFamily="34" charset="-122"/>
                <a:cs typeface="Cambria" pitchFamily="34" charset="-120"/>
              </a:rPr>
              <a:t>35+</a:t>
            </a:r>
            <a:endParaRPr lang="en-US" sz="3800" dirty="0"/>
          </a:p>
        </p:txBody>
      </p:sp>
      <p:sp>
        <p:nvSpPr>
          <p:cNvPr id="13" name="Text 11"/>
          <p:cNvSpPr/>
          <p:nvPr/>
        </p:nvSpPr>
        <p:spPr>
          <a:xfrm>
            <a:off x="4773168" y="1755648"/>
            <a:ext cx="1810512" cy="457200"/>
          </a:xfrm>
          <a:prstGeom prst="rect">
            <a:avLst/>
          </a:prstGeom>
          <a:noFill/>
          <a:ln/>
        </p:spPr>
        <p:txBody>
          <a:bodyPr wrap="square" lIns="0" tIns="0" rIns="0" bIns="0" rtlCol="0" anchor="ctr"/>
          <a:lstStyle/>
          <a:p>
            <a:pPr algn="ctr" indent="0" marL="0">
              <a:buNone/>
            </a:pPr>
            <a:r>
              <a:rPr lang="en-US" sz="1000" dirty="0">
                <a:solidFill>
                  <a:srgbClr val="B8C9D6"/>
                </a:solidFill>
                <a:latin typeface="Calibri" pitchFamily="34" charset="0"/>
                <a:ea typeface="Calibri" pitchFamily="34" charset="-122"/>
                <a:cs typeface="Calibri" pitchFamily="34" charset="-120"/>
              </a:rPr>
              <a:t>Vehicles detected</a:t>
            </a:r>
            <a:endParaRPr lang="en-US" sz="1000" dirty="0"/>
          </a:p>
          <a:p>
            <a:pPr algn="ctr" indent="0" marL="0">
              <a:buNone/>
            </a:pPr>
            <a:r>
              <a:rPr lang="en-US" sz="1000" dirty="0">
                <a:solidFill>
                  <a:srgbClr val="B8C9D6"/>
                </a:solidFill>
                <a:latin typeface="Calibri" pitchFamily="34" charset="0"/>
                <a:ea typeface="Calibri" pitchFamily="34" charset="-122"/>
                <a:cs typeface="Calibri" pitchFamily="34" charset="-120"/>
              </a:rPr>
              <a:t>per frame</a:t>
            </a:r>
            <a:endParaRPr lang="en-US" sz="1000" dirty="0"/>
          </a:p>
        </p:txBody>
      </p:sp>
      <p:sp>
        <p:nvSpPr>
          <p:cNvPr id="14" name="Shape 12"/>
          <p:cNvSpPr/>
          <p:nvPr/>
        </p:nvSpPr>
        <p:spPr>
          <a:xfrm>
            <a:off x="6912864" y="1051560"/>
            <a:ext cx="1965960" cy="1261872"/>
          </a:xfrm>
          <a:prstGeom prst="roundRect">
            <a:avLst>
              <a:gd name="adj" fmla="val 7246"/>
            </a:avLst>
          </a:prstGeom>
          <a:solidFill>
            <a:srgbClr val="1A3353"/>
          </a:solidFill>
          <a:ln w="12700">
            <a:solidFill>
              <a:srgbClr val="1B5E8C"/>
            </a:solidFill>
            <a:prstDash val="solid"/>
          </a:ln>
          <a:effectLst>
            <a:outerShdw sx="100000" sy="100000" kx="0" ky="0" algn="bl" rotWithShape="0" blurRad="101600" dist="38100" dir="2700000">
              <a:srgbClr val="000000">
                <a:alpha val="18000"/>
              </a:srgbClr>
            </a:outerShdw>
          </a:effectLst>
        </p:spPr>
      </p:sp>
      <p:sp>
        <p:nvSpPr>
          <p:cNvPr id="15" name="Text 13"/>
          <p:cNvSpPr/>
          <p:nvPr/>
        </p:nvSpPr>
        <p:spPr>
          <a:xfrm>
            <a:off x="6986016" y="1115568"/>
            <a:ext cx="1810512" cy="658368"/>
          </a:xfrm>
          <a:prstGeom prst="rect">
            <a:avLst/>
          </a:prstGeom>
          <a:noFill/>
          <a:ln/>
        </p:spPr>
        <p:txBody>
          <a:bodyPr wrap="square" lIns="0" tIns="0" rIns="0" bIns="0" rtlCol="0" anchor="ctr"/>
          <a:lstStyle/>
          <a:p>
            <a:pPr algn="ctr" indent="0" marL="0">
              <a:buNone/>
            </a:pPr>
            <a:r>
              <a:rPr lang="en-US" sz="3800" b="1" dirty="0">
                <a:solidFill>
                  <a:srgbClr val="D4A017"/>
                </a:solidFill>
                <a:latin typeface="Cambria" pitchFamily="34" charset="0"/>
                <a:ea typeface="Cambria" pitchFamily="34" charset="-122"/>
                <a:cs typeface="Cambria" pitchFamily="34" charset="-120"/>
              </a:rPr>
              <a:t>100%</a:t>
            </a:r>
            <a:endParaRPr lang="en-US" sz="3800" dirty="0"/>
          </a:p>
        </p:txBody>
      </p:sp>
      <p:sp>
        <p:nvSpPr>
          <p:cNvPr id="16" name="Text 14"/>
          <p:cNvSpPr/>
          <p:nvPr/>
        </p:nvSpPr>
        <p:spPr>
          <a:xfrm>
            <a:off x="6986016" y="1755648"/>
            <a:ext cx="1810512" cy="457200"/>
          </a:xfrm>
          <a:prstGeom prst="rect">
            <a:avLst/>
          </a:prstGeom>
          <a:noFill/>
          <a:ln/>
        </p:spPr>
        <p:txBody>
          <a:bodyPr wrap="square" lIns="0" tIns="0" rIns="0" bIns="0" rtlCol="0" anchor="ctr"/>
          <a:lstStyle/>
          <a:p>
            <a:pPr algn="ctr" indent="0" marL="0">
              <a:buNone/>
            </a:pPr>
            <a:r>
              <a:rPr lang="en-US" sz="1000" dirty="0">
                <a:solidFill>
                  <a:srgbClr val="B8C9D6"/>
                </a:solidFill>
                <a:latin typeface="Calibri" pitchFamily="34" charset="0"/>
                <a:ea typeface="Calibri" pitchFamily="34" charset="-122"/>
                <a:cs typeface="Calibri" pitchFamily="34" charset="-120"/>
              </a:rPr>
              <a:t>DPDP Act compliant</a:t>
            </a:r>
            <a:endParaRPr lang="en-US" sz="1000" dirty="0"/>
          </a:p>
          <a:p>
            <a:pPr algn="ctr" indent="0" marL="0">
              <a:buNone/>
            </a:pPr>
            <a:r>
              <a:rPr lang="en-US" sz="1000" dirty="0">
                <a:solidFill>
                  <a:srgbClr val="B8C9D6"/>
                </a:solidFill>
                <a:latin typeface="Calibri" pitchFamily="34" charset="0"/>
                <a:ea typeface="Calibri" pitchFamily="34" charset="-122"/>
                <a:cs typeface="Calibri" pitchFamily="34" charset="-120"/>
              </a:rPr>
              <a:t>data locality</a:t>
            </a:r>
            <a:endParaRPr lang="en-US" sz="1000" dirty="0"/>
          </a:p>
        </p:txBody>
      </p:sp>
      <p:sp>
        <p:nvSpPr>
          <p:cNvPr id="17" name="Shape 15"/>
          <p:cNvSpPr/>
          <p:nvPr/>
        </p:nvSpPr>
        <p:spPr>
          <a:xfrm>
            <a:off x="274320" y="2487168"/>
            <a:ext cx="1965960" cy="2450592"/>
          </a:xfrm>
          <a:prstGeom prst="roundRect">
            <a:avLst>
              <a:gd name="adj" fmla="val 4651"/>
            </a:avLst>
          </a:prstGeom>
          <a:solidFill>
            <a:srgbClr val="162840"/>
          </a:solidFill>
          <a:ln w="12700">
            <a:solidFill>
              <a:srgbClr val="27AE60"/>
            </a:solidFill>
            <a:prstDash val="solid"/>
          </a:ln>
          <a:effectLst>
            <a:outerShdw sx="100000" sy="100000" kx="0" ky="0" algn="bl" rotWithShape="0" blurRad="101600" dist="38100" dir="2700000">
              <a:srgbClr val="000000">
                <a:alpha val="18000"/>
              </a:srgbClr>
            </a:outerShdw>
          </a:effectLst>
        </p:spPr>
      </p:sp>
      <p:sp>
        <p:nvSpPr>
          <p:cNvPr id="18" name="Shape 16"/>
          <p:cNvSpPr/>
          <p:nvPr/>
        </p:nvSpPr>
        <p:spPr>
          <a:xfrm>
            <a:off x="886968" y="2615184"/>
            <a:ext cx="749808" cy="749808"/>
          </a:xfrm>
          <a:prstGeom prst="ellipse">
            <a:avLst/>
          </a:prstGeom>
          <a:solidFill>
            <a:srgbClr val="27AE60">
              <a:alpha val="18000"/>
            </a:srgbClr>
          </a:solidFill>
          <a:ln w="12700">
            <a:solidFill>
              <a:srgbClr val="27AE60"/>
            </a:solidFill>
            <a:prstDash val="solid"/>
          </a:ln>
        </p:spPr>
      </p:sp>
      <p:pic>
        <p:nvPicPr>
          <p:cNvPr id="19" name="Image 0" descr="preencoded.png">    </p:cNvPr>
          <p:cNvPicPr>
            <a:picLocks noChangeAspect="1"/>
          </p:cNvPicPr>
          <p:nvPr/>
        </p:nvPicPr>
        <p:blipFill>
          <a:blip r:embed="rId1"/>
          <a:stretch>
            <a:fillRect/>
          </a:stretch>
        </p:blipFill>
        <p:spPr>
          <a:xfrm>
            <a:off x="941832" y="2670048"/>
            <a:ext cx="640080" cy="640080"/>
          </a:xfrm>
          <a:prstGeom prst="rect">
            <a:avLst/>
          </a:prstGeom>
        </p:spPr>
      </p:pic>
      <p:sp>
        <p:nvSpPr>
          <p:cNvPr id="20" name="Text 17"/>
          <p:cNvSpPr/>
          <p:nvPr/>
        </p:nvSpPr>
        <p:spPr>
          <a:xfrm>
            <a:off x="365760" y="3493008"/>
            <a:ext cx="1792224" cy="457200"/>
          </a:xfrm>
          <a:prstGeom prst="rect">
            <a:avLst/>
          </a:prstGeom>
          <a:noFill/>
          <a:ln/>
        </p:spPr>
        <p:txBody>
          <a:bodyPr wrap="square" lIns="0" tIns="0" rIns="0" bIns="0" rtlCol="0" anchor="ctr"/>
          <a:lstStyle/>
          <a:p>
            <a:pPr algn="ctr" indent="0" marL="0">
              <a:buNone/>
            </a:pPr>
            <a:r>
              <a:rPr lang="en-US" sz="1150" b="1" dirty="0">
                <a:solidFill>
                  <a:srgbClr val="27AE60"/>
                </a:solidFill>
                <a:latin typeface="Cambria" pitchFamily="34" charset="0"/>
                <a:ea typeface="Cambria" pitchFamily="34" charset="-122"/>
                <a:cs typeface="Cambria" pitchFamily="34" charset="-120"/>
              </a:rPr>
              <a:t>Improved Road Compliance</a:t>
            </a:r>
            <a:endParaRPr lang="en-US" sz="1150" dirty="0"/>
          </a:p>
        </p:txBody>
      </p:sp>
      <p:sp>
        <p:nvSpPr>
          <p:cNvPr id="21" name="Text 18"/>
          <p:cNvSpPr/>
          <p:nvPr/>
        </p:nvSpPr>
        <p:spPr>
          <a:xfrm>
            <a:off x="365760" y="3977640"/>
            <a:ext cx="1792224" cy="914400"/>
          </a:xfrm>
          <a:prstGeom prst="rect">
            <a:avLst/>
          </a:prstGeom>
          <a:noFill/>
          <a:ln/>
        </p:spPr>
        <p:txBody>
          <a:bodyPr wrap="square" lIns="0" tIns="0" rIns="0" bIns="0" rtlCol="0" anchor="ctr"/>
          <a:lstStyle/>
          <a:p>
            <a:pPr algn="ctr" indent="0" marL="0">
              <a:buNone/>
            </a:pPr>
            <a:r>
              <a:rPr lang="en-US" sz="1000" dirty="0">
                <a:solidFill>
                  <a:srgbClr val="B8C9D6"/>
                </a:solidFill>
                <a:latin typeface="Calibri" pitchFamily="34" charset="0"/>
                <a:ea typeface="Calibri" pitchFamily="34" charset="-122"/>
                <a:cs typeface="Calibri" pitchFamily="34" charset="-120"/>
              </a:rPr>
              <a:t>Immediate automated SMS feedback creates a direct enforcement loop — reducing repeat violations at monitored intersections.</a:t>
            </a:r>
            <a:endParaRPr lang="en-US" sz="1000" dirty="0"/>
          </a:p>
        </p:txBody>
      </p:sp>
      <p:sp>
        <p:nvSpPr>
          <p:cNvPr id="22" name="Shape 19"/>
          <p:cNvSpPr/>
          <p:nvPr/>
        </p:nvSpPr>
        <p:spPr>
          <a:xfrm>
            <a:off x="2487168" y="2487168"/>
            <a:ext cx="1965960" cy="2450592"/>
          </a:xfrm>
          <a:prstGeom prst="roundRect">
            <a:avLst>
              <a:gd name="adj" fmla="val 4651"/>
            </a:avLst>
          </a:prstGeom>
          <a:solidFill>
            <a:srgbClr val="162840"/>
          </a:solidFill>
          <a:ln w="12700">
            <a:solidFill>
              <a:srgbClr val="5DADE2"/>
            </a:solidFill>
            <a:prstDash val="solid"/>
          </a:ln>
          <a:effectLst>
            <a:outerShdw sx="100000" sy="100000" kx="0" ky="0" algn="bl" rotWithShape="0" blurRad="101600" dist="38100" dir="2700000">
              <a:srgbClr val="000000">
                <a:alpha val="18000"/>
              </a:srgbClr>
            </a:outerShdw>
          </a:effectLst>
        </p:spPr>
      </p:sp>
      <p:sp>
        <p:nvSpPr>
          <p:cNvPr id="23" name="Shape 20"/>
          <p:cNvSpPr/>
          <p:nvPr/>
        </p:nvSpPr>
        <p:spPr>
          <a:xfrm>
            <a:off x="3099816" y="2615184"/>
            <a:ext cx="749808" cy="749808"/>
          </a:xfrm>
          <a:prstGeom prst="ellipse">
            <a:avLst/>
          </a:prstGeom>
          <a:solidFill>
            <a:srgbClr val="5DADE2">
              <a:alpha val="18000"/>
            </a:srgbClr>
          </a:solidFill>
          <a:ln w="12700">
            <a:solidFill>
              <a:srgbClr val="5DADE2"/>
            </a:solidFill>
            <a:prstDash val="solid"/>
          </a:ln>
        </p:spPr>
      </p:sp>
      <p:pic>
        <p:nvPicPr>
          <p:cNvPr id="24" name="Image 1" descr="preencoded.png">    </p:cNvPr>
          <p:cNvPicPr>
            <a:picLocks noChangeAspect="1"/>
          </p:cNvPicPr>
          <p:nvPr/>
        </p:nvPicPr>
        <p:blipFill>
          <a:blip r:embed="rId2"/>
          <a:stretch>
            <a:fillRect/>
          </a:stretch>
        </p:blipFill>
        <p:spPr>
          <a:xfrm>
            <a:off x="3154680" y="2670048"/>
            <a:ext cx="640080" cy="640080"/>
          </a:xfrm>
          <a:prstGeom prst="rect">
            <a:avLst/>
          </a:prstGeom>
        </p:spPr>
      </p:pic>
      <p:sp>
        <p:nvSpPr>
          <p:cNvPr id="25" name="Text 21"/>
          <p:cNvSpPr/>
          <p:nvPr/>
        </p:nvSpPr>
        <p:spPr>
          <a:xfrm>
            <a:off x="2578608" y="3493008"/>
            <a:ext cx="1792224" cy="457200"/>
          </a:xfrm>
          <a:prstGeom prst="rect">
            <a:avLst/>
          </a:prstGeom>
          <a:noFill/>
          <a:ln/>
        </p:spPr>
        <p:txBody>
          <a:bodyPr wrap="square" lIns="0" tIns="0" rIns="0" bIns="0" rtlCol="0" anchor="ctr"/>
          <a:lstStyle/>
          <a:p>
            <a:pPr algn="ctr" indent="0" marL="0">
              <a:buNone/>
            </a:pPr>
            <a:r>
              <a:rPr lang="en-US" sz="1150" b="1" dirty="0">
                <a:solidFill>
                  <a:srgbClr val="5DADE2"/>
                </a:solidFill>
                <a:latin typeface="Cambria" pitchFamily="34" charset="0"/>
                <a:ea typeface="Cambria" pitchFamily="34" charset="-122"/>
                <a:cs typeface="Cambria" pitchFamily="34" charset="-120"/>
              </a:rPr>
              <a:t>Proactive Accident Prevention</a:t>
            </a:r>
            <a:endParaRPr lang="en-US" sz="1150" dirty="0"/>
          </a:p>
        </p:txBody>
      </p:sp>
      <p:sp>
        <p:nvSpPr>
          <p:cNvPr id="26" name="Text 22"/>
          <p:cNvSpPr/>
          <p:nvPr/>
        </p:nvSpPr>
        <p:spPr>
          <a:xfrm>
            <a:off x="2578608" y="3977640"/>
            <a:ext cx="1792224" cy="914400"/>
          </a:xfrm>
          <a:prstGeom prst="rect">
            <a:avLst/>
          </a:prstGeom>
          <a:noFill/>
          <a:ln/>
        </p:spPr>
        <p:txBody>
          <a:bodyPr wrap="square" lIns="0" tIns="0" rIns="0" bIns="0" rtlCol="0" anchor="ctr"/>
          <a:lstStyle/>
          <a:p>
            <a:pPr algn="ctr" indent="0" marL="0">
              <a:buNone/>
            </a:pPr>
            <a:r>
              <a:rPr lang="en-US" sz="1000" dirty="0">
                <a:solidFill>
                  <a:srgbClr val="B8C9D6"/>
                </a:solidFill>
                <a:latin typeface="Calibri" pitchFamily="34" charset="0"/>
                <a:ea typeface="Calibri" pitchFamily="34" charset="-122"/>
                <a:cs typeface="Calibri" pitchFamily="34" charset="-120"/>
              </a:rPr>
              <a:t>Real-time drowsiness and phone-use detection alerts officers before accidents occur — not after.</a:t>
            </a:r>
            <a:endParaRPr lang="en-US" sz="1000" dirty="0"/>
          </a:p>
        </p:txBody>
      </p:sp>
      <p:sp>
        <p:nvSpPr>
          <p:cNvPr id="27" name="Shape 23"/>
          <p:cNvSpPr/>
          <p:nvPr/>
        </p:nvSpPr>
        <p:spPr>
          <a:xfrm>
            <a:off x="4700016" y="2487168"/>
            <a:ext cx="1965960" cy="2450592"/>
          </a:xfrm>
          <a:prstGeom prst="roundRect">
            <a:avLst>
              <a:gd name="adj" fmla="val 4651"/>
            </a:avLst>
          </a:prstGeom>
          <a:solidFill>
            <a:srgbClr val="162840"/>
          </a:solidFill>
          <a:ln w="12700">
            <a:solidFill>
              <a:srgbClr val="D4A017"/>
            </a:solidFill>
            <a:prstDash val="solid"/>
          </a:ln>
          <a:effectLst>
            <a:outerShdw sx="100000" sy="100000" kx="0" ky="0" algn="bl" rotWithShape="0" blurRad="101600" dist="38100" dir="2700000">
              <a:srgbClr val="000000">
                <a:alpha val="18000"/>
              </a:srgbClr>
            </a:outerShdw>
          </a:effectLst>
        </p:spPr>
      </p:sp>
      <p:sp>
        <p:nvSpPr>
          <p:cNvPr id="28" name="Shape 24"/>
          <p:cNvSpPr/>
          <p:nvPr/>
        </p:nvSpPr>
        <p:spPr>
          <a:xfrm>
            <a:off x="5312664" y="2615184"/>
            <a:ext cx="749808" cy="749808"/>
          </a:xfrm>
          <a:prstGeom prst="ellipse">
            <a:avLst/>
          </a:prstGeom>
          <a:solidFill>
            <a:srgbClr val="D4A017">
              <a:alpha val="18000"/>
            </a:srgbClr>
          </a:solidFill>
          <a:ln w="12700">
            <a:solidFill>
              <a:srgbClr val="D4A017"/>
            </a:solidFill>
            <a:prstDash val="solid"/>
          </a:ln>
        </p:spPr>
      </p:sp>
      <p:pic>
        <p:nvPicPr>
          <p:cNvPr id="29" name="Image 2" descr="preencoded.png">    </p:cNvPr>
          <p:cNvPicPr>
            <a:picLocks noChangeAspect="1"/>
          </p:cNvPicPr>
          <p:nvPr/>
        </p:nvPicPr>
        <p:blipFill>
          <a:blip r:embed="rId3"/>
          <a:stretch>
            <a:fillRect/>
          </a:stretch>
        </p:blipFill>
        <p:spPr>
          <a:xfrm>
            <a:off x="5367528" y="2670048"/>
            <a:ext cx="640080" cy="640080"/>
          </a:xfrm>
          <a:prstGeom prst="rect">
            <a:avLst/>
          </a:prstGeom>
        </p:spPr>
      </p:pic>
      <p:sp>
        <p:nvSpPr>
          <p:cNvPr id="30" name="Text 25"/>
          <p:cNvSpPr/>
          <p:nvPr/>
        </p:nvSpPr>
        <p:spPr>
          <a:xfrm>
            <a:off x="4791456" y="3493008"/>
            <a:ext cx="1792224" cy="457200"/>
          </a:xfrm>
          <a:prstGeom prst="rect">
            <a:avLst/>
          </a:prstGeom>
          <a:noFill/>
          <a:ln/>
        </p:spPr>
        <p:txBody>
          <a:bodyPr wrap="square" lIns="0" tIns="0" rIns="0" bIns="0" rtlCol="0" anchor="ctr"/>
          <a:lstStyle/>
          <a:p>
            <a:pPr algn="ctr" indent="0" marL="0">
              <a:buNone/>
            </a:pPr>
            <a:r>
              <a:rPr lang="en-US" sz="1150" b="1" dirty="0">
                <a:solidFill>
                  <a:srgbClr val="D4A017"/>
                </a:solidFill>
                <a:latin typeface="Cambria" pitchFamily="34" charset="0"/>
                <a:ea typeface="Cambria" pitchFamily="34" charset="-122"/>
                <a:cs typeface="Cambria" pitchFamily="34" charset="-120"/>
              </a:rPr>
              <a:t>Officer Workflow Relief</a:t>
            </a:r>
            <a:endParaRPr lang="en-US" sz="1150" dirty="0"/>
          </a:p>
        </p:txBody>
      </p:sp>
      <p:sp>
        <p:nvSpPr>
          <p:cNvPr id="31" name="Text 26"/>
          <p:cNvSpPr/>
          <p:nvPr/>
        </p:nvSpPr>
        <p:spPr>
          <a:xfrm>
            <a:off x="4791456" y="3977640"/>
            <a:ext cx="1792224" cy="914400"/>
          </a:xfrm>
          <a:prstGeom prst="rect">
            <a:avLst/>
          </a:prstGeom>
          <a:noFill/>
          <a:ln/>
        </p:spPr>
        <p:txBody>
          <a:bodyPr wrap="square" lIns="0" tIns="0" rIns="0" bIns="0" rtlCol="0" anchor="ctr"/>
          <a:lstStyle/>
          <a:p>
            <a:pPr algn="ctr" indent="0" marL="0">
              <a:buNone/>
            </a:pPr>
            <a:r>
              <a:rPr lang="en-US" sz="1000" dirty="0">
                <a:solidFill>
                  <a:srgbClr val="B8C9D6"/>
                </a:solidFill>
                <a:latin typeface="Calibri" pitchFamily="34" charset="0"/>
                <a:ea typeface="Calibri" pitchFamily="34" charset="-122"/>
                <a:cs typeface="Calibri" pitchFamily="34" charset="-120"/>
              </a:rPr>
              <a:t>Confidence-gated automation handles high-certainty cases. Officers focus exclusively on ambiguous or borderline violations.</a:t>
            </a:r>
            <a:endParaRPr lang="en-US" sz="1000" dirty="0"/>
          </a:p>
        </p:txBody>
      </p:sp>
      <p:sp>
        <p:nvSpPr>
          <p:cNvPr id="32" name="Shape 27"/>
          <p:cNvSpPr/>
          <p:nvPr/>
        </p:nvSpPr>
        <p:spPr>
          <a:xfrm>
            <a:off x="6912864" y="2487168"/>
            <a:ext cx="1965960" cy="2450592"/>
          </a:xfrm>
          <a:prstGeom prst="roundRect">
            <a:avLst>
              <a:gd name="adj" fmla="val 4651"/>
            </a:avLst>
          </a:prstGeom>
          <a:solidFill>
            <a:srgbClr val="162840"/>
          </a:solidFill>
          <a:ln w="12700">
            <a:solidFill>
              <a:srgbClr val="C9A84C"/>
            </a:solidFill>
            <a:prstDash val="solid"/>
          </a:ln>
          <a:effectLst>
            <a:outerShdw sx="100000" sy="100000" kx="0" ky="0" algn="bl" rotWithShape="0" blurRad="101600" dist="38100" dir="2700000">
              <a:srgbClr val="000000">
                <a:alpha val="18000"/>
              </a:srgbClr>
            </a:outerShdw>
          </a:effectLst>
        </p:spPr>
      </p:sp>
      <p:sp>
        <p:nvSpPr>
          <p:cNvPr id="33" name="Shape 28"/>
          <p:cNvSpPr/>
          <p:nvPr/>
        </p:nvSpPr>
        <p:spPr>
          <a:xfrm>
            <a:off x="7525512" y="2615184"/>
            <a:ext cx="749808" cy="749808"/>
          </a:xfrm>
          <a:prstGeom prst="ellipse">
            <a:avLst/>
          </a:prstGeom>
          <a:solidFill>
            <a:srgbClr val="C9A84C">
              <a:alpha val="18000"/>
            </a:srgbClr>
          </a:solidFill>
          <a:ln w="12700">
            <a:solidFill>
              <a:srgbClr val="C9A84C"/>
            </a:solidFill>
            <a:prstDash val="solid"/>
          </a:ln>
        </p:spPr>
      </p:sp>
      <p:pic>
        <p:nvPicPr>
          <p:cNvPr id="34" name="Image 3" descr="preencoded.png">    </p:cNvPr>
          <p:cNvPicPr>
            <a:picLocks noChangeAspect="1"/>
          </p:cNvPicPr>
          <p:nvPr/>
        </p:nvPicPr>
        <p:blipFill>
          <a:blip r:embed="rId4"/>
          <a:stretch>
            <a:fillRect/>
          </a:stretch>
        </p:blipFill>
        <p:spPr>
          <a:xfrm>
            <a:off x="7580376" y="2670048"/>
            <a:ext cx="640080" cy="640080"/>
          </a:xfrm>
          <a:prstGeom prst="rect">
            <a:avLst/>
          </a:prstGeom>
        </p:spPr>
      </p:pic>
      <p:sp>
        <p:nvSpPr>
          <p:cNvPr id="35" name="Text 29"/>
          <p:cNvSpPr/>
          <p:nvPr/>
        </p:nvSpPr>
        <p:spPr>
          <a:xfrm>
            <a:off x="7004304" y="3493008"/>
            <a:ext cx="1792224" cy="457200"/>
          </a:xfrm>
          <a:prstGeom prst="rect">
            <a:avLst/>
          </a:prstGeom>
          <a:noFill/>
          <a:ln/>
        </p:spPr>
        <p:txBody>
          <a:bodyPr wrap="square" lIns="0" tIns="0" rIns="0" bIns="0" rtlCol="0" anchor="ctr"/>
          <a:lstStyle/>
          <a:p>
            <a:pPr algn="ctr" indent="0" marL="0">
              <a:buNone/>
            </a:pPr>
            <a:r>
              <a:rPr lang="en-US" sz="1150" b="1" dirty="0">
                <a:solidFill>
                  <a:srgbClr val="C9A84C"/>
                </a:solidFill>
                <a:latin typeface="Cambria" pitchFamily="34" charset="0"/>
                <a:ea typeface="Cambria" pitchFamily="34" charset="-122"/>
                <a:cs typeface="Cambria" pitchFamily="34" charset="-120"/>
              </a:rPr>
              <a:t>Legal &amp; Privacy Compliance</a:t>
            </a:r>
            <a:endParaRPr lang="en-US" sz="1150" dirty="0"/>
          </a:p>
        </p:txBody>
      </p:sp>
      <p:sp>
        <p:nvSpPr>
          <p:cNvPr id="36" name="Text 30"/>
          <p:cNvSpPr/>
          <p:nvPr/>
        </p:nvSpPr>
        <p:spPr>
          <a:xfrm>
            <a:off x="7004304" y="3977640"/>
            <a:ext cx="1792224" cy="914400"/>
          </a:xfrm>
          <a:prstGeom prst="rect">
            <a:avLst/>
          </a:prstGeom>
          <a:noFill/>
          <a:ln/>
        </p:spPr>
        <p:txBody>
          <a:bodyPr wrap="square" lIns="0" tIns="0" rIns="0" bIns="0" rtlCol="0" anchor="ctr"/>
          <a:lstStyle/>
          <a:p>
            <a:pPr algn="ctr" indent="0" marL="0">
              <a:buNone/>
            </a:pPr>
            <a:r>
              <a:rPr lang="en-US" sz="1000" dirty="0">
                <a:solidFill>
                  <a:srgbClr val="B8C9D6"/>
                </a:solidFill>
                <a:latin typeface="Calibri" pitchFamily="34" charset="0"/>
                <a:ea typeface="Calibri" pitchFamily="34" charset="-122"/>
                <a:cs typeface="Calibri" pitchFamily="34" charset="-120"/>
              </a:rPr>
              <a:t>Fully aligned with India's DPDP Act. All visual data processed and stored locally — no citizen footage enters external servers.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162030"/>
            </a:solidFill>
            <a:prstDash val="solid"/>
          </a:ln>
        </p:spPr>
      </p:sp>
      <p:sp>
        <p:nvSpPr>
          <p:cNvPr id="3" name="Shape 1"/>
          <p:cNvSpPr/>
          <p:nvPr/>
        </p:nvSpPr>
        <p:spPr>
          <a:xfrm>
            <a:off x="502920" y="0"/>
            <a:ext cx="0" cy="5143500"/>
          </a:xfrm>
          <a:prstGeom prst="line">
            <a:avLst/>
          </a:prstGeom>
          <a:noFill/>
          <a:ln w="6350">
            <a:solidFill>
              <a:srgbClr val="162030"/>
            </a:solidFill>
            <a:prstDash val="solid"/>
          </a:ln>
        </p:spPr>
      </p:sp>
      <p:sp>
        <p:nvSpPr>
          <p:cNvPr id="4" name="Shape 2"/>
          <p:cNvSpPr/>
          <p:nvPr/>
        </p:nvSpPr>
        <p:spPr>
          <a:xfrm>
            <a:off x="1005840" y="0"/>
            <a:ext cx="0" cy="5143500"/>
          </a:xfrm>
          <a:prstGeom prst="line">
            <a:avLst/>
          </a:prstGeom>
          <a:noFill/>
          <a:ln w="6350">
            <a:solidFill>
              <a:srgbClr val="162030"/>
            </a:solidFill>
            <a:prstDash val="solid"/>
          </a:ln>
        </p:spPr>
      </p:sp>
      <p:sp>
        <p:nvSpPr>
          <p:cNvPr id="5" name="Shape 3"/>
          <p:cNvSpPr/>
          <p:nvPr/>
        </p:nvSpPr>
        <p:spPr>
          <a:xfrm>
            <a:off x="1508760" y="0"/>
            <a:ext cx="0" cy="5143500"/>
          </a:xfrm>
          <a:prstGeom prst="line">
            <a:avLst/>
          </a:prstGeom>
          <a:noFill/>
          <a:ln w="6350">
            <a:solidFill>
              <a:srgbClr val="162030"/>
            </a:solidFill>
            <a:prstDash val="solid"/>
          </a:ln>
        </p:spPr>
      </p:sp>
      <p:sp>
        <p:nvSpPr>
          <p:cNvPr id="6" name="Shape 4"/>
          <p:cNvSpPr/>
          <p:nvPr/>
        </p:nvSpPr>
        <p:spPr>
          <a:xfrm>
            <a:off x="2011680" y="0"/>
            <a:ext cx="0" cy="5143500"/>
          </a:xfrm>
          <a:prstGeom prst="line">
            <a:avLst/>
          </a:prstGeom>
          <a:noFill/>
          <a:ln w="6350">
            <a:solidFill>
              <a:srgbClr val="162030"/>
            </a:solidFill>
            <a:prstDash val="solid"/>
          </a:ln>
        </p:spPr>
      </p:sp>
      <p:sp>
        <p:nvSpPr>
          <p:cNvPr id="7" name="Shape 5"/>
          <p:cNvSpPr/>
          <p:nvPr/>
        </p:nvSpPr>
        <p:spPr>
          <a:xfrm>
            <a:off x="2514600" y="0"/>
            <a:ext cx="0" cy="5143500"/>
          </a:xfrm>
          <a:prstGeom prst="line">
            <a:avLst/>
          </a:prstGeom>
          <a:noFill/>
          <a:ln w="6350">
            <a:solidFill>
              <a:srgbClr val="162030"/>
            </a:solidFill>
            <a:prstDash val="solid"/>
          </a:ln>
        </p:spPr>
      </p:sp>
      <p:sp>
        <p:nvSpPr>
          <p:cNvPr id="8" name="Shape 6"/>
          <p:cNvSpPr/>
          <p:nvPr/>
        </p:nvSpPr>
        <p:spPr>
          <a:xfrm>
            <a:off x="3017520" y="0"/>
            <a:ext cx="0" cy="5143500"/>
          </a:xfrm>
          <a:prstGeom prst="line">
            <a:avLst/>
          </a:prstGeom>
          <a:noFill/>
          <a:ln w="6350">
            <a:solidFill>
              <a:srgbClr val="162030"/>
            </a:solidFill>
            <a:prstDash val="solid"/>
          </a:ln>
        </p:spPr>
      </p:sp>
      <p:sp>
        <p:nvSpPr>
          <p:cNvPr id="9" name="Shape 7"/>
          <p:cNvSpPr/>
          <p:nvPr/>
        </p:nvSpPr>
        <p:spPr>
          <a:xfrm>
            <a:off x="3520440" y="0"/>
            <a:ext cx="0" cy="5143500"/>
          </a:xfrm>
          <a:prstGeom prst="line">
            <a:avLst/>
          </a:prstGeom>
          <a:noFill/>
          <a:ln w="6350">
            <a:solidFill>
              <a:srgbClr val="162030"/>
            </a:solidFill>
            <a:prstDash val="solid"/>
          </a:ln>
        </p:spPr>
      </p:sp>
      <p:sp>
        <p:nvSpPr>
          <p:cNvPr id="10" name="Shape 8"/>
          <p:cNvSpPr/>
          <p:nvPr/>
        </p:nvSpPr>
        <p:spPr>
          <a:xfrm>
            <a:off x="4023360" y="0"/>
            <a:ext cx="0" cy="5143500"/>
          </a:xfrm>
          <a:prstGeom prst="line">
            <a:avLst/>
          </a:prstGeom>
          <a:noFill/>
          <a:ln w="6350">
            <a:solidFill>
              <a:srgbClr val="162030"/>
            </a:solidFill>
            <a:prstDash val="solid"/>
          </a:ln>
        </p:spPr>
      </p:sp>
      <p:sp>
        <p:nvSpPr>
          <p:cNvPr id="11" name="Shape 9"/>
          <p:cNvSpPr/>
          <p:nvPr/>
        </p:nvSpPr>
        <p:spPr>
          <a:xfrm>
            <a:off x="4526280" y="0"/>
            <a:ext cx="0" cy="5143500"/>
          </a:xfrm>
          <a:prstGeom prst="line">
            <a:avLst/>
          </a:prstGeom>
          <a:noFill/>
          <a:ln w="6350">
            <a:solidFill>
              <a:srgbClr val="162030"/>
            </a:solidFill>
            <a:prstDash val="solid"/>
          </a:ln>
        </p:spPr>
      </p:sp>
      <p:sp>
        <p:nvSpPr>
          <p:cNvPr id="12" name="Shape 10"/>
          <p:cNvSpPr/>
          <p:nvPr/>
        </p:nvSpPr>
        <p:spPr>
          <a:xfrm>
            <a:off x="5029200" y="0"/>
            <a:ext cx="0" cy="5143500"/>
          </a:xfrm>
          <a:prstGeom prst="line">
            <a:avLst/>
          </a:prstGeom>
          <a:noFill/>
          <a:ln w="6350">
            <a:solidFill>
              <a:srgbClr val="162030"/>
            </a:solidFill>
            <a:prstDash val="solid"/>
          </a:ln>
        </p:spPr>
      </p:sp>
      <p:sp>
        <p:nvSpPr>
          <p:cNvPr id="13" name="Shape 11"/>
          <p:cNvSpPr/>
          <p:nvPr/>
        </p:nvSpPr>
        <p:spPr>
          <a:xfrm>
            <a:off x="5532120" y="0"/>
            <a:ext cx="0" cy="5143500"/>
          </a:xfrm>
          <a:prstGeom prst="line">
            <a:avLst/>
          </a:prstGeom>
          <a:noFill/>
          <a:ln w="6350">
            <a:solidFill>
              <a:srgbClr val="162030"/>
            </a:solidFill>
            <a:prstDash val="solid"/>
          </a:ln>
        </p:spPr>
      </p:sp>
      <p:sp>
        <p:nvSpPr>
          <p:cNvPr id="14" name="Shape 12"/>
          <p:cNvSpPr/>
          <p:nvPr/>
        </p:nvSpPr>
        <p:spPr>
          <a:xfrm>
            <a:off x="6035040" y="0"/>
            <a:ext cx="0" cy="5143500"/>
          </a:xfrm>
          <a:prstGeom prst="line">
            <a:avLst/>
          </a:prstGeom>
          <a:noFill/>
          <a:ln w="6350">
            <a:solidFill>
              <a:srgbClr val="162030"/>
            </a:solidFill>
            <a:prstDash val="solid"/>
          </a:ln>
        </p:spPr>
      </p:sp>
      <p:sp>
        <p:nvSpPr>
          <p:cNvPr id="15" name="Shape 13"/>
          <p:cNvSpPr/>
          <p:nvPr/>
        </p:nvSpPr>
        <p:spPr>
          <a:xfrm>
            <a:off x="6537960" y="0"/>
            <a:ext cx="0" cy="5143500"/>
          </a:xfrm>
          <a:prstGeom prst="line">
            <a:avLst/>
          </a:prstGeom>
          <a:noFill/>
          <a:ln w="6350">
            <a:solidFill>
              <a:srgbClr val="162030"/>
            </a:solidFill>
            <a:prstDash val="solid"/>
          </a:ln>
        </p:spPr>
      </p:sp>
      <p:sp>
        <p:nvSpPr>
          <p:cNvPr id="16" name="Shape 14"/>
          <p:cNvSpPr/>
          <p:nvPr/>
        </p:nvSpPr>
        <p:spPr>
          <a:xfrm>
            <a:off x="7040880" y="0"/>
            <a:ext cx="0" cy="5143500"/>
          </a:xfrm>
          <a:prstGeom prst="line">
            <a:avLst/>
          </a:prstGeom>
          <a:noFill/>
          <a:ln w="6350">
            <a:solidFill>
              <a:srgbClr val="162030"/>
            </a:solidFill>
            <a:prstDash val="solid"/>
          </a:ln>
        </p:spPr>
      </p:sp>
      <p:sp>
        <p:nvSpPr>
          <p:cNvPr id="17" name="Shape 15"/>
          <p:cNvSpPr/>
          <p:nvPr/>
        </p:nvSpPr>
        <p:spPr>
          <a:xfrm>
            <a:off x="7543800" y="0"/>
            <a:ext cx="0" cy="5143500"/>
          </a:xfrm>
          <a:prstGeom prst="line">
            <a:avLst/>
          </a:prstGeom>
          <a:noFill/>
          <a:ln w="6350">
            <a:solidFill>
              <a:srgbClr val="162030"/>
            </a:solidFill>
            <a:prstDash val="solid"/>
          </a:ln>
        </p:spPr>
      </p:sp>
      <p:sp>
        <p:nvSpPr>
          <p:cNvPr id="18" name="Shape 16"/>
          <p:cNvSpPr/>
          <p:nvPr/>
        </p:nvSpPr>
        <p:spPr>
          <a:xfrm>
            <a:off x="8046720" y="0"/>
            <a:ext cx="0" cy="5143500"/>
          </a:xfrm>
          <a:prstGeom prst="line">
            <a:avLst/>
          </a:prstGeom>
          <a:noFill/>
          <a:ln w="6350">
            <a:solidFill>
              <a:srgbClr val="162030"/>
            </a:solidFill>
            <a:prstDash val="solid"/>
          </a:ln>
        </p:spPr>
      </p:sp>
      <p:sp>
        <p:nvSpPr>
          <p:cNvPr id="19" name="Shape 17"/>
          <p:cNvSpPr/>
          <p:nvPr/>
        </p:nvSpPr>
        <p:spPr>
          <a:xfrm>
            <a:off x="8549640" y="0"/>
            <a:ext cx="0" cy="5143500"/>
          </a:xfrm>
          <a:prstGeom prst="line">
            <a:avLst/>
          </a:prstGeom>
          <a:noFill/>
          <a:ln w="6350">
            <a:solidFill>
              <a:srgbClr val="162030"/>
            </a:solidFill>
            <a:prstDash val="solid"/>
          </a:ln>
        </p:spPr>
      </p:sp>
      <p:sp>
        <p:nvSpPr>
          <p:cNvPr id="20" name="Shape 18"/>
          <p:cNvSpPr/>
          <p:nvPr/>
        </p:nvSpPr>
        <p:spPr>
          <a:xfrm>
            <a:off x="9052560" y="0"/>
            <a:ext cx="0" cy="5143500"/>
          </a:xfrm>
          <a:prstGeom prst="line">
            <a:avLst/>
          </a:prstGeom>
          <a:noFill/>
          <a:ln w="6350">
            <a:solidFill>
              <a:srgbClr val="162030"/>
            </a:solidFill>
            <a:prstDash val="solid"/>
          </a:ln>
        </p:spPr>
      </p:sp>
      <p:sp>
        <p:nvSpPr>
          <p:cNvPr id="21" name="Shape 19"/>
          <p:cNvSpPr/>
          <p:nvPr/>
        </p:nvSpPr>
        <p:spPr>
          <a:xfrm>
            <a:off x="9555480" y="0"/>
            <a:ext cx="0" cy="5143500"/>
          </a:xfrm>
          <a:prstGeom prst="line">
            <a:avLst/>
          </a:prstGeom>
          <a:noFill/>
          <a:ln w="6350">
            <a:solidFill>
              <a:srgbClr val="162030"/>
            </a:solidFill>
            <a:prstDash val="solid"/>
          </a:ln>
        </p:spPr>
      </p:sp>
      <p:sp>
        <p:nvSpPr>
          <p:cNvPr id="22" name="Shape 20"/>
          <p:cNvSpPr/>
          <p:nvPr/>
        </p:nvSpPr>
        <p:spPr>
          <a:xfrm>
            <a:off x="0" y="0"/>
            <a:ext cx="9144000" cy="0"/>
          </a:xfrm>
          <a:prstGeom prst="line">
            <a:avLst/>
          </a:prstGeom>
          <a:noFill/>
          <a:ln w="6350">
            <a:solidFill>
              <a:srgbClr val="162030"/>
            </a:solidFill>
            <a:prstDash val="solid"/>
          </a:ln>
        </p:spPr>
      </p:sp>
      <p:sp>
        <p:nvSpPr>
          <p:cNvPr id="23" name="Shape 21"/>
          <p:cNvSpPr/>
          <p:nvPr/>
        </p:nvSpPr>
        <p:spPr>
          <a:xfrm>
            <a:off x="0" y="457200"/>
            <a:ext cx="9144000" cy="0"/>
          </a:xfrm>
          <a:prstGeom prst="line">
            <a:avLst/>
          </a:prstGeom>
          <a:noFill/>
          <a:ln w="6350">
            <a:solidFill>
              <a:srgbClr val="162030"/>
            </a:solidFill>
            <a:prstDash val="solid"/>
          </a:ln>
        </p:spPr>
      </p:sp>
      <p:sp>
        <p:nvSpPr>
          <p:cNvPr id="24" name="Shape 22"/>
          <p:cNvSpPr/>
          <p:nvPr/>
        </p:nvSpPr>
        <p:spPr>
          <a:xfrm>
            <a:off x="0" y="914400"/>
            <a:ext cx="9144000" cy="0"/>
          </a:xfrm>
          <a:prstGeom prst="line">
            <a:avLst/>
          </a:prstGeom>
          <a:noFill/>
          <a:ln w="6350">
            <a:solidFill>
              <a:srgbClr val="162030"/>
            </a:solidFill>
            <a:prstDash val="solid"/>
          </a:ln>
        </p:spPr>
      </p:sp>
      <p:sp>
        <p:nvSpPr>
          <p:cNvPr id="25" name="Shape 23"/>
          <p:cNvSpPr/>
          <p:nvPr/>
        </p:nvSpPr>
        <p:spPr>
          <a:xfrm>
            <a:off x="0" y="1371600"/>
            <a:ext cx="9144000" cy="0"/>
          </a:xfrm>
          <a:prstGeom prst="line">
            <a:avLst/>
          </a:prstGeom>
          <a:noFill/>
          <a:ln w="6350">
            <a:solidFill>
              <a:srgbClr val="162030"/>
            </a:solidFill>
            <a:prstDash val="solid"/>
          </a:ln>
        </p:spPr>
      </p:sp>
      <p:sp>
        <p:nvSpPr>
          <p:cNvPr id="26" name="Shape 24"/>
          <p:cNvSpPr/>
          <p:nvPr/>
        </p:nvSpPr>
        <p:spPr>
          <a:xfrm>
            <a:off x="0" y="1828800"/>
            <a:ext cx="9144000" cy="0"/>
          </a:xfrm>
          <a:prstGeom prst="line">
            <a:avLst/>
          </a:prstGeom>
          <a:noFill/>
          <a:ln w="6350">
            <a:solidFill>
              <a:srgbClr val="162030"/>
            </a:solidFill>
            <a:prstDash val="solid"/>
          </a:ln>
        </p:spPr>
      </p:sp>
      <p:sp>
        <p:nvSpPr>
          <p:cNvPr id="27" name="Shape 25"/>
          <p:cNvSpPr/>
          <p:nvPr/>
        </p:nvSpPr>
        <p:spPr>
          <a:xfrm>
            <a:off x="0" y="2286000"/>
            <a:ext cx="9144000" cy="0"/>
          </a:xfrm>
          <a:prstGeom prst="line">
            <a:avLst/>
          </a:prstGeom>
          <a:noFill/>
          <a:ln w="6350">
            <a:solidFill>
              <a:srgbClr val="162030"/>
            </a:solidFill>
            <a:prstDash val="solid"/>
          </a:ln>
        </p:spPr>
      </p:sp>
      <p:sp>
        <p:nvSpPr>
          <p:cNvPr id="28" name="Shape 26"/>
          <p:cNvSpPr/>
          <p:nvPr/>
        </p:nvSpPr>
        <p:spPr>
          <a:xfrm>
            <a:off x="0" y="2743200"/>
            <a:ext cx="9144000" cy="0"/>
          </a:xfrm>
          <a:prstGeom prst="line">
            <a:avLst/>
          </a:prstGeom>
          <a:noFill/>
          <a:ln w="6350">
            <a:solidFill>
              <a:srgbClr val="162030"/>
            </a:solidFill>
            <a:prstDash val="solid"/>
          </a:ln>
        </p:spPr>
      </p:sp>
      <p:sp>
        <p:nvSpPr>
          <p:cNvPr id="29" name="Shape 27"/>
          <p:cNvSpPr/>
          <p:nvPr/>
        </p:nvSpPr>
        <p:spPr>
          <a:xfrm>
            <a:off x="0" y="3200400"/>
            <a:ext cx="9144000" cy="0"/>
          </a:xfrm>
          <a:prstGeom prst="line">
            <a:avLst/>
          </a:prstGeom>
          <a:noFill/>
          <a:ln w="6350">
            <a:solidFill>
              <a:srgbClr val="162030"/>
            </a:solidFill>
            <a:prstDash val="solid"/>
          </a:ln>
        </p:spPr>
      </p:sp>
      <p:sp>
        <p:nvSpPr>
          <p:cNvPr id="30" name="Shape 28"/>
          <p:cNvSpPr/>
          <p:nvPr/>
        </p:nvSpPr>
        <p:spPr>
          <a:xfrm>
            <a:off x="0" y="3657600"/>
            <a:ext cx="9144000" cy="0"/>
          </a:xfrm>
          <a:prstGeom prst="line">
            <a:avLst/>
          </a:prstGeom>
          <a:noFill/>
          <a:ln w="6350">
            <a:solidFill>
              <a:srgbClr val="162030"/>
            </a:solidFill>
            <a:prstDash val="solid"/>
          </a:ln>
        </p:spPr>
      </p:sp>
      <p:sp>
        <p:nvSpPr>
          <p:cNvPr id="31" name="Shape 29"/>
          <p:cNvSpPr/>
          <p:nvPr/>
        </p:nvSpPr>
        <p:spPr>
          <a:xfrm>
            <a:off x="0" y="4114800"/>
            <a:ext cx="9144000" cy="0"/>
          </a:xfrm>
          <a:prstGeom prst="line">
            <a:avLst/>
          </a:prstGeom>
          <a:noFill/>
          <a:ln w="6350">
            <a:solidFill>
              <a:srgbClr val="162030"/>
            </a:solidFill>
            <a:prstDash val="solid"/>
          </a:ln>
        </p:spPr>
      </p:sp>
      <p:sp>
        <p:nvSpPr>
          <p:cNvPr id="32" name="Shape 30"/>
          <p:cNvSpPr/>
          <p:nvPr/>
        </p:nvSpPr>
        <p:spPr>
          <a:xfrm>
            <a:off x="0" y="4572000"/>
            <a:ext cx="9144000" cy="0"/>
          </a:xfrm>
          <a:prstGeom prst="line">
            <a:avLst/>
          </a:prstGeom>
          <a:noFill/>
          <a:ln w="6350">
            <a:solidFill>
              <a:srgbClr val="162030"/>
            </a:solidFill>
            <a:prstDash val="solid"/>
          </a:ln>
        </p:spPr>
      </p:sp>
      <p:sp>
        <p:nvSpPr>
          <p:cNvPr id="33" name="Shape 31"/>
          <p:cNvSpPr/>
          <p:nvPr/>
        </p:nvSpPr>
        <p:spPr>
          <a:xfrm>
            <a:off x="0" y="5029200"/>
            <a:ext cx="9144000" cy="0"/>
          </a:xfrm>
          <a:prstGeom prst="line">
            <a:avLst/>
          </a:prstGeom>
          <a:noFill/>
          <a:ln w="6350">
            <a:solidFill>
              <a:srgbClr val="162030"/>
            </a:solidFill>
            <a:prstDash val="solid"/>
          </a:ln>
        </p:spPr>
      </p:sp>
      <p:sp>
        <p:nvSpPr>
          <p:cNvPr id="34" name="Shape 32"/>
          <p:cNvSpPr/>
          <p:nvPr/>
        </p:nvSpPr>
        <p:spPr>
          <a:xfrm>
            <a:off x="2560320" y="548640"/>
            <a:ext cx="4023360" cy="4023360"/>
          </a:xfrm>
          <a:prstGeom prst="ellipse">
            <a:avLst/>
          </a:prstGeom>
          <a:solidFill>
            <a:srgbClr val="1B5E8C">
              <a:alpha val="12000"/>
            </a:srgbClr>
          </a:solidFill>
          <a:ln w="12700">
            <a:solidFill>
              <a:srgbClr val="2E86C1"/>
            </a:solidFill>
            <a:prstDash val="dash"/>
          </a:ln>
        </p:spPr>
      </p:sp>
      <p:sp>
        <p:nvSpPr>
          <p:cNvPr id="35" name="Text 33"/>
          <p:cNvSpPr/>
          <p:nvPr/>
        </p:nvSpPr>
        <p:spPr>
          <a:xfrm>
            <a:off x="457200" y="914400"/>
            <a:ext cx="8229600" cy="1097280"/>
          </a:xfrm>
          <a:prstGeom prst="rect">
            <a:avLst/>
          </a:prstGeom>
          <a:noFill/>
          <a:ln/>
        </p:spPr>
        <p:txBody>
          <a:bodyPr wrap="square" lIns="0" tIns="0" rIns="0" bIns="0" rtlCol="0" anchor="ctr"/>
          <a:lstStyle/>
          <a:p>
            <a:pPr algn="ctr" indent="0" marL="0">
              <a:buNone/>
            </a:pPr>
            <a:r>
              <a:rPr lang="en-US" sz="7200" b="1" spc="1000" kern="0" dirty="0">
                <a:solidFill>
                  <a:srgbClr val="FFFFFF"/>
                </a:solidFill>
                <a:latin typeface="Cambria" pitchFamily="34" charset="0"/>
                <a:ea typeface="Cambria" pitchFamily="34" charset="-122"/>
                <a:cs typeface="Cambria" pitchFamily="34" charset="-120"/>
              </a:rPr>
              <a:t>GARUDA</a:t>
            </a:r>
            <a:endParaRPr lang="en-US" sz="7200" dirty="0"/>
          </a:p>
        </p:txBody>
      </p:sp>
      <p:sp>
        <p:nvSpPr>
          <p:cNvPr id="36" name="Text 34"/>
          <p:cNvSpPr/>
          <p:nvPr/>
        </p:nvSpPr>
        <p:spPr>
          <a:xfrm>
            <a:off x="457200" y="2011680"/>
            <a:ext cx="8229600" cy="502920"/>
          </a:xfrm>
          <a:prstGeom prst="rect">
            <a:avLst/>
          </a:prstGeom>
          <a:noFill/>
          <a:ln/>
        </p:spPr>
        <p:txBody>
          <a:bodyPr wrap="square" lIns="0" tIns="0" rIns="0" bIns="0" rtlCol="0" anchor="ctr"/>
          <a:lstStyle/>
          <a:p>
            <a:pPr algn="ctr" indent="0" marL="0">
              <a:buNone/>
            </a:pPr>
            <a:r>
              <a:rPr lang="en-US" sz="2400" spc="400" kern="0" dirty="0">
                <a:solidFill>
                  <a:srgbClr val="5DADE2"/>
                </a:solidFill>
                <a:latin typeface="Calibri" pitchFamily="34" charset="0"/>
                <a:ea typeface="Calibri" pitchFamily="34" charset="-122"/>
                <a:cs typeface="Calibri" pitchFamily="34" charset="-120"/>
              </a:rPr>
              <a:t>Gridlock Guardian</a:t>
            </a:r>
            <a:endParaRPr lang="en-US" sz="2400" dirty="0"/>
          </a:p>
        </p:txBody>
      </p:sp>
      <p:sp>
        <p:nvSpPr>
          <p:cNvPr id="37" name="Shape 35"/>
          <p:cNvSpPr/>
          <p:nvPr/>
        </p:nvSpPr>
        <p:spPr>
          <a:xfrm>
            <a:off x="1097280" y="2743200"/>
            <a:ext cx="1920240" cy="438912"/>
          </a:xfrm>
          <a:prstGeom prst="roundRect">
            <a:avLst>
              <a:gd name="adj" fmla="val 12500"/>
            </a:avLst>
          </a:prstGeom>
          <a:solidFill>
            <a:srgbClr val="1A3353"/>
          </a:solidFill>
          <a:ln w="10160">
            <a:solidFill>
              <a:srgbClr val="2E86C1"/>
            </a:solidFill>
            <a:prstDash val="solid"/>
          </a:ln>
        </p:spPr>
      </p:sp>
      <p:sp>
        <p:nvSpPr>
          <p:cNvPr id="38" name="Text 36"/>
          <p:cNvSpPr/>
          <p:nvPr/>
        </p:nvSpPr>
        <p:spPr>
          <a:xfrm>
            <a:off x="1097280" y="2779776"/>
            <a:ext cx="1920240" cy="347472"/>
          </a:xfrm>
          <a:prstGeom prst="rect">
            <a:avLst/>
          </a:prstGeom>
          <a:noFill/>
          <a:ln/>
        </p:spPr>
        <p:txBody>
          <a:bodyPr wrap="square" lIns="0" tIns="0" rIns="0" bIns="0" rtlCol="0" anchor="ctr"/>
          <a:lstStyle/>
          <a:p>
            <a:pPr algn="ctr" indent="0" marL="0">
              <a:buNone/>
            </a:pPr>
            <a:r>
              <a:rPr lang="en-US" sz="1200" b="1" dirty="0">
                <a:solidFill>
                  <a:srgbClr val="E8EEF4"/>
                </a:solidFill>
                <a:latin typeface="Calibri" pitchFamily="34" charset="0"/>
                <a:ea typeface="Calibri" pitchFamily="34" charset="-122"/>
                <a:cs typeface="Calibri" pitchFamily="34" charset="-120"/>
              </a:rPr>
              <a:t>Edge Intelligence</a:t>
            </a:r>
            <a:endParaRPr lang="en-US" sz="1200" dirty="0"/>
          </a:p>
        </p:txBody>
      </p:sp>
      <p:sp>
        <p:nvSpPr>
          <p:cNvPr id="39" name="Shape 37"/>
          <p:cNvSpPr/>
          <p:nvPr/>
        </p:nvSpPr>
        <p:spPr>
          <a:xfrm>
            <a:off x="3547872" y="2743200"/>
            <a:ext cx="1920240" cy="438912"/>
          </a:xfrm>
          <a:prstGeom prst="roundRect">
            <a:avLst>
              <a:gd name="adj" fmla="val 12500"/>
            </a:avLst>
          </a:prstGeom>
          <a:solidFill>
            <a:srgbClr val="1A3353"/>
          </a:solidFill>
          <a:ln w="10160">
            <a:solidFill>
              <a:srgbClr val="2E86C1"/>
            </a:solidFill>
            <a:prstDash val="solid"/>
          </a:ln>
        </p:spPr>
      </p:sp>
      <p:sp>
        <p:nvSpPr>
          <p:cNvPr id="40" name="Text 38"/>
          <p:cNvSpPr/>
          <p:nvPr/>
        </p:nvSpPr>
        <p:spPr>
          <a:xfrm>
            <a:off x="3547872" y="2779776"/>
            <a:ext cx="1920240" cy="347472"/>
          </a:xfrm>
          <a:prstGeom prst="rect">
            <a:avLst/>
          </a:prstGeom>
          <a:noFill/>
          <a:ln/>
        </p:spPr>
        <p:txBody>
          <a:bodyPr wrap="square" lIns="0" tIns="0" rIns="0" bIns="0" rtlCol="0" anchor="ctr"/>
          <a:lstStyle/>
          <a:p>
            <a:pPr algn="ctr" indent="0" marL="0">
              <a:buNone/>
            </a:pPr>
            <a:r>
              <a:rPr lang="en-US" sz="1200" b="1" dirty="0">
                <a:solidFill>
                  <a:srgbClr val="E8EEF4"/>
                </a:solidFill>
                <a:latin typeface="Calibri" pitchFamily="34" charset="0"/>
                <a:ea typeface="Calibri" pitchFamily="34" charset="-122"/>
                <a:cs typeface="Calibri" pitchFamily="34" charset="-120"/>
              </a:rPr>
              <a:t>Privacy-First</a:t>
            </a:r>
            <a:endParaRPr lang="en-US" sz="1200" dirty="0"/>
          </a:p>
        </p:txBody>
      </p:sp>
      <p:sp>
        <p:nvSpPr>
          <p:cNvPr id="41" name="Shape 39"/>
          <p:cNvSpPr/>
          <p:nvPr/>
        </p:nvSpPr>
        <p:spPr>
          <a:xfrm>
            <a:off x="5989320" y="2743200"/>
            <a:ext cx="1920240" cy="438912"/>
          </a:xfrm>
          <a:prstGeom prst="roundRect">
            <a:avLst>
              <a:gd name="adj" fmla="val 12500"/>
            </a:avLst>
          </a:prstGeom>
          <a:solidFill>
            <a:srgbClr val="1A3353"/>
          </a:solidFill>
          <a:ln w="10160">
            <a:solidFill>
              <a:srgbClr val="2E86C1"/>
            </a:solidFill>
            <a:prstDash val="solid"/>
          </a:ln>
        </p:spPr>
      </p:sp>
      <p:sp>
        <p:nvSpPr>
          <p:cNvPr id="42" name="Text 40"/>
          <p:cNvSpPr/>
          <p:nvPr/>
        </p:nvSpPr>
        <p:spPr>
          <a:xfrm>
            <a:off x="5989320" y="2779776"/>
            <a:ext cx="1920240" cy="347472"/>
          </a:xfrm>
          <a:prstGeom prst="rect">
            <a:avLst/>
          </a:prstGeom>
          <a:noFill/>
          <a:ln/>
        </p:spPr>
        <p:txBody>
          <a:bodyPr wrap="square" lIns="0" tIns="0" rIns="0" bIns="0" rtlCol="0" anchor="ctr"/>
          <a:lstStyle/>
          <a:p>
            <a:pPr algn="ctr" indent="0" marL="0">
              <a:buNone/>
            </a:pPr>
            <a:r>
              <a:rPr lang="en-US" sz="1200" b="1" dirty="0">
                <a:solidFill>
                  <a:srgbClr val="E8EEF4"/>
                </a:solidFill>
                <a:latin typeface="Calibri" pitchFamily="34" charset="0"/>
                <a:ea typeface="Calibri" pitchFamily="34" charset="-122"/>
                <a:cs typeface="Calibri" pitchFamily="34" charset="-120"/>
              </a:rPr>
              <a:t>Zero Cloud Dependency</a:t>
            </a:r>
            <a:endParaRPr lang="en-US" sz="1200" dirty="0"/>
          </a:p>
        </p:txBody>
      </p:sp>
      <p:sp>
        <p:nvSpPr>
          <p:cNvPr id="43" name="Text 41"/>
          <p:cNvSpPr/>
          <p:nvPr/>
        </p:nvSpPr>
        <p:spPr>
          <a:xfrm>
            <a:off x="457200" y="3401568"/>
            <a:ext cx="8229600" cy="438912"/>
          </a:xfrm>
          <a:prstGeom prst="rect">
            <a:avLst/>
          </a:prstGeom>
          <a:noFill/>
          <a:ln/>
        </p:spPr>
        <p:txBody>
          <a:bodyPr wrap="square" lIns="0" tIns="0" rIns="0" bIns="0" rtlCol="0" anchor="ctr"/>
          <a:lstStyle/>
          <a:p>
            <a:pPr algn="ctr" indent="0" marL="0">
              <a:buNone/>
            </a:pPr>
            <a:r>
              <a:rPr lang="en-US" sz="1800" dirty="0">
                <a:solidFill>
                  <a:srgbClr val="8FA3B1"/>
                </a:solidFill>
                <a:latin typeface="Calibri" pitchFamily="34" charset="0"/>
                <a:ea typeface="Calibri" pitchFamily="34" charset="-122"/>
                <a:cs typeface="Calibri" pitchFamily="34" charset="-120"/>
              </a:rPr>
              <a:t>Thank You — Questions Welcome</a:t>
            </a:r>
            <a:endParaRPr lang="en-US" sz="1800" dirty="0"/>
          </a:p>
        </p:txBody>
      </p:sp>
      <p:sp>
        <p:nvSpPr>
          <p:cNvPr id="44" name="Text 42"/>
          <p:cNvSpPr/>
          <p:nvPr/>
        </p:nvSpPr>
        <p:spPr>
          <a:xfrm>
            <a:off x="457200" y="4663440"/>
            <a:ext cx="8229600" cy="274320"/>
          </a:xfrm>
          <a:prstGeom prst="rect">
            <a:avLst/>
          </a:prstGeom>
          <a:noFill/>
          <a:ln/>
        </p:spPr>
        <p:txBody>
          <a:bodyPr wrap="square" lIns="0" tIns="0" rIns="0" bIns="0" rtlCol="0" anchor="ctr"/>
          <a:lstStyle/>
          <a:p>
            <a:pPr algn="ctr" indent="0" marL="0">
              <a:buNone/>
            </a:pPr>
            <a:r>
              <a:rPr lang="en-US" sz="1100" dirty="0">
                <a:solidFill>
                  <a:srgbClr val="445566"/>
                </a:solidFill>
                <a:latin typeface="Calibri" pitchFamily="34" charset="0"/>
                <a:ea typeface="Calibri" pitchFamily="34" charset="-122"/>
                <a:cs typeface="Calibri" pitchFamily="34" charset="-120"/>
              </a:rPr>
              <a:t>Team CodeKrafters  ·  2025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GARUDA: Gridlock Guardian</dc:title>
  <dc:subject>PptxGenJS Presentation</dc:subject>
  <dc:creator>PptxGenJS</dc:creator>
  <cp:lastModifiedBy>PptxGenJS</cp:lastModifiedBy>
  <cp:revision>1</cp:revision>
  <dcterms:created xsi:type="dcterms:W3CDTF">2026-06-23T16:32:28Z</dcterms:created>
  <dcterms:modified xsi:type="dcterms:W3CDTF">2026-06-23T16:32:28Z</dcterms:modified>
</cp:coreProperties>
</file>